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 Menos gestión. Más movimiento.</a:t>
            </a:r>
          </a:p>
          <a:p>
            <a:r>
              <a:t>PONENTE: Miguel — Product Owner</a:t>
            </a:r>
          </a:p>
          <a:p>
            <a:r>
              <a:t>TRAMO: 00:00–00:30 | DURACIÓN: 30 s</a:t>
            </a:r>
          </a:p>
          <a:p/>
          <a:p>
            <a:r>
              <a:t>GUION SUGERIDO</a:t>
            </a:r>
          </a:p>
          <a:p>
            <a:r>
              <a:t>Somos el equipo de GymFlow. Nuestro objetivo es que un gimnasio pueda dedicar menos tiempo a reconciliar registros y más tiempo a atender a sus socios. Vamos a recorrer primero la necesidad del negocio y el flujo del cliente; después veremos cómo nos organizamos y cómo lo hemos construido.</a:t>
            </a:r>
          </a:p>
          <a:p/>
          <a:p>
            <a:r>
              <a:t>TRANSICIÓN</a:t>
            </a:r>
          </a:p>
          <a:p>
            <a:r>
              <a:t>Empezamos por el problema que queremos resolver.</a:t>
            </a:r>
          </a:p>
          <a:p/>
          <a:p>
            <a:r>
              <a:t>FUENTES</a:t>
            </a:r>
          </a:p>
          <a:p>
            <a:r>
              <a:t>https://github.com/IA-P1-BCN/g1-python-crud-api/blob/2beb0b405d5a8fed009a33ad476d74dd941b217b/docs/PRD.md</a:t>
            </a:r>
          </a:p>
          <a:p>
            <a:r>
              <a:t>https://github.com/IA-P1-BCN/g1-python-crud-api/blob/2beb0b405d5a8fed009a33ad476d74dd941b217b/README.md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 Una operación conectada, sin registros dispersos</a:t>
            </a:r>
          </a:p>
          <a:p>
            <a:r>
              <a:t>PONENTE: Miguel — Product Owner</a:t>
            </a:r>
          </a:p>
          <a:p>
            <a:r>
              <a:t>TRAMO: 00:30–01:25 | DURACIÓN: 55 s</a:t>
            </a:r>
          </a:p>
          <a:p/>
          <a:p>
            <a:r>
              <a:t>GUION SUGERIDO</a:t>
            </a:r>
          </a:p>
          <a:p>
            <a:r>
              <a:t>Partimos de una necesidad concreta: cuando clientes, pagos y reservas viven en hojas distintas, la información se vuelve difícil de coordinar. El problema no es únicamente guardar datos. Es tomar decisiones consistentes: quién puede reservar, qué clase tiene plazas y qué ocurre si una persona cancela. GymFlow centraliza estas operaciones y ofrece una interfaz para que el socio consulte y gestione lo suyo. El valor que perseguimos es reducir errores operativos y facilitar la atención. No presentamos porcentajes de ahorro medidos; mostramos una solución funcional que permite comprobar estos comportamientos.</a:t>
            </a:r>
          </a:p>
          <a:p/>
          <a:p>
            <a:r>
              <a:t>FUENTES</a:t>
            </a:r>
          </a:p>
          <a:p>
            <a:r>
              <a:t>https://github.com/IA-P1-BCN/g1-python-crud-api/blob/2beb0b405d5a8fed009a33ad476d74dd941b217b/docs/PRD.md</a:t>
            </a:r>
          </a:p>
          <a:p>
            <a:r>
              <a:t>https://github.com/IA-P1-BCN/g1-python-crud-api/blob/2beb0b405d5a8fed009a33ad476d74dd941b217b/docs/client/CLIENT_SPECS.md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 Tres perfiles, una experiencia coordinada</a:t>
            </a:r>
          </a:p>
          <a:p>
            <a:r>
              <a:t>PONENTE: Miguel — Product Owner</a:t>
            </a:r>
          </a:p>
          <a:p>
            <a:r>
              <a:t>TRAMO: 01:25–02:20 | DURACIÓN: 55 s</a:t>
            </a:r>
          </a:p>
          <a:p/>
          <a:p>
            <a:r>
              <a:t>GUION SUGERIDO</a:t>
            </a:r>
          </a:p>
          <a:p>
            <a:r>
              <a:t>La solución contempla tres perfiles. El cliente quiere saber qué clases hay, reservar una plaza y consultar su información sin depender siempre de recepción. El entrenador necesita trabajar con sus propias clases y sus reservas. La administración necesita una visión más amplia para gestionar la operación y exportar información. Esta distinción también guía los permisos: el entrenador no administra todo el gimnasio y un cliente no consulta datos de otros socios. Además, tener una cuenta para acceder no equivale a tener una membresía activa. Esa separación evita confundir identidad con las reglas del negocio.</a:t>
            </a:r>
          </a:p>
          <a:p/>
          <a:p>
            <a:r>
              <a:t>FUENTES</a:t>
            </a:r>
          </a:p>
          <a:p>
            <a:r>
              <a:t>https://github.com/IA-P1-BCN/g1-python-crud-api/blob/2beb0b405d5a8fed009a33ad476d74dd941b217b/AGENTS.md</a:t>
            </a:r>
          </a:p>
          <a:p>
            <a:r>
              <a:t>https://github.com/IA-P1-BCN/g1-python-crud-api/blob/2beb0b405d5a8fed009a33ad476d74dd941b217b/docs/adr/0001-cuenta-separada-de-cliente.md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 Del acceso a una plaza confirmada</a:t>
            </a:r>
          </a:p>
          <a:p>
            <a:r>
              <a:t>PONENTE: Miguel — Product Owner</a:t>
            </a:r>
          </a:p>
          <a:p>
            <a:r>
              <a:t>TRAMO: 02:20–04:00 | DURACIÓN: 100 s</a:t>
            </a:r>
          </a:p>
          <a:p/>
          <a:p>
            <a:r>
              <a:t>GUION SUGERIDO</a:t>
            </a:r>
          </a:p>
          <a:p>
            <a:r>
              <a:t>El recorrido principal es sencillo: el socio accede, elige una clase, consulta disponibilidad y reserva. La aplicación confirma esa reserva si se cumplen las reglas del gimnasio: membresía activa, al menos un pago registrado, plaza libre y ausencia de una reserva duplicada. Vamos a verlo desde el punto de vista de quien usa el producto. En el registro se puede crear un perfil de cliente, pero nace inactivo; para no dedicar la demo a preparar datos utilizaremos una cuenta de demostración ya habilitada. Al finalizar, la reserva aparece en Mis reservas. Brian retomará este recorrido para explicar la interacción con la API y la cancelación.</a:t>
            </a:r>
          </a:p>
          <a:p/>
          <a:p>
            <a:r>
              <a:t>ACCIÓN / DEMO</a:t>
            </a:r>
          </a:p>
          <a:p>
            <a:r>
              <a:t>Dedicar unos 40 s a explicar y 60 s a la demo. Preferencia: http://127.0.0.1:4200. Iniciar sesión con demo@gymflow.com, contraseña demo documentada Demo56789012. Usar datos ficticios. Abrir Clases, seleccionar una clase futura con plaza libre y sin reserva de esa cuenta, pulsar Reservar y mostrar Mis reservas. No cambiar credenciales ni editar datos ajenos. Si la demo se demora más de 15 s, continuar con la captura. No iniciar registro nuevo durante esta demostración.</a:t>
            </a:r>
          </a:p>
          <a:p/>
          <a:p>
            <a:r>
              <a:t>TRANSICIÓN</a:t>
            </a:r>
          </a:p>
          <a:p>
            <a:r>
              <a:t>Juan Carlos explica ahora cómo convertimos este flujo en trabajo coordinado.</a:t>
            </a:r>
          </a:p>
          <a:p/>
          <a:p>
            <a:r>
              <a:t>FUENTES</a:t>
            </a:r>
          </a:p>
          <a:p>
            <a:r>
              <a:t>https://github.com/IA-P1-BCN/g1-python-crud-api/blob/2beb0b405d5a8fed009a33ad476d74dd941b217b/README.md</a:t>
            </a:r>
          </a:p>
          <a:p>
            <a:r>
              <a:t>https://github.com/IA-P1-BCN/g1-python-crud-api/blob/2beb0b405d5a8fed009a33ad476d74dd941b217b/src/application/use_cases/gym_use_cases.py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5: Cinco responsabilidades, una entrega compartida</a:t>
            </a:r>
          </a:p>
          <a:p>
            <a:r>
              <a:t>PONENTE: Juan Carlos — Scrum Master</a:t>
            </a:r>
          </a:p>
          <a:p>
            <a:r>
              <a:t>TRAMO: 04:00–04:40 | DURACIÓN: 40 s</a:t>
            </a:r>
          </a:p>
          <a:p/>
          <a:p>
            <a:r>
              <a:t>GUION SUGERIDO</a:t>
            </a:r>
          </a:p>
          <a:p>
            <a:r>
              <a:t>La presentación refleja nuestras cinco responsabilidades y da cuatro minutos a cada integrante. Miguel conduce la visión de negocio. Yo explico la coordinación, la organización de historias y los criterios de entrega. Fabiana presenta la lógica del backend; Brian, la experiencia de uso; y David, cómo ejecutamos y desplegamos la aplicación. La responsabilidad sobre el resultado es compartida. En las preguntas finales responde primero la persona del área y el resto complementa cuando corresponda.</a:t>
            </a:r>
          </a:p>
          <a:p/>
          <a:p>
            <a:r>
              <a:t>FUENTES</a:t>
            </a:r>
          </a:p>
          <a:p>
            <a:r>
              <a:t>Reparto de roles y tiempos confirmado por el equipo para el 20/10/2026.</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6: De una necesidad a una historia verificable</a:t>
            </a:r>
          </a:p>
          <a:p>
            <a:r>
              <a:t>PONENTE: Juan Carlos — Scrum Master</a:t>
            </a:r>
          </a:p>
          <a:p>
            <a:r>
              <a:t>TRAMO: 04:40–05:40 | DURACIÓN: 60 s</a:t>
            </a:r>
          </a:p>
          <a:p/>
          <a:p>
            <a:r>
              <a:t>GUION SUGERIDO</a:t>
            </a:r>
          </a:p>
          <a:p>
            <a:r>
              <a:t>Una historia útil describe una necesidad de una persona, no solo una tarea técnica. Este ejemplo resume el objetivo de reservar una clase. Para desarrollarlo necesitamos criterios observables: acceso válido, cliente activo, un pago registrado, disponibilidad y una reserva que pertenezca al propio cliente. Así podemos dividir el trabajo entre base de datos, reglas de la API, interfaz y pruebas sin perder el objetivo común. En GitHub distinguimos historias y tareas, y cada tarea mantiene responsable, prioridad, dependencias y criterios de aceptación. Las condiciones que vemos aquí están respaldadas por el comportamiento y los tests del proyecto.</a:t>
            </a:r>
          </a:p>
          <a:p/>
          <a:p>
            <a:r>
              <a:t>FUENTES</a:t>
            </a:r>
          </a:p>
          <a:p>
            <a:r>
              <a:t>https://github.com/IA-P1-BCN/g1-python-crud-api/blob/2beb0b405d5a8fed009a33ad476d74dd941b217b/AGENTS.md</a:t>
            </a:r>
          </a:p>
          <a:p>
            <a:r>
              <a:t>https://github.com/IA-P1-BCN/g1-python-crud-api/issues/36</a:t>
            </a:r>
          </a:p>
          <a:p>
            <a:r>
              <a:t>https://github.com/IA-P1-BCN/g1-python-crud-api/issues/38</a:t>
            </a:r>
          </a:p>
          <a:p>
            <a:r>
              <a:t>https://github.com/IA-P1-BCN/g1-python-crud-api/issues/106</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7: Priorizar y desbloquear antes de desarrollar</a:t>
            </a:r>
          </a:p>
          <a:p>
            <a:r>
              <a:t>PONENTE: Juan Carlos — Scrum Master</a:t>
            </a:r>
          </a:p>
          <a:p>
            <a:r>
              <a:t>TRAMO: 05:40–06:50 | DURACIÓN: 70 s</a:t>
            </a:r>
          </a:p>
          <a:p/>
          <a:p>
            <a:r>
              <a:t>GUION SUGERIDO</a:t>
            </a:r>
          </a:p>
          <a:p>
            <a:r>
              <a:t>El tablero hace visible qué está pendiente, qué está preparado, qué está en curso y qué necesita revisión. La coordinación también consiste en identificar el orden correcto. Por ejemplo, primero protegimos los endpoints con JWT en la tarea 105; sobre esa base, la 106 añadió límites por rol y propietario. Empezar por la segunda sin resolver la primera habría creado una dependencia incompleta. Los milestones organizan niveles de entrega, y las etiquetas y campos de prioridad ayudan a seleccionar trabajo. Desde Scrum, el foco es mantener un objetivo compartido, revisar avances y desbloquear al equipo. La evidencia que mostramos son las historias, las dependencias y el tablero; no atribuimos una cadencia de ceremonias que no esté documentada.</a:t>
            </a:r>
          </a:p>
          <a:p/>
          <a:p>
            <a:r>
              <a:t>ACCIÓN / DEMO</a:t>
            </a:r>
          </a:p>
          <a:p>
            <a:r>
              <a:t>Se puede abrir el tablero durante 10–15 s si la sesión de GitHub ya está iniciada. No navegar buscando tareas durante la exposición. Seleccionar previamente #105 y #106.</a:t>
            </a:r>
          </a:p>
          <a:p/>
          <a:p>
            <a:r>
              <a:t>FUENTES</a:t>
            </a:r>
          </a:p>
          <a:p>
            <a:r>
              <a:t>https://github.com/orgs/IA-P1-BCN/projects/32/views/1</a:t>
            </a:r>
          </a:p>
          <a:p>
            <a:r>
              <a:t>https://github.com/IA-P1-BCN/g1-python-crud-api/blob/2beb0b405d5a8fed009a33ad476d74dd941b217b/AGENTS.md</a:t>
            </a:r>
          </a:p>
          <a:p>
            <a:r>
              <a:t>https://github.com/IA-P1-BCN/g1-python-crud-api/issues/105</a:t>
            </a:r>
          </a:p>
          <a:p>
            <a:r>
              <a:t>https://github.com/IA-P1-BCN/g1-python-crud-api/issues/106</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Una tarea termina cuando se puede comprobar</a:t>
            </a:r>
          </a:p>
          <a:p>
            <a:r>
              <a:t>PONENTE: Juan Carlos — Scrum Master</a:t>
            </a:r>
          </a:p>
          <a:p>
            <a:r>
              <a:t>TRAMO: 06:50–08:00 | DURACIÓN: 70 s</a:t>
            </a:r>
          </a:p>
          <a:p/>
          <a:p>
            <a:r>
              <a:t>GUION SUGERIDO</a:t>
            </a:r>
          </a:p>
          <a:p>
            <a:r>
              <a:t>Nuestra definición de terminado no es simplemente que una pantalla funcione una vez. Antes de desarrollar registramos requisitos y escenarios en OpenSpec. Después implementamos respetando las capas y las reglas del proyecto. Verificamos estilo, tests y la estructura de la especificación. Finalmente, una pull request relaciona el cambio con su issue y necesita revisión humana para entrar en main. El uso de IA también queda documentado: prompts relevantes, decisiones, errores y correcciones. La IA acelera la ejecución, pero la responsabilidad del diseño y del código sigue siendo del equipo. Una lección concreta fue aclarar el alcance del entrenador antes de implementar sus permisos.</a:t>
            </a:r>
          </a:p>
          <a:p/>
          <a:p>
            <a:r>
              <a:t>TRANSICIÓN</a:t>
            </a:r>
          </a:p>
          <a:p>
            <a:r>
              <a:t>Fabiana nos muestra cómo esas decisiones se traducen en reglas y arquitectura del backend.</a:t>
            </a:r>
          </a:p>
          <a:p/>
          <a:p>
            <a:r>
              <a:t>FUENTES</a:t>
            </a:r>
          </a:p>
          <a:p>
            <a:r>
              <a:t>https://github.com/IA-P1-BCN/g1-python-crud-api/blob/2beb0b405d5a8fed009a33ad476d74dd941b217b/docs/SPEC_WORKFLOW.md</a:t>
            </a:r>
          </a:p>
          <a:p>
            <a:r>
              <a:t>https://github.com/IA-P1-BCN/g1-python-crud-api/blob/2beb0b405d5a8fed009a33ad476d74dd941b217b/docs/ai-log.md</a:t>
            </a:r>
          </a:p>
          <a:p>
            <a:r>
              <a:t>https://github.com/IA-P1-BCN/g1-python-crud-api/blob/2beb0b405d5a8fed009a33ad476d74dd941b217b/.github/pull_request_template.md</a:t>
            </a:r>
          </a:p>
          <a:p>
            <a:r>
              <a:t>https://github.com/IA-P1-BCN/g1-python-crud-api/blob/2beb0b405d5a8fed009a33ad476d74dd941b217b/AGENTS.md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El negocio no depende del framework</a:t>
            </a:r>
          </a:p>
          <a:p>
            <a:r>
              <a:t>PONENTE: Fabiana — Backend</a:t>
            </a:r>
          </a:p>
          <a:p>
            <a:r>
              <a:t>TRAMO: 08:00–09:05 | DURACIÓN: 65 s</a:t>
            </a:r>
          </a:p>
          <a:p/>
          <a:p>
            <a:r>
              <a:t>GUION SUGERIDO</a:t>
            </a:r>
          </a:p>
          <a:p>
            <a:r>
              <a:t>El backend usa Python y FastAPI, pero las reglas del gimnasio no viven mezcladas con el framework. Interfaces recibe HTTP, valida con schemas y transforma respuestas. Application contiene los casos de uso. Domain define entidades con dataclasses y contratos con Protocol. Infrastructure implementa esos contratos con SQLAlchemy, MySQL y los adaptadores de seguridad. La dirección de dependencias apunta hacia el dominio; application no importa infraestructura. El wiring de dependencias conecta las piezas. Combinamos orientación a objetos, casos de uso, repositorios e inyección de dependencias. Esto permite probar reglas con un repositorio en memoria y confirmar después su funcionamiento con HTTP y MySQL reales.</a:t>
            </a:r>
          </a:p>
          <a:p/>
          <a:p>
            <a:r>
              <a:t>ACCIÓN / DEMO</a:t>
            </a:r>
          </a:p>
          <a:p>
            <a:r>
              <a:t>Mostrar brevemente en el editor src/application/use_cases/gym_use_cases.py y src/domain/repositories/gym_port.py. Tener ambos archivos abiertos antes del turno.</a:t>
            </a:r>
          </a:p>
          <a:p/>
          <a:p>
            <a:r>
              <a:t>FUENTES</a:t>
            </a:r>
          </a:p>
          <a:p>
            <a:r>
              <a:t>https://github.com/IA-P1-BCN/g1-python-crud-api/blob/2beb0b405d5a8fed009a33ad476d74dd941b217b/AGENTS.md</a:t>
            </a:r>
          </a:p>
          <a:p>
            <a:r>
              <a:t>https://github.com/IA-P1-BCN/g1-python-crud-api/blob/2beb0b405d5a8fed009a33ad476d74dd941b217b/src/interfaces/http/dependencies.py</a:t>
            </a:r>
          </a:p>
          <a:p>
            <a:r>
              <a:t>https://github.com/IA-P1-BCN/g1-python-crud-api/blob/2beb0b405d5a8fed009a33ad476d74dd941b217b/src/domain/repositories/gym_port.py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10: Una identidad; dos vínculos de negocio</a:t>
            </a:r>
          </a:p>
          <a:p>
            <a:r>
              <a:t>PONENTE: Fabiana — Backend</a:t>
            </a:r>
          </a:p>
          <a:p>
            <a:r>
              <a:t>TRAMO: 09:05–10:00 | DURACIÓN: 55 s</a:t>
            </a:r>
          </a:p>
          <a:p/>
          <a:p>
            <a:r>
              <a:t>GUION SUGERIDO</a:t>
            </a:r>
          </a:p>
          <a:p>
            <a:r>
              <a:t>El modelo separa seis entidades de negocio y acceso, más una tabla técnica de versiones. Un cliente tiene pagos y reservas. Un entrenador imparte clases. La relación de muchos a muchos entre clientes y clases se resuelve con Reservas, que guarda además asistencia y fecha. Cuenta es una identidad separada, con vínculos opcionales y únicos al cliente o al entrenador. Así evitamos duplicar credenciales y crear socios ficticios para el personal. Las claves foráneas protegen la consistencia y RESTRICT impide borrar registros que mantienen dependencias. La combinación cliente y clase es única. Alembic evoluciona el esquema sin recrear toda la base.</a:t>
            </a:r>
          </a:p>
          <a:p/>
          <a:p>
            <a:r>
              <a:t>FUENTES</a:t>
            </a:r>
          </a:p>
          <a:p>
            <a:r>
              <a:t>https://github.com/IA-P1-BCN/g1-python-crud-api/blob/2beb0b405d5a8fed009a33ad476d74dd941b217b/docs/EDR_DIAGRAM.md</a:t>
            </a:r>
          </a:p>
          <a:p>
            <a:r>
              <a:t>https://github.com/IA-P1-BCN/g1-python-crud-api/blob/2beb0b405d5a8fed009a33ad476d74dd941b217b/docs/DATABASE_SPEC.md</a:t>
            </a:r>
          </a:p>
          <a:p>
            <a:r>
              <a:t>https://github.com/IA-P1-BCN/g1-python-crud-api/blob/2beb0b405d5a8fed009a33ad476d74dd941b217b/docs/adr/0001-cuenta-separada-de-cliente.md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11: Autenticar no basta: hay que delimitar el acceso</a:t>
            </a:r>
          </a:p>
          <a:p>
            <a:r>
              <a:t>PONENTE: Fabiana — Backend</a:t>
            </a:r>
          </a:p>
          <a:p>
            <a:r>
              <a:t>TRAMO: 10:00–10:50 | DURACIÓN: 50 s</a:t>
            </a:r>
          </a:p>
          <a:p/>
          <a:p>
            <a:r>
              <a:t>GUION SUGERIDO</a:t>
            </a:r>
          </a:p>
          <a:p>
            <a:r>
              <a:t>El login comprueba una contraseña almacenada como hash Argon2id y emite un JWT con caducidad configurable. Después, cada petición protegida verifica el token y vuelve a leer la cuenta para comprobar que sigue activa y conocer su rol y vínculo actuales. Admin gestiona todo. Staff solo opera sobre las clases de su entrenador vinculado y las reservas de esas clases. Cliente solo consulta sus datos y reserva para sí mismo. Los listados aplican ese alcance antes de paginar. Sin token válido respondemos 401; una operación prohibida da 403, y los detalles ajenos de recursos permitidos dan 404 sin revelar datos.</a:t>
            </a:r>
          </a:p>
          <a:p/>
          <a:p>
            <a:r>
              <a:t>FUENTES</a:t>
            </a:r>
          </a:p>
          <a:p>
            <a:r>
              <a:t>https://github.com/IA-P1-BCN/g1-python-crud-api/blob/2beb0b405d5a8fed009a33ad476d74dd941b217b/src/application/use_cases/auth_use_cases.py</a:t>
            </a:r>
          </a:p>
          <a:p>
            <a:r>
              <a:t>https://github.com/IA-P1-BCN/g1-python-crud-api/blob/2beb0b405d5a8fed009a33ad476d74dd941b217b/src/application/use_cases/gym_use_cases.py</a:t>
            </a:r>
          </a:p>
          <a:p>
            <a:r>
              <a:t>https://github.com/IA-P1-BCN/g1-python-crud-api/blob/2beb0b405d5a8fed009a33ad476d74dd941b217b/src/infrastructure/security/tokens.py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12: La última plaza se decide en una transacción</a:t>
            </a:r>
          </a:p>
          <a:p>
            <a:r>
              <a:t>PONENTE: Fabiana — Backend</a:t>
            </a:r>
          </a:p>
          <a:p>
            <a:r>
              <a:t>TRAMO: 10:50–12:00 | DURACIÓN: 70 s</a:t>
            </a:r>
          </a:p>
          <a:p/>
          <a:p>
            <a:r>
              <a:t>GUION SUGERIDO</a:t>
            </a:r>
          </a:p>
          <a:p>
            <a:r>
              <a:t>Esta es una regla de negocio que merece protección en el servidor. Para una nueva reserva o un traslado, se verifica el cliente, se bloquea la clase y se comprueban pago, unicidad y aforo dentro de la transacción. El fragmento muestra el bloqueo y dos condiciones; hay líneas intermedias omitidas para que resulte legible. En el repositorio, lock=True se traduce a SELECT FOR UPDATE mediante SQLAlchemy. Si dos personas intentan ocupar la última plaza, las admisiones se serializan: no se crean dos reservas sobre el mismo cupo. Un conflicto devuelve 409 y revierte la operación. Cancelar libera la plaza. En los nombres seguimos snake_case para funciones y variables, PascalCase para clases y constantes en mayúsculas.</a:t>
            </a:r>
          </a:p>
          <a:p/>
          <a:p>
            <a:r>
              <a:t>ACCIÓN / DEMO</a:t>
            </a:r>
          </a:p>
          <a:p>
            <a:r>
              <a:t>Durante 20–25 s, mostrar el bloque completo en src/application/use_cases/gym_use_cases.py y el método get de src/infrastructure/repositories/gym_repository.py. Señalar with_for_update(). No ejecutar cambios en código durante la presentación.</a:t>
            </a:r>
          </a:p>
          <a:p/>
          <a:p>
            <a:r>
              <a:t>TRANSICIÓN</a:t>
            </a:r>
          </a:p>
          <a:p>
            <a:r>
              <a:t>Brian explica cómo esta lógica se convierte en una experiencia clara para el usuario.</a:t>
            </a:r>
          </a:p>
          <a:p/>
          <a:p>
            <a:r>
              <a:t>FUENTES</a:t>
            </a:r>
          </a:p>
          <a:p>
            <a:r>
              <a:t>https://github.com/IA-P1-BCN/g1-python-crud-api/blob/2beb0b405d5a8fed009a33ad476d74dd941b217b/src/application/use_cases/gym_use_cases.py</a:t>
            </a:r>
          </a:p>
          <a:p>
            <a:r>
              <a:t>https://github.com/IA-P1-BCN/g1-python-crud-api/blob/2beb0b405d5a8fed009a33ad476d74dd941b217b/src/infrastructure/repositories/gym_repository.py</a:t>
            </a:r>
          </a:p>
          <a:p>
            <a:r>
              <a:t>https://github.com/IA-P1-BCN/g1-python-crud-api/blob/2beb0b405d5a8fed009a33ad476d74dd941b217b/tests/integration/test_gym_crud.py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13: Una interfaz que hace visible el estado del gimnasio</a:t>
            </a:r>
          </a:p>
          <a:p>
            <a:r>
              <a:t>PONENTE: Brian — Frontend</a:t>
            </a:r>
          </a:p>
          <a:p>
            <a:r>
              <a:t>TRAMO: 12:00–13:00 | DURACIÓN: 60 s</a:t>
            </a:r>
          </a:p>
          <a:p/>
          <a:p>
            <a:r>
              <a:t>GUION SUGERIDO</a:t>
            </a:r>
          </a:p>
          <a:p>
            <a:r>
              <a:t>El frontend está construido con Angular 22 y TypeScript, utilizando Tailwind y componentes de Spartan. Organizamos la experiencia por funcionalidades: acceso, registro, clases, reservas, perfil y pantallas de gestión. Los componentes compartidos resuelven piezas repetidas, como las tarjetas de clase, el indicador de cupo, los avisos y las confirmaciones. Los formularios validan entradas y muestran mensajes relacionados con el problema. La sesión se mantiene en la pestaña con sessionStorage y signals representan su estado en la interfaz. Las capturas son de la aplicación real, conectada al backend local; no son diseños conceptuales.</a:t>
            </a:r>
          </a:p>
          <a:p/>
          <a:p>
            <a:r>
              <a:t>FUENTES</a:t>
            </a:r>
          </a:p>
          <a:p>
            <a:r>
              <a:t>https://github.com/IA-P1-BCN/g1-python-crud-api/blob/2beb0b405d5a8fed009a33ad476d74dd941b217b/frontend/package.json</a:t>
            </a:r>
          </a:p>
          <a:p>
            <a:r>
              <a:t>https://github.com/IA-P1-BCN/g1-python-crud-api/blob/2beb0b405d5a8fed009a33ad476d74dd941b217b/frontend/src/app/core/auth/session.service.ts</a:t>
            </a:r>
          </a:p>
          <a:p>
            <a:r>
              <a:t>https://github.com/IA-P1-BCN/g1-python-crud-api/blob/2beb0b405d5a8fed009a33ad476d74dd941b217b/frontend/src/app/shared/components</a:t>
            </a:r>
          </a:p>
          <a:p>
            <a:r>
              <a:t>https://github.com/IA-P1-BCN/g1-python-crud-api/blob/2beb0b405d5a8fed009a33ad476d74dd941b217b/frontend/src/app/features/perfil/pages/perfil.page.ts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14: De la pantalla a la API, con un contrato compartido</a:t>
            </a:r>
          </a:p>
          <a:p>
            <a:r>
              <a:t>PONENTE: Brian — Frontend</a:t>
            </a:r>
          </a:p>
          <a:p>
            <a:r>
              <a:t>TRAMO: 13:00–14:00 | DURACIÓN: 60 s</a:t>
            </a:r>
          </a:p>
          <a:p/>
          <a:p>
            <a:r>
              <a:t>GUION SUGERIDO</a:t>
            </a:r>
          </a:p>
          <a:p>
            <a:r>
              <a:t>La página no conoce los detalles de persistencia. Delega en un servicio que utiliza contratos tipados y llama a la API. El interceptor añade el JWT a las peticiones de /v1. Si el servidor devuelve 401 para una sesión existente, se borra el token y se cierra la sesión local; el caso de credenciales incorrectas en el login se trata por separado. Otro detalle importante es el cupo: un cliente solo puede ver sus reservas, por eso no calculamos disponibilidad contando esa lista. Consultamos el agregado de la clase y mostramos plazas libres sin recibir identidades ajenas. En TypeScript utilizamos camelCase en funciones y propiedades, y PascalCase en clases e interfaces.</a:t>
            </a:r>
          </a:p>
          <a:p/>
          <a:p>
            <a:r>
              <a:t>ACCIÓN / DEMO</a:t>
            </a:r>
          </a:p>
          <a:p>
            <a:r>
              <a:t>Mostrar durante unos segundos frontend/src/app/core/http/auth.interceptor.ts y frontend/src/app/services/clases-con-cupo.ts. El extracto en la diapositiva conserva la lógica original con saltos de línea adaptados.</a:t>
            </a:r>
          </a:p>
          <a:p/>
          <a:p>
            <a:r>
              <a:t>FUENTES</a:t>
            </a:r>
          </a:p>
          <a:p>
            <a:r>
              <a:t>https://github.com/IA-P1-BCN/g1-python-crud-api/blob/2beb0b405d5a8fed009a33ad476d74dd941b217b/frontend/src/app/core/http/auth.interceptor.ts</a:t>
            </a:r>
          </a:p>
          <a:p>
            <a:r>
              <a:t>https://github.com/IA-P1-BCN/g1-python-crud-api/blob/2beb0b405d5a8fed009a33ad476d74dd941b217b/frontend/src/app/services/clases-con-cupo.ts</a:t>
            </a:r>
          </a:p>
          <a:p>
            <a:r>
              <a:t>https://github.com/IA-P1-BCN/g1-python-crud-api/blob/2beb0b405d5a8fed009a33ad476d74dd941b217b/frontend/src/app/services/api/recursos.api.ts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15: La demo termina donde el usuario espera</a:t>
            </a:r>
          </a:p>
          <a:p>
            <a:r>
              <a:t>PONENTE: Brian — Frontend</a:t>
            </a:r>
          </a:p>
          <a:p>
            <a:r>
              <a:t>TRAMO: 14:00–15:25 | DURACIÓN: 85 s</a:t>
            </a:r>
          </a:p>
          <a:p/>
          <a:p>
            <a:r>
              <a:t>GUION SUGERIDO</a:t>
            </a:r>
          </a:p>
          <a:p>
            <a:r>
              <a:t>Retomamos la experiencia de Miguel. La reserva aparece en el espacio personal y el usuario puede cancelarla mediante una confirmación. Después de cancelar, la lista se actualiza y la clase vuelve a disponer de esa plaza. Esta coherencia se mantiene porque la interfaz consulta el resultado real del servidor. No mostramos un éxito si la API ha rechazado la operación. Si el tiempo lo permite, señalaré la petición en Network: POST para crear una reserva, GET para consultarla y DELETE para cancelarla. Lo importante para el usuario es que la acción tenga una respuesta clara y que el estado que ve coincida con la operación del gimnasio.</a:t>
            </a:r>
          </a:p>
          <a:p/>
          <a:p>
            <a:r>
              <a:t>ACCIÓN / DEMO</a:t>
            </a:r>
          </a:p>
          <a:p>
            <a:r>
              <a:t>Reservar 65–70 s para la demo y 15–20 s para explicación. Continuar con la reserva de Miguel; si no se creó, utilizar una clase ya preparada. Abrir Mis reservas → Cancelar → confirmar → volver a Clases y comprobar disponibilidad. Opcional: Network filtrado por /v1/reservas, sin mostrar cabeceras Authorization ni tokens. Si la conexión falla, explicar con la captura y continuar al minuto 15:25.</a:t>
            </a:r>
          </a:p>
          <a:p/>
          <a:p>
            <a:r>
              <a:t>FUENTES</a:t>
            </a:r>
          </a:p>
          <a:p>
            <a:r>
              <a:t>https://github.com/IA-P1-BCN/g1-python-crud-api/blob/2beb0b405d5a8fed009a33ad476d74dd941b217b/frontend/src/app/features/reservas/pages/mis-reservas.page.ts</a:t>
            </a:r>
          </a:p>
          <a:p>
            <a:r>
              <a:t>https://github.com/IA-P1-BCN/g1-python-crud-api/blob/2beb0b405d5a8fed009a33ad476d74dd941b217b/frontend/src/app/services/http-reserva.service.ts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16: Los errores también forman parte de la experiencia</a:t>
            </a:r>
          </a:p>
          <a:p>
            <a:r>
              <a:t>PONENTE: Brian — Frontend</a:t>
            </a:r>
          </a:p>
          <a:p>
            <a:r>
              <a:t>TRAMO: 15:25–16:00 | DURACIÓN: 35 s</a:t>
            </a:r>
          </a:p>
          <a:p/>
          <a:p>
            <a:r>
              <a:t>GUION SUGERIDO</a:t>
            </a:r>
          </a:p>
          <a:p>
            <a:r>
              <a:t>Una experiencia completa también explica por qué algo no se ha podido hacer. Un 401 pide recuperar el acceso; un 409 informa de un conflicto, como falta de plazas; un 422 ayuda a corregir datos. Los fallos de red se presentan con un mensaje comprensible. La suite del frontend comprueba formularios, sesión, componentes e integración HTTP simulada: son 117 pruebas en 26 suites, verificadas hoy. La autorización real permanece siempre en el backend.</a:t>
            </a:r>
          </a:p>
          <a:p/>
          <a:p>
            <a:r>
              <a:t>TRANSICIÓN</a:t>
            </a:r>
          </a:p>
          <a:p>
            <a:r>
              <a:t>David cierra con la ejecución, el despliegue y la evidencia de calidad.</a:t>
            </a:r>
          </a:p>
          <a:p/>
          <a:p>
            <a:r>
              <a:t>FUENTES</a:t>
            </a:r>
          </a:p>
          <a:p>
            <a:r>
              <a:t>https://github.com/IA-P1-BCN/g1-python-crud-api/blob/2beb0b405d5a8fed009a33ad476d74dd941b217b/frontend/src/app/core/http/peticion.ts</a:t>
            </a:r>
          </a:p>
          <a:p>
            <a:r>
              <a:t>https://github.com/IA-P1-BCN/g1-python-crud-api/blob/2beb0b405d5a8fed009a33ad476d74dd941b217b/frontend/src/app/services/http-reserva.service.spec.ts</a:t>
            </a:r>
          </a:p>
          <a:p>
            <a:r>
              <a:t>npm test -- --watch=false · 19/10/2026 · 117 passed / 26 suites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17: Una aplicación desplegable, con datos persistentes</a:t>
            </a:r>
          </a:p>
          <a:p>
            <a:r>
              <a:t>PONENTE: David — DevOps</a:t>
            </a:r>
          </a:p>
          <a:p>
            <a:r>
              <a:t>TRAMO: 16:00–17:10 | DURACIÓN: 70 s</a:t>
            </a:r>
          </a:p>
          <a:p/>
          <a:p>
            <a:r>
              <a:t>GUION SUGERIDO</a:t>
            </a:r>
          </a:p>
          <a:p>
            <a:r>
              <a:t>La arquitectura de despliegue está definida en el repositorio. Un contenedor en Render sirve FastAPI y también la compilación de Angular, de forma que frontend y API comparten origen. La base MySQL es un servicio externo gestionado en Aiven, y la conexión utiliza TLS. En local, Docker Compose coordina tres servicios: MySQL, API y frontend servido por Nginx. El Dockerfile utiliza varias etapas: compila Angular, instala dependencias Python con uv y prepara una imagen de ejecución con un usuario sin privilegios. Las variables sensibles se configuran fuera del código. Para la demo técnica hemos preparado el entorno local con el esquema actual; hay que comprobar la paridad del despliegue público antes de usarlo en directo.</a:t>
            </a:r>
          </a:p>
          <a:p/>
          <a:p>
            <a:r>
              <a:t>FUENTES</a:t>
            </a:r>
          </a:p>
          <a:p>
            <a:r>
              <a:t>https://github.com/IA-P1-BCN/g1-python-crud-api/blob/2beb0b405d5a8fed009a33ad476d74dd941b217b/Dockerfile</a:t>
            </a:r>
          </a:p>
          <a:p>
            <a:r>
              <a:t>https://github.com/IA-P1-BCN/g1-python-crud-api/blob/2beb0b405d5a8fed009a33ad476d74dd941b217b/docker-compose.yml</a:t>
            </a:r>
          </a:p>
          <a:p>
            <a:r>
              <a:t>https://github.com/IA-P1-BCN/g1-python-crud-api/blob/2beb0b405d5a8fed009a33ad476d74dd941b217b/render.yaml</a:t>
            </a:r>
          </a:p>
          <a:p>
            <a:r>
              <a:t>https://github.com/IA-P1-BCN/g1-python-crud-api/blob/2beb0b405d5a8fed009a33ad476d74dd941b217b/config/settings.py</a:t>
            </a:r>
          </a:p>
          <a:p>
            <a:r>
              <a:t>https://github.com/IA-P1-BCN/g1-python-crud-api/blob/2beb0b405d5a8fed009a33ad476d74dd941b217b/README.md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18: Del pull request a una entrega repetible</a:t>
            </a:r>
          </a:p>
          <a:p>
            <a:r>
              <a:t>PONENTE: David — DevOps</a:t>
            </a:r>
          </a:p>
          <a:p>
            <a:r>
              <a:t>TRAMO: 17:10–18:10 | DURACIÓN: 60 s</a:t>
            </a:r>
          </a:p>
          <a:p/>
          <a:p>
            <a:r>
              <a:t>GUION SUGERIDO</a:t>
            </a:r>
          </a:p>
          <a:p>
            <a:r>
              <a:t>El repositorio utiliza ramas feature por tema, commits convencionales en español y pull requests a main con referencia a la issue. GitHub Actions ejecuta Ruff y pytest con una instancia real de MySQL y migraciones. La revisión humana es parte del flujo antes de integrar. El despliegue está configurado en Render para reaccionar a commits de main: no es un job de despliegue dentro de GitHub Actions. Conviene distinguir ambas funciones. El arranque del contenedor aplica migraciones, ejecuta el seed idempotente y arranca Uvicorn. Eso reduce pasos manuales y mantiene el proceso de ejecución descrito y reproducible.</a:t>
            </a:r>
          </a:p>
          <a:p/>
          <a:p>
            <a:r>
              <a:t>ACCIÓN / DEMO</a:t>
            </a:r>
          </a:p>
          <a:p>
            <a:r>
              <a:t>El YAML se muestra con el valor commit en la línea siguiente por legibilidad; en render.yaml figura autoDeployTrigger: commit. Si se abre código, usar el fichero real. Abrir la ejecución de CI ya preparada; no mostrar secretos del dashboard.</a:t>
            </a:r>
          </a:p>
          <a:p/>
          <a:p>
            <a:r>
              <a:t>FUENTES</a:t>
            </a:r>
          </a:p>
          <a:p>
            <a:r>
              <a:t>https://github.com/IA-P1-BCN/g1-python-crud-api/blob/2beb0b405d5a8fed009a33ad476d74dd941b217b/.github/workflows/tests.yml</a:t>
            </a:r>
          </a:p>
          <a:p>
            <a:r>
              <a:t>https://github.com/IA-P1-BCN/g1-python-crud-api/blob/2beb0b405d5a8fed009a33ad476d74dd941b217b/render.yaml</a:t>
            </a:r>
          </a:p>
          <a:p>
            <a:r>
              <a:t>https://github.com/IA-P1-BCN/g1-python-crud-api/blob/2beb0b405d5a8fed009a33ad476d74dd941b217b/scripts/docker-entrypoint.sh</a:t>
            </a:r>
          </a:p>
          <a:p>
            <a:r>
              <a:t>https://github.com/IA-P1-BCN/g1-python-crud-api/blob/2beb0b405d5a8fed009a33ad476d74dd941b217b/AGENTS.md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19: Calidad y documentación que se pueden abrir</a:t>
            </a:r>
          </a:p>
          <a:p>
            <a:r>
              <a:t>PONENTE: David — DevOps</a:t>
            </a:r>
          </a:p>
          <a:p>
            <a:r>
              <a:t>TRAMO: 18:10–19:15 | DURACIÓN: 65 s</a:t>
            </a:r>
          </a:p>
          <a:p/>
          <a:p>
            <a:r>
              <a:t>GUION SUGERIDO</a:t>
            </a:r>
          </a:p>
          <a:p>
            <a:r>
              <a:t>La calidad se apoya en evidencia concreta. La última ejecución de main en GitHub Actions pasó 376 pruebas de backend; incluye integración HTTP contra el servidor y MySQL, además de pruebas unitarias. En el frontend, la verificación local del 19 de octubre pasó 117 pruebas en 26 suites. Son cifras de pruebas ejecutadas, no porcentajes de cobertura. La documentación también está organizada para distintas necesidades: Swagger y ReDoc para consumir la API; README y Taskfile para ejecutar; diagrama ER y diccionario para entender los datos; y OpenSpec y la bitácora para seguir decisiones. Los healthchecks permiten distinguir si responde la aplicación y si la base de datos está disponible.</a:t>
            </a:r>
          </a:p>
          <a:p/>
          <a:p>
            <a:r>
              <a:t>ACCIÓN / DEMO</a:t>
            </a:r>
          </a:p>
          <a:p>
            <a:r>
              <a:t>Enlazar la cifra backend a la ejecución real: https://github.com/IA-P1-BCN/g1-python-crud-api/actions/runs/39213569324. La documentación pública puede reflejar una versión distinta; para mostrar el contrato actual usar http://127.0.0.1:8000/docs.</a:t>
            </a:r>
          </a:p>
          <a:p/>
          <a:p>
            <a:r>
              <a:t>FUENTES</a:t>
            </a:r>
          </a:p>
          <a:p>
            <a:r>
              <a:t>https://github.com/IA-P1-BCN/g1-python-crud-api/actions/runs/39213569324</a:t>
            </a:r>
          </a:p>
          <a:p>
            <a:r>
              <a:t>https://github.com/IA-P1-BCN/g1-python-crud-api/blob/2beb0b405d5a8fed009a33ad476d74dd941b217b/.github/workflows/tests.yml</a:t>
            </a:r>
          </a:p>
          <a:p>
            <a:r>
              <a:t>https://github.com/IA-P1-BCN/g1-python-crud-api/blob/2beb0b405d5a8fed009a33ad476d74dd941b217b/docs/ai-log/2026-10-16-permisos-gimnasio-106.md</a:t>
            </a:r>
          </a:p>
          <a:p>
            <a:r>
              <a:t>npm test -- --watch=false · 19/10/2026 · 117 passed / 26 suites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20: Un gimnasio conectado. Un equipo responsable.</a:t>
            </a:r>
          </a:p>
          <a:p>
            <a:r>
              <a:t>PONENTE: David — DevOps</a:t>
            </a:r>
          </a:p>
          <a:p>
            <a:r>
              <a:t>TRAMO: 19:15–20:00 | DURACIÓN: 45 s</a:t>
            </a:r>
          </a:p>
          <a:p/>
          <a:p>
            <a:r>
              <a:t>GUION SUGERIDO</a:t>
            </a:r>
          </a:p>
          <a:p>
            <a:r>
              <a:t>Con GymFlow hemos conectado una necesidad de negocio con una solución completa: información centralizada, reservas sujetas a reglas, acceso por rol y una aplicación que podemos ejecutar y desplegar de forma reproducible. La entrega actual incluye el portal, la API, la base de datos, las pruebas y su documentación. Quedan evoluciones posibles, como servicios de pago, notificaciones y seguridad avanzada, que no presentamos como funcionalidades ya entregadas. Gracias. Para las preguntas, cada integrante responderá primero sobre su área y el resto podrá complementar.</a:t>
            </a:r>
          </a:p>
          <a:p/>
          <a:p>
            <a:r>
              <a:t>ACCIÓN / DEMO</a:t>
            </a:r>
          </a:p>
          <a:p>
            <a:r>
              <a:t>Cerrar antes del minuto 20. Las preguntas se atienden después del bloque cronometrado, según indique la organización. Miguel: producto; Juan Carlos: proceso; Fabiana: API y datos; Brian: interfaz; David: infraestructura.</a:t>
            </a:r>
          </a:p>
          <a:p/>
          <a:p>
            <a:r>
              <a:t>FUENTES</a:t>
            </a:r>
          </a:p>
          <a:p>
            <a:r>
              <a:t>https://github.com/IA-P1-BCN/g1-python-crud-api/blob/2beb0b405d5a8fed009a33ad476d74dd941b217b/README.md</a:t>
            </a:r>
          </a:p>
          <a:p>
            <a:r>
              <a:t>https://github.com/IA-P1-BCN/g1-python-crud-api</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21: Reloj de ensayo y relevos</a:t>
            </a:r>
          </a:p>
          <a:p>
            <a:r>
              <a:t>PONENTE: Equipo — Apoyo</a:t>
            </a:r>
          </a:p>
          <a:p>
            <a:r>
              <a:t>TRAMO: 20:00–20:00 | DURACIÓN: 0 s</a:t>
            </a:r>
          </a:p>
          <a:p/>
          <a:p>
            <a:r>
              <a:t>GUION SUGERIDO</a:t>
            </a:r>
          </a:p>
          <a:p>
            <a:r>
              <a:t>Este anexo es una herramienta de ensayo y no forma parte de los veinte minutos. Cada persona debe preparar su bloque con el cronómetro. A los tres minutos y cuarenta segundos se muestra una señal de cierre para garantizar el relevo. Mantener las pestañas y ficheros abiertos previamente. Si alguien falta, acordar antes de la presentación el reparto de su bloque entre dos compañeros y comunicarlo a la organización; no concentrar todas las respuestas en una sola persona.</a:t>
            </a:r>
          </a:p>
          <a:p/>
          <a:p>
            <a:r>
              <a:t>ACCIÓN / DEMO</a:t>
            </a:r>
          </a:p>
          <a:p>
            <a:r>
              <a:t>Relevos de apoyo sugeridos para ensayar: Miguel y Juan Carlos se cubren negocio/proceso; Fabiana y Brian se cubren el recorrido API/interfaz; David y Fabiana se cubren arranque y persistencia. Confirmar el reparto si hay ausencia. No activar avance automático: las demos requieren control manual.</a:t>
            </a:r>
          </a:p>
          <a:p/>
          <a:p>
            <a:r>
              <a:t>FUENTES</a:t>
            </a:r>
          </a:p>
          <a:p>
            <a:r>
              <a:t>Estructura y tiempos solicitados por el equipo.</a:t>
            </a:r>
          </a:p>
          <a:p/>
          <a:p>
            <a:r>
              <a:t>Anexo oculto en el pase principal; abrir solo como apoyo.</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22: Preparar una demo que no dependa de improvisar</a:t>
            </a:r>
          </a:p>
          <a:p>
            <a:r>
              <a:t>PONENTE: Equipo — Apoyo</a:t>
            </a:r>
          </a:p>
          <a:p>
            <a:r>
              <a:t>TRAMO: 20:00–20:00 | DURACIÓN: 0 s</a:t>
            </a:r>
          </a:p>
          <a:p/>
          <a:p>
            <a:r>
              <a:t>GUION SUGERIDO</a:t>
            </a:r>
          </a:p>
          <a:p>
            <a:r>
              <a:t>Preparación operativa: ejecutar task up o task docker:up con antelación, comprobar /health y /health/db, iniciar sesión con la cuenta demo y asegurarse de que hay una clase disponible. El registro nuevo puede crear un cliente inactivo, por lo que no debe sustituir a la cuenta preparada en la demo. Durante la verificación del 19/10, el entorno local respondió versión 0.4 y el público versión 0.3; por ello no se afirma paridad de producción. La presentación describe la implementación de main y propone demostrarla en local. El servidor público respondió, pero necesitó tiempo de espera. Las capturas de la presentación proceden del entorno local con datos ficticios.</a:t>
            </a:r>
          </a:p>
          <a:p/>
          <a:p>
            <a:r>
              <a:t>ACCIÓN / DEMO</a:t>
            </a:r>
          </a:p>
          <a:p>
            <a:r>
              <a:t>URL local: http://127.0.0.1:4200. Swagger local: http://127.0.0.1:8000/docs. Cuenta demo: demo@gymflow.com / Demo56789012, credenciales de demostración documentadas, nunca las del administrador. Ensayar reservar y cancelar antes del acto, sin dejar una reserva duplicada. Si falla la conexión durante el acto, volver a las capturas incluidas y mantener el reloj.</a:t>
            </a:r>
          </a:p>
          <a:p/>
          <a:p>
            <a:r>
              <a:t>FUENTES</a:t>
            </a:r>
          </a:p>
          <a:p>
            <a:r>
              <a:t>https://github.com/IA-P1-BCN/g1-python-crud-api/blob/2beb0b405d5a8fed009a33ad476d74dd941b217b/README.md</a:t>
            </a:r>
          </a:p>
          <a:p>
            <a:r>
              <a:t>Verificación HTTP del 19/10/2026: local /health/db 200, versión 0.4; Render /health/db 200, versión 0.3.</a:t>
            </a:r>
          </a:p>
          <a:p/>
          <a:p>
            <a:r>
              <a:t>Anexo oculto en el pase principal; abrir solo como apoyo.</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23: Distinguir la entrega actual de las siguientes mejoras</a:t>
            </a:r>
          </a:p>
          <a:p>
            <a:r>
              <a:t>PONENTE: Equipo — Apoyo</a:t>
            </a:r>
          </a:p>
          <a:p>
            <a:r>
              <a:t>TRAMO: 20:00–20:00 | DURACIÓN: 0 s</a:t>
            </a:r>
          </a:p>
          <a:p/>
          <a:p>
            <a:r>
              <a:t>GUION SUGERIDO</a:t>
            </a:r>
          </a:p>
          <a:p>
            <a:r>
              <a:t>La columna izquierda resume lo implementado. La derecha agrupa capacidades que aparecen en el plan y no se presentan como terminadas. Registrar un pago no equivale a procesar una transacción de tarjeta mediante una pasarela. Asimismo, OAuth2 Password Flow con JWT no es un login social. La autorización de reservas comprueba que existe al menos un pago, pero no calcula vencimiento porque no hay periodos de membresía en el modelo actual. Estas distinciones permiten responder con precisión sobre el alcance.</a:t>
            </a:r>
          </a:p>
          <a:p/>
          <a:p>
            <a:r>
              <a:t>FUENTES</a:t>
            </a:r>
          </a:p>
          <a:p>
            <a:r>
              <a:t>https://github.com/IA-P1-BCN/g1-python-crud-api/blob/2beb0b405d5a8fed009a33ad476d74dd941b217b/AGENTS.md</a:t>
            </a:r>
          </a:p>
          <a:p>
            <a:r>
              <a:t>https://github.com/IA-P1-BCN/g1-python-crud-api/blob/2beb0b405d5a8fed009a33ad476d74dd941b217b/docs/client/CLIENT_SPECS_V2_USER_MNG.md</a:t>
            </a:r>
          </a:p>
          <a:p>
            <a:r>
              <a:t>https://github.com/IA-P1-BCN/g1-python-crud-api/issues/39</a:t>
            </a:r>
          </a:p>
          <a:p>
            <a:r>
              <a:t>https://github.com/IA-P1-BCN/g1-python-crud-api/issues/41</a:t>
            </a:r>
          </a:p>
          <a:p>
            <a:r>
              <a:t>https://github.com/IA-P1-BCN/g1-python-crud-api/issues/50</a:t>
            </a:r>
          </a:p>
          <a:p>
            <a:r>
              <a:t>https://github.com/IA-P1-BCN/g1-python-crud-api/issues/52</a:t>
            </a:r>
          </a:p>
          <a:p/>
          <a:p>
            <a:r>
              <a:t>Anexo oculto en el pase principal; abrir solo como apoyo.</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24: Fuentes verificables y preguntas repartidas</a:t>
            </a:r>
          </a:p>
          <a:p>
            <a:r>
              <a:t>PONENTE: Equipo — Apoyo</a:t>
            </a:r>
          </a:p>
          <a:p>
            <a:r>
              <a:t>TRAMO: 20:00–20:00 | DURACIÓN: 0 s</a:t>
            </a:r>
          </a:p>
          <a:p/>
          <a:p>
            <a:r>
              <a:t>GUION SUGERIDO</a:t>
            </a:r>
          </a:p>
          <a:p>
            <a:r>
              <a:t>Todos los datos de la presentación se apoyan en el repositorio, la especificación, la ejecución de CI y las comprobaciones locales. La presentación no afirma porcentajes de cobertura ni mejoras de negocio cuantificadas. Las URLs están enlazadas para consulta. La distribución de preguntas ayuda a que los cinco integrantes participen en la defensa. Si una pregunta cruza áreas, la persona que empieza puede ceder la parte correspondiente a un compañero.</a:t>
            </a:r>
          </a:p>
          <a:p/>
          <a:p>
            <a:r>
              <a:t>FUENTES</a:t>
            </a:r>
          </a:p>
          <a:p>
            <a:r>
              <a:t>https://github.com/IA-P1-BCN/g1-python-crud-api</a:t>
            </a:r>
          </a:p>
          <a:p>
            <a:r>
              <a:t>https://github.com/orgs/IA-P1-BCN/projects/32/views/1</a:t>
            </a:r>
          </a:p>
          <a:p>
            <a:r>
              <a:t>https://github.com/IA-P1-BCN/g1-python-crud-api/actions/runs/39213569324</a:t>
            </a:r>
          </a:p>
          <a:p>
            <a:r>
              <a:t>https://github.com/IA-P1-BCN/g1-python-crud-api/blob/2beb0b405d5a8fed009a33ad476d74dd941b217b/README.md</a:t>
            </a:r>
          </a:p>
          <a:p>
            <a:r>
              <a:t>https://github.com/IA-P1-BCN/g1-python-crud-api/blob/2beb0b405d5a8fed009a33ad476d74dd941b217b/AGENTS.md</a:t>
            </a:r>
          </a:p>
          <a:p>
            <a:r>
              <a:t>https://github.com/IA-P1-BCN/g1-python-crud-api/blob/2beb0b405d5a8fed009a33ad476d74dd941b217b/docs/EDR_DIAGRAM.md</a:t>
            </a:r>
          </a:p>
          <a:p/>
          <a:p>
            <a:r>
              <a:t>Anexo oculto en el pase principal; abrir solo como apoyo.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127.0.0.1:4200/login"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orgs/IA-P1-BCN/projects/32/views/1"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127.0.0.1:4200/reservas" TargetMode="External"/><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1-gymflow-api.onrender.com/docs" TargetMode="External"/><Relationship Id="rId3" Type="http://schemas.openxmlformats.org/officeDocument/2006/relationships/hyperlink" Target="https://github.com/IA-P1-BCN/g1-python-crud-api/blob/2beb0b405d5a8fed009a33ad476d74dd941b217b/README.md" TargetMode="External"/><Relationship Id="rId4" Type="http://schemas.openxmlformats.org/officeDocument/2006/relationships/hyperlink" Target="https://github.com/IA-P1-BCN/g1-python-crud-api/blob/2beb0b405d5a8fed009a33ad476d74dd941b217b/docs/EDR_DIAGRAM.md" TargetMode="External"/><Relationship Id="rId5" Type="http://schemas.openxmlformats.org/officeDocument/2006/relationships/hyperlink" Target="https://github.com/IA-P1-BCN/g1-python-crud-api/blob/2beb0b405d5a8fed009a33ad476d74dd941b217b/docs/ai-log.md"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A-P1-BCN/g1-python-crud-api" TargetMode="External"/><Relationship Id="rId3" Type="http://schemas.openxmlformats.org/officeDocument/2006/relationships/hyperlink" Target="http://127.0.0.1:4200"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A-P1-BCN/g1-python-crud-api" TargetMode="External"/><Relationship Id="rId3" Type="http://schemas.openxmlformats.org/officeDocument/2006/relationships/hyperlink" Target="https://github.com/orgs/IA-P1-BCN/projects/32/views/1" TargetMode="External"/><Relationship Id="rId4" Type="http://schemas.openxmlformats.org/officeDocument/2006/relationships/hyperlink" Target="https://github.com/IA-P1-BCN/g1-python-crud-api/actions/runs/39213569324" TargetMode="External"/><Relationship Id="rId5" Type="http://schemas.openxmlformats.org/officeDocument/2006/relationships/hyperlink" Target="https://github.com/IA-P1-BCN/g1-python-crud-api/blob/2beb0b405d5a8fed009a33ad476d74dd941b217b/AGENTS.md" TargetMode="External"/><Relationship Id="rId6" Type="http://schemas.openxmlformats.org/officeDocument/2006/relationships/hyperlink" Target="https://github.com/IA-P1-BCN/g1-python-crud-api/blob/2beb0b405d5a8fed009a33ad476d74dd941b217b/docs/EDR_DIAGRAM.md" TargetMode="External"/><Relationship Id="rId7"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8000" y="406400"/>
            <a:ext cx="5334000" cy="425450"/>
          </a:xfrm>
          <a:prstGeom prst="rect">
            <a:avLst/>
          </a:prstGeom>
          <a:noFill/>
        </p:spPr>
        <p:txBody>
          <a:bodyPr wrap="none" lIns="0" rIns="0" tIns="0" bIns="0" anchor="t">
            <a:spAutoFit/>
          </a:bodyPr>
          <a:lstStyle/>
          <a:p>
            <a:pPr algn="l">
              <a:lnSpc>
                <a:spcPts val="3050"/>
              </a:lnSpc>
              <a:spcBef>
                <a:spcPts val="0"/>
              </a:spcBef>
              <a:spcAft>
                <a:spcPts val="0"/>
              </a:spcAft>
              <a:defRPr sz="2500" b="1">
                <a:solidFill>
                  <a:srgbClr val="FFFFFF"/>
                </a:solidFill>
                <a:latin typeface="Arial"/>
              </a:defRPr>
            </a:pPr>
            <a:r>
              <a:t>GYMFLOW</a:t>
            </a:r>
          </a:p>
        </p:txBody>
      </p:sp>
      <p:sp>
        <p:nvSpPr>
          <p:cNvPr id="4" name="Rounded Rectangle 3"/>
          <p:cNvSpPr/>
          <p:nvPr/>
        </p:nvSpPr>
        <p:spPr>
          <a:xfrm>
            <a:off x="508000" y="1117600"/>
            <a:ext cx="2921000" cy="3429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2300" y="1181100"/>
            <a:ext cx="26924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BBCBF2"/>
                </a:solidFill>
                <a:latin typeface="Arial"/>
              </a:defRPr>
            </a:pPr>
            <a:r>
              <a:t>PROYECTO G1 · 20 OCT 2026</a:t>
            </a:r>
          </a:p>
        </p:txBody>
      </p:sp>
      <p:sp>
        <p:nvSpPr>
          <p:cNvPr id="6" name="TextBox 5"/>
          <p:cNvSpPr txBox="1"/>
          <p:nvPr/>
        </p:nvSpPr>
        <p:spPr>
          <a:xfrm>
            <a:off x="508000" y="1917700"/>
            <a:ext cx="5969000" cy="1432560"/>
          </a:xfrm>
          <a:prstGeom prst="rect">
            <a:avLst/>
          </a:prstGeom>
          <a:noFill/>
        </p:spPr>
        <p:txBody>
          <a:bodyPr wrap="none" lIns="0" rIns="0" tIns="0" bIns="0" anchor="t">
            <a:spAutoFit/>
          </a:bodyPr>
          <a:lstStyle/>
          <a:p>
            <a:pPr algn="l">
              <a:lnSpc>
                <a:spcPts val="5490"/>
              </a:lnSpc>
              <a:spcBef>
                <a:spcPts val="0"/>
              </a:spcBef>
              <a:spcAft>
                <a:spcPts val="0"/>
              </a:spcAft>
              <a:defRPr sz="4500" b="1">
                <a:solidFill>
                  <a:srgbClr val="FFFFFF"/>
                </a:solidFill>
                <a:latin typeface="Arial"/>
              </a:defRPr>
            </a:pPr>
            <a:r>
              <a:t>Menos gestión.</a:t>
            </a:r>
          </a:p>
          <a:p>
            <a:pPr algn="l">
              <a:lnSpc>
                <a:spcPts val="5490"/>
              </a:lnSpc>
              <a:spcBef>
                <a:spcPts val="0"/>
              </a:spcBef>
              <a:spcAft>
                <a:spcPts val="0"/>
              </a:spcAft>
              <a:defRPr sz="4500" b="1">
                <a:solidFill>
                  <a:srgbClr val="FFFFFF"/>
                </a:solidFill>
                <a:latin typeface="Arial"/>
              </a:defRPr>
            </a:pPr>
            <a:r>
              <a:t>Más movimiento.</a:t>
            </a:r>
          </a:p>
        </p:txBody>
      </p:sp>
      <p:sp>
        <p:nvSpPr>
          <p:cNvPr id="7" name="TextBox 6"/>
          <p:cNvSpPr txBox="1"/>
          <p:nvPr/>
        </p:nvSpPr>
        <p:spPr>
          <a:xfrm>
            <a:off x="546100" y="3606800"/>
            <a:ext cx="5588000" cy="688848"/>
          </a:xfrm>
          <a:prstGeom prst="rect">
            <a:avLst/>
          </a:prstGeom>
          <a:noFill/>
        </p:spPr>
        <p:txBody>
          <a:bodyPr wrap="none" lIns="0" rIns="0" tIns="0" bIns="0" anchor="t">
            <a:spAutoFit/>
          </a:bodyPr>
          <a:lstStyle/>
          <a:p>
            <a:pPr algn="l">
              <a:lnSpc>
                <a:spcPts val="2562"/>
              </a:lnSpc>
              <a:spcBef>
                <a:spcPts val="0"/>
              </a:spcBef>
              <a:spcAft>
                <a:spcPts val="0"/>
              </a:spcAft>
              <a:defRPr sz="2100" b="0">
                <a:solidFill>
                  <a:srgbClr val="B6C4E0"/>
                </a:solidFill>
                <a:latin typeface="Arial"/>
              </a:defRPr>
            </a:pPr>
            <a:r>
              <a:t>La operación del gimnasio,</a:t>
            </a:r>
          </a:p>
          <a:p>
            <a:pPr algn="l">
              <a:lnSpc>
                <a:spcPts val="2562"/>
              </a:lnSpc>
              <a:spcBef>
                <a:spcPts val="0"/>
              </a:spcBef>
              <a:spcAft>
                <a:spcPts val="0"/>
              </a:spcAft>
              <a:defRPr sz="2100" b="0">
                <a:solidFill>
                  <a:srgbClr val="B6C4E0"/>
                </a:solidFill>
                <a:latin typeface="Arial"/>
              </a:defRPr>
            </a:pPr>
            <a:r>
              <a:t>en un mismo lugar.</a:t>
            </a:r>
          </a:p>
        </p:txBody>
      </p:sp>
      <p:sp>
        <p:nvSpPr>
          <p:cNvPr id="8" name="Rounded Rectangle 7"/>
          <p:cNvSpPr/>
          <p:nvPr/>
        </p:nvSpPr>
        <p:spPr>
          <a:xfrm>
            <a:off x="6794500" y="1587500"/>
            <a:ext cx="4889500" cy="3429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94500" y="1587500"/>
            <a:ext cx="4889500" cy="292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21500" y="16891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73900" y="16891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226300" y="16891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0" y="1651000"/>
            <a:ext cx="4064000" cy="177546"/>
          </a:xfrm>
          <a:prstGeom prst="rect">
            <a:avLst/>
          </a:prstGeom>
          <a:noFill/>
        </p:spPr>
        <p:txBody>
          <a:bodyPr wrap="none" lIns="0" rIns="0" tIns="0" bIns="0" anchor="t">
            <a:spAutoFit/>
          </a:bodyPr>
          <a:lstStyle/>
          <a:p>
            <a:pPr algn="l">
              <a:lnSpc>
                <a:spcPts val="1098"/>
              </a:lnSpc>
              <a:spcBef>
                <a:spcPts val="0"/>
              </a:spcBef>
              <a:spcAft>
                <a:spcPts val="0"/>
              </a:spcAft>
              <a:defRPr sz="900" b="0">
                <a:solidFill>
                  <a:srgbClr val="475569"/>
                </a:solidFill>
                <a:latin typeface="Arial"/>
              </a:defRPr>
            </a:pPr>
            <a:r>
              <a:t>Portal del socio · captura real</a:t>
            </a:r>
          </a:p>
        </p:txBody>
      </p:sp>
      <p:pic>
        <p:nvPicPr>
          <p:cNvPr id="14" name="Picture 13" descr="portal.png"/>
          <p:cNvPicPr>
            <a:picLocks noChangeAspect="1"/>
          </p:cNvPicPr>
          <p:nvPr/>
        </p:nvPicPr>
        <p:blipFill>
          <a:blip r:embed="rId2"/>
          <a:stretch>
            <a:fillRect/>
          </a:stretch>
        </p:blipFill>
        <p:spPr>
          <a:xfrm>
            <a:off x="6807200" y="1928018"/>
            <a:ext cx="4864100" cy="3040062"/>
          </a:xfrm>
          <a:prstGeom prst="rect">
            <a:avLst/>
          </a:prstGeom>
        </p:spPr>
      </p:pic>
      <p:sp>
        <p:nvSpPr>
          <p:cNvPr id="15" name="TextBox 14"/>
          <p:cNvSpPr txBox="1"/>
          <p:nvPr/>
        </p:nvSpPr>
        <p:spPr>
          <a:xfrm>
            <a:off x="546100" y="5372100"/>
            <a:ext cx="5334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B6C4E0"/>
                </a:solidFill>
                <a:latin typeface="Arial"/>
              </a:defRPr>
            </a:pPr>
            <a:r>
              <a:t>Negocio y equipo 00–08 min</a:t>
            </a:r>
          </a:p>
        </p:txBody>
      </p:sp>
      <p:sp>
        <p:nvSpPr>
          <p:cNvPr id="16" name="TextBox 15"/>
          <p:cNvSpPr txBox="1"/>
          <p:nvPr/>
        </p:nvSpPr>
        <p:spPr>
          <a:xfrm>
            <a:off x="6794500" y="5372100"/>
            <a:ext cx="48895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B6C4E0"/>
                </a:solidFill>
                <a:latin typeface="Arial"/>
              </a:defRPr>
            </a:pPr>
            <a:r>
              <a:t>Solución técnica 08–20 min</a:t>
            </a:r>
          </a:p>
        </p:txBody>
      </p:sp>
      <p:cxnSp>
        <p:nvCxnSpPr>
          <p:cNvPr id="17" name="Connector 16"/>
          <p:cNvCxnSpPr/>
          <p:nvPr/>
        </p:nvCxnSpPr>
        <p:spPr>
          <a:xfrm>
            <a:off x="508000" y="6311900"/>
            <a:ext cx="11176000" cy="0"/>
          </a:xfrm>
          <a:prstGeom prst="line">
            <a:avLst/>
          </a:prstGeom>
          <a:ln w="7620">
            <a:solidFill>
              <a:srgbClr val="61718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FFFFFF"/>
                </a:solidFill>
                <a:latin typeface="Arial"/>
              </a:defRPr>
            </a:pPr>
            <a:r>
              <a:t>GYMFLOW</a:t>
            </a:r>
          </a:p>
        </p:txBody>
      </p:sp>
      <p:sp>
        <p:nvSpPr>
          <p:cNvPr id="19" name="TextBox 18"/>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B6C4E0"/>
                </a:solidFill>
                <a:latin typeface="Arial"/>
              </a:defRPr>
            </a:pPr>
            <a:r>
              <a:t>Miguel · Product Owner | 00:00–00:30</a:t>
            </a:r>
          </a:p>
        </p:txBody>
      </p:sp>
      <p:sp>
        <p:nvSpPr>
          <p:cNvPr id="20" name="TextBox 19"/>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B6C4E0"/>
                </a:solidFill>
                <a:latin typeface="Arial"/>
              </a:defRPr>
            </a:pPr>
            <a:r>
              <a:t>01 / 20</a:t>
            </a:r>
          </a:p>
        </p:txBody>
      </p:sp>
      <p:sp>
        <p:nvSpPr>
          <p:cNvPr id="21" name="Rectangle 20"/>
          <p:cNvSpPr/>
          <p:nvPr/>
        </p:nvSpPr>
        <p:spPr>
          <a:xfrm>
            <a:off x="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384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768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536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01 · EL PROBLEMA</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Una operación conectada, sin registros dispersos</a:t>
            </a:r>
          </a:p>
        </p:txBody>
      </p:sp>
      <p:sp>
        <p:nvSpPr>
          <p:cNvPr id="4" name="Rounded Rectangle 3"/>
          <p:cNvSpPr/>
          <p:nvPr/>
        </p:nvSpPr>
        <p:spPr>
          <a:xfrm>
            <a:off x="508000" y="1993900"/>
            <a:ext cx="3556000" cy="3340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171700"/>
            <a:ext cx="3098800" cy="564896"/>
          </a:xfrm>
          <a:prstGeom prst="rect">
            <a:avLst/>
          </a:prstGeom>
          <a:noFill/>
        </p:spPr>
        <p:txBody>
          <a:bodyPr wrap="none" lIns="0" rIns="0" tIns="0" bIns="0" anchor="t">
            <a:spAutoFit/>
          </a:bodyPr>
          <a:lstStyle/>
          <a:p>
            <a:pPr algn="l">
              <a:lnSpc>
                <a:spcPts val="4148"/>
              </a:lnSpc>
              <a:spcBef>
                <a:spcPts val="0"/>
              </a:spcBef>
              <a:spcAft>
                <a:spcPts val="0"/>
              </a:spcAft>
              <a:defRPr sz="3400" b="1">
                <a:solidFill>
                  <a:srgbClr val="1F5EFF"/>
                </a:solidFill>
                <a:latin typeface="Arial"/>
              </a:defRPr>
            </a:pPr>
            <a:r>
              <a:t>01</a:t>
            </a:r>
          </a:p>
        </p:txBody>
      </p:sp>
      <p:sp>
        <p:nvSpPr>
          <p:cNvPr id="6" name="TextBox 5"/>
          <p:cNvSpPr txBox="1"/>
          <p:nvPr/>
        </p:nvSpPr>
        <p:spPr>
          <a:xfrm>
            <a:off x="736600" y="27813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SITUACIÓN</a:t>
            </a:r>
          </a:p>
        </p:txBody>
      </p:sp>
      <p:sp>
        <p:nvSpPr>
          <p:cNvPr id="7" name="TextBox 6"/>
          <p:cNvSpPr txBox="1"/>
          <p:nvPr/>
        </p:nvSpPr>
        <p:spPr>
          <a:xfrm>
            <a:off x="736600" y="3060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Información</a:t>
            </a:r>
          </a:p>
          <a:p>
            <a:pPr algn="l">
              <a:lnSpc>
                <a:spcPts val="2562"/>
              </a:lnSpc>
              <a:spcBef>
                <a:spcPts val="0"/>
              </a:spcBef>
              <a:spcAft>
                <a:spcPts val="0"/>
              </a:spcAft>
              <a:defRPr sz="2100" b="1">
                <a:solidFill>
                  <a:srgbClr val="0F172A"/>
                </a:solidFill>
                <a:latin typeface="Arial"/>
              </a:defRPr>
            </a:pPr>
            <a:r>
              <a:t>fragmentada</a:t>
            </a:r>
          </a:p>
        </p:txBody>
      </p:sp>
      <p:sp>
        <p:nvSpPr>
          <p:cNvPr id="8" name="TextBox 7"/>
          <p:cNvSpPr txBox="1"/>
          <p:nvPr/>
        </p:nvSpPr>
        <p:spPr>
          <a:xfrm>
            <a:off x="736600" y="38735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Clientes, clases y pagos</a:t>
            </a:r>
          </a:p>
          <a:p>
            <a:pPr algn="l">
              <a:lnSpc>
                <a:spcPts val="1952"/>
              </a:lnSpc>
              <a:spcBef>
                <a:spcPts val="0"/>
              </a:spcBef>
              <a:spcAft>
                <a:spcPts val="0"/>
              </a:spcAft>
              <a:defRPr sz="1600" b="0">
                <a:solidFill>
                  <a:srgbClr val="475569"/>
                </a:solidFill>
                <a:latin typeface="Arial"/>
              </a:defRPr>
            </a:pPr>
            <a:r>
              <a:t>en registros separados.</a:t>
            </a:r>
          </a:p>
        </p:txBody>
      </p:sp>
      <p:sp>
        <p:nvSpPr>
          <p:cNvPr id="9" name="Rounded Rectangle 8"/>
          <p:cNvSpPr/>
          <p:nvPr/>
        </p:nvSpPr>
        <p:spPr>
          <a:xfrm>
            <a:off x="4318000" y="1993900"/>
            <a:ext cx="3556000" cy="3340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6600" y="2171700"/>
            <a:ext cx="3098800" cy="564896"/>
          </a:xfrm>
          <a:prstGeom prst="rect">
            <a:avLst/>
          </a:prstGeom>
          <a:noFill/>
        </p:spPr>
        <p:txBody>
          <a:bodyPr wrap="none" lIns="0" rIns="0" tIns="0" bIns="0" anchor="t">
            <a:spAutoFit/>
          </a:bodyPr>
          <a:lstStyle/>
          <a:p>
            <a:pPr algn="l">
              <a:lnSpc>
                <a:spcPts val="4148"/>
              </a:lnSpc>
              <a:spcBef>
                <a:spcPts val="0"/>
              </a:spcBef>
              <a:spcAft>
                <a:spcPts val="0"/>
              </a:spcAft>
              <a:defRPr sz="3400" b="1">
                <a:solidFill>
                  <a:srgbClr val="1F5EFF"/>
                </a:solidFill>
                <a:latin typeface="Arial"/>
              </a:defRPr>
            </a:pPr>
            <a:r>
              <a:t>02</a:t>
            </a:r>
          </a:p>
        </p:txBody>
      </p:sp>
      <p:sp>
        <p:nvSpPr>
          <p:cNvPr id="11" name="TextBox 10"/>
          <p:cNvSpPr txBox="1"/>
          <p:nvPr/>
        </p:nvSpPr>
        <p:spPr>
          <a:xfrm>
            <a:off x="4546600" y="27813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NECESIDAD</a:t>
            </a:r>
          </a:p>
        </p:txBody>
      </p:sp>
      <p:sp>
        <p:nvSpPr>
          <p:cNvPr id="12" name="TextBox 11"/>
          <p:cNvSpPr txBox="1"/>
          <p:nvPr/>
        </p:nvSpPr>
        <p:spPr>
          <a:xfrm>
            <a:off x="4546600" y="3060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Reservas</a:t>
            </a:r>
          </a:p>
          <a:p>
            <a:pPr algn="l">
              <a:lnSpc>
                <a:spcPts val="2562"/>
              </a:lnSpc>
              <a:spcBef>
                <a:spcPts val="0"/>
              </a:spcBef>
              <a:spcAft>
                <a:spcPts val="0"/>
              </a:spcAft>
              <a:defRPr sz="2100" b="1">
                <a:solidFill>
                  <a:srgbClr val="0F172A"/>
                </a:solidFill>
                <a:latin typeface="Arial"/>
              </a:defRPr>
            </a:pPr>
            <a:r>
              <a:t>confiables</a:t>
            </a:r>
          </a:p>
        </p:txBody>
      </p:sp>
      <p:sp>
        <p:nvSpPr>
          <p:cNvPr id="13" name="TextBox 12"/>
          <p:cNvSpPr txBox="1"/>
          <p:nvPr/>
        </p:nvSpPr>
        <p:spPr>
          <a:xfrm>
            <a:off x="4546600" y="38735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Saber quién puede reservar</a:t>
            </a:r>
          </a:p>
          <a:p>
            <a:pPr algn="l">
              <a:lnSpc>
                <a:spcPts val="1952"/>
              </a:lnSpc>
              <a:spcBef>
                <a:spcPts val="0"/>
              </a:spcBef>
              <a:spcAft>
                <a:spcPts val="0"/>
              </a:spcAft>
              <a:defRPr sz="1600" b="0">
                <a:solidFill>
                  <a:srgbClr val="475569"/>
                </a:solidFill>
                <a:latin typeface="Arial"/>
              </a:defRPr>
            </a:pPr>
            <a:r>
              <a:t>y cuántas plazas quedan.</a:t>
            </a:r>
          </a:p>
        </p:txBody>
      </p:sp>
      <p:sp>
        <p:nvSpPr>
          <p:cNvPr id="14" name="Rounded Rectangle 13"/>
          <p:cNvSpPr/>
          <p:nvPr/>
        </p:nvSpPr>
        <p:spPr>
          <a:xfrm>
            <a:off x="8128000" y="1993900"/>
            <a:ext cx="3556000" cy="3340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171700"/>
            <a:ext cx="3098800" cy="564896"/>
          </a:xfrm>
          <a:prstGeom prst="rect">
            <a:avLst/>
          </a:prstGeom>
          <a:noFill/>
        </p:spPr>
        <p:txBody>
          <a:bodyPr wrap="none" lIns="0" rIns="0" tIns="0" bIns="0" anchor="t">
            <a:spAutoFit/>
          </a:bodyPr>
          <a:lstStyle/>
          <a:p>
            <a:pPr algn="l">
              <a:lnSpc>
                <a:spcPts val="4148"/>
              </a:lnSpc>
              <a:spcBef>
                <a:spcPts val="0"/>
              </a:spcBef>
              <a:spcAft>
                <a:spcPts val="0"/>
              </a:spcAft>
              <a:defRPr sz="3400" b="1">
                <a:solidFill>
                  <a:srgbClr val="1F5EFF"/>
                </a:solidFill>
                <a:latin typeface="Arial"/>
              </a:defRPr>
            </a:pPr>
            <a:r>
              <a:t>03</a:t>
            </a:r>
          </a:p>
        </p:txBody>
      </p:sp>
      <p:sp>
        <p:nvSpPr>
          <p:cNvPr id="16" name="TextBox 15"/>
          <p:cNvSpPr txBox="1"/>
          <p:nvPr/>
        </p:nvSpPr>
        <p:spPr>
          <a:xfrm>
            <a:off x="8356600" y="27813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RESPUESTA</a:t>
            </a:r>
          </a:p>
        </p:txBody>
      </p:sp>
      <p:sp>
        <p:nvSpPr>
          <p:cNvPr id="17" name="TextBox 16"/>
          <p:cNvSpPr txBox="1"/>
          <p:nvPr/>
        </p:nvSpPr>
        <p:spPr>
          <a:xfrm>
            <a:off x="8356600" y="3060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Una fuente</a:t>
            </a:r>
          </a:p>
          <a:p>
            <a:pPr algn="l">
              <a:lnSpc>
                <a:spcPts val="2562"/>
              </a:lnSpc>
              <a:spcBef>
                <a:spcPts val="0"/>
              </a:spcBef>
              <a:spcAft>
                <a:spcPts val="0"/>
              </a:spcAft>
              <a:defRPr sz="2100" b="1">
                <a:solidFill>
                  <a:srgbClr val="0F172A"/>
                </a:solidFill>
                <a:latin typeface="Arial"/>
              </a:defRPr>
            </a:pPr>
            <a:r>
              <a:t>compartida</a:t>
            </a:r>
          </a:p>
        </p:txBody>
      </p:sp>
      <p:sp>
        <p:nvSpPr>
          <p:cNvPr id="18" name="TextBox 17"/>
          <p:cNvSpPr txBox="1"/>
          <p:nvPr/>
        </p:nvSpPr>
        <p:spPr>
          <a:xfrm>
            <a:off x="8356600" y="38735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Una API y un portal para</a:t>
            </a:r>
          </a:p>
          <a:p>
            <a:pPr algn="l">
              <a:lnSpc>
                <a:spcPts val="1952"/>
              </a:lnSpc>
              <a:spcBef>
                <a:spcPts val="0"/>
              </a:spcBef>
              <a:spcAft>
                <a:spcPts val="0"/>
              </a:spcAft>
              <a:defRPr sz="1600" b="0">
                <a:solidFill>
                  <a:srgbClr val="475569"/>
                </a:solidFill>
                <a:latin typeface="Arial"/>
              </a:defRPr>
            </a:pPr>
            <a:r>
              <a:t>coordinar la operación.</a:t>
            </a:r>
          </a:p>
        </p:txBody>
      </p:sp>
      <p:sp>
        <p:nvSpPr>
          <p:cNvPr id="19" name="TextBox 18"/>
          <p:cNvSpPr txBox="1"/>
          <p:nvPr/>
        </p:nvSpPr>
        <p:spPr>
          <a:xfrm>
            <a:off x="508000" y="5651500"/>
            <a:ext cx="11176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Valor buscado: menos errores operativos y más autonomía para el socio.</a:t>
            </a:r>
          </a:p>
        </p:txBody>
      </p:sp>
      <p:cxnSp>
        <p:nvCxnSpPr>
          <p:cNvPr id="20" name="Connector 19"/>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2" name="TextBox 21"/>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Miguel · Product Owner | 00:30–01:25</a:t>
            </a:r>
          </a:p>
        </p:txBody>
      </p:sp>
      <p:sp>
        <p:nvSpPr>
          <p:cNvPr id="23" name="TextBox 22"/>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02 / 20</a:t>
            </a:r>
          </a:p>
        </p:txBody>
      </p:sp>
      <p:sp>
        <p:nvSpPr>
          <p:cNvPr id="24" name="Rectangle 23"/>
          <p:cNvSpPr/>
          <p:nvPr/>
        </p:nvSpPr>
        <p:spPr>
          <a:xfrm>
            <a:off x="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02 · PERSONAS Y OBJETIVOS</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Tres perfiles, una experiencia coordinada</a:t>
            </a:r>
          </a:p>
        </p:txBody>
      </p:sp>
      <p:sp>
        <p:nvSpPr>
          <p:cNvPr id="4" name="Rounded Rectangle 3"/>
          <p:cNvSpPr/>
          <p:nvPr/>
        </p:nvSpPr>
        <p:spPr>
          <a:xfrm>
            <a:off x="508000" y="2006600"/>
            <a:ext cx="3556000" cy="3517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2352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CLIENTE</a:t>
            </a:r>
          </a:p>
        </p:txBody>
      </p:sp>
      <p:sp>
        <p:nvSpPr>
          <p:cNvPr id="6" name="TextBox 5"/>
          <p:cNvSpPr txBox="1"/>
          <p:nvPr/>
        </p:nvSpPr>
        <p:spPr>
          <a:xfrm>
            <a:off x="736600" y="2552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Reserva con</a:t>
            </a:r>
          </a:p>
          <a:p>
            <a:pPr algn="l">
              <a:lnSpc>
                <a:spcPts val="2562"/>
              </a:lnSpc>
              <a:spcBef>
                <a:spcPts val="0"/>
              </a:spcBef>
              <a:spcAft>
                <a:spcPts val="0"/>
              </a:spcAft>
              <a:defRPr sz="2100" b="1">
                <a:solidFill>
                  <a:srgbClr val="0F172A"/>
                </a:solidFill>
                <a:latin typeface="Arial"/>
              </a:defRPr>
            </a:pPr>
            <a:r>
              <a:t>autonomía</a:t>
            </a:r>
          </a:p>
        </p:txBody>
      </p:sp>
      <p:sp>
        <p:nvSpPr>
          <p:cNvPr id="7" name="TextBox 6"/>
          <p:cNvSpPr txBox="1"/>
          <p:nvPr/>
        </p:nvSpPr>
        <p:spPr>
          <a:xfrm>
            <a:off x="736600" y="33782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Consulta clases, sus reservas,</a:t>
            </a:r>
          </a:p>
          <a:p>
            <a:pPr algn="l">
              <a:lnSpc>
                <a:spcPts val="1952"/>
              </a:lnSpc>
              <a:spcBef>
                <a:spcPts val="0"/>
              </a:spcBef>
              <a:spcAft>
                <a:spcPts val="0"/>
              </a:spcAft>
              <a:defRPr sz="1600" b="0">
                <a:solidFill>
                  <a:srgbClr val="475569"/>
                </a:solidFill>
                <a:latin typeface="Arial"/>
              </a:defRPr>
            </a:pPr>
            <a:r>
              <a:t>sus pagos y su perfil.</a:t>
            </a:r>
          </a:p>
        </p:txBody>
      </p:sp>
      <p:sp>
        <p:nvSpPr>
          <p:cNvPr id="8" name="Rounded Rectangle 7"/>
          <p:cNvSpPr/>
          <p:nvPr/>
        </p:nvSpPr>
        <p:spPr>
          <a:xfrm>
            <a:off x="4318000" y="2006600"/>
            <a:ext cx="3556000" cy="3517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6600" y="22352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ENTRENADOR</a:t>
            </a:r>
          </a:p>
        </p:txBody>
      </p:sp>
      <p:sp>
        <p:nvSpPr>
          <p:cNvPr id="10" name="TextBox 9"/>
          <p:cNvSpPr txBox="1"/>
          <p:nvPr/>
        </p:nvSpPr>
        <p:spPr>
          <a:xfrm>
            <a:off x="4546600" y="2552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Gestiona</a:t>
            </a:r>
          </a:p>
          <a:p>
            <a:pPr algn="l">
              <a:lnSpc>
                <a:spcPts val="2562"/>
              </a:lnSpc>
              <a:spcBef>
                <a:spcPts val="0"/>
              </a:spcBef>
              <a:spcAft>
                <a:spcPts val="0"/>
              </a:spcAft>
              <a:defRPr sz="2100" b="1">
                <a:solidFill>
                  <a:srgbClr val="0F172A"/>
                </a:solidFill>
                <a:latin typeface="Arial"/>
              </a:defRPr>
            </a:pPr>
            <a:r>
              <a:t>sus sesiones</a:t>
            </a:r>
          </a:p>
        </p:txBody>
      </p:sp>
      <p:sp>
        <p:nvSpPr>
          <p:cNvPr id="11" name="TextBox 10"/>
          <p:cNvSpPr txBox="1"/>
          <p:nvPr/>
        </p:nvSpPr>
        <p:spPr>
          <a:xfrm>
            <a:off x="4546600" y="33782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Organiza sus clases y</a:t>
            </a:r>
          </a:p>
          <a:p>
            <a:pPr algn="l">
              <a:lnSpc>
                <a:spcPts val="1952"/>
              </a:lnSpc>
              <a:spcBef>
                <a:spcPts val="0"/>
              </a:spcBef>
              <a:spcAft>
                <a:spcPts val="0"/>
              </a:spcAft>
              <a:defRPr sz="1600" b="0">
                <a:solidFill>
                  <a:srgbClr val="475569"/>
                </a:solidFill>
                <a:latin typeface="Arial"/>
              </a:defRPr>
            </a:pPr>
            <a:r>
              <a:t>las reservas asociadas.</a:t>
            </a:r>
          </a:p>
        </p:txBody>
      </p:sp>
      <p:sp>
        <p:nvSpPr>
          <p:cNvPr id="12" name="Rounded Rectangle 11"/>
          <p:cNvSpPr/>
          <p:nvPr/>
        </p:nvSpPr>
        <p:spPr>
          <a:xfrm>
            <a:off x="8128000" y="2006600"/>
            <a:ext cx="3556000" cy="3517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56600" y="2235200"/>
            <a:ext cx="30988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ADMINISTRACIÓN</a:t>
            </a:r>
          </a:p>
        </p:txBody>
      </p:sp>
      <p:sp>
        <p:nvSpPr>
          <p:cNvPr id="14" name="TextBox 13"/>
          <p:cNvSpPr txBox="1"/>
          <p:nvPr/>
        </p:nvSpPr>
        <p:spPr>
          <a:xfrm>
            <a:off x="8356600" y="2552700"/>
            <a:ext cx="30988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Controla</a:t>
            </a:r>
          </a:p>
          <a:p>
            <a:pPr algn="l">
              <a:lnSpc>
                <a:spcPts val="2562"/>
              </a:lnSpc>
              <a:spcBef>
                <a:spcPts val="0"/>
              </a:spcBef>
              <a:spcAft>
                <a:spcPts val="0"/>
              </a:spcAft>
              <a:defRPr sz="2100" b="1">
                <a:solidFill>
                  <a:srgbClr val="0F172A"/>
                </a:solidFill>
                <a:latin typeface="Arial"/>
              </a:defRPr>
            </a:pPr>
            <a:r>
              <a:t>la operación</a:t>
            </a:r>
          </a:p>
        </p:txBody>
      </p:sp>
      <p:sp>
        <p:nvSpPr>
          <p:cNvPr id="15" name="TextBox 14"/>
          <p:cNvSpPr txBox="1"/>
          <p:nvPr/>
        </p:nvSpPr>
        <p:spPr>
          <a:xfrm>
            <a:off x="8356600" y="3378200"/>
            <a:ext cx="30988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Gestiona clientes, clases,</a:t>
            </a:r>
          </a:p>
          <a:p>
            <a:pPr algn="l">
              <a:lnSpc>
                <a:spcPts val="1952"/>
              </a:lnSpc>
              <a:spcBef>
                <a:spcPts val="0"/>
              </a:spcBef>
              <a:spcAft>
                <a:spcPts val="0"/>
              </a:spcAft>
              <a:defRPr sz="1600" b="0">
                <a:solidFill>
                  <a:srgbClr val="475569"/>
                </a:solidFill>
                <a:latin typeface="Arial"/>
              </a:defRPr>
            </a:pPr>
            <a:r>
              <a:t>pagos, cuentas y CSV.</a:t>
            </a:r>
          </a:p>
        </p:txBody>
      </p:sp>
      <p:sp>
        <p:nvSpPr>
          <p:cNvPr id="16" name="TextBox 15"/>
          <p:cNvSpPr txBox="1"/>
          <p:nvPr/>
        </p:nvSpPr>
        <p:spPr>
          <a:xfrm>
            <a:off x="508000" y="5740400"/>
            <a:ext cx="11176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Cada persona accede a la información que necesita para su función.</a:t>
            </a:r>
          </a:p>
        </p:txBody>
      </p:sp>
      <p:cxnSp>
        <p:nvCxnSpPr>
          <p:cNvPr id="17" name="Connector 16"/>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19" name="TextBox 18"/>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Miguel · Product Owner | 01:25–02:20</a:t>
            </a:r>
          </a:p>
        </p:txBody>
      </p:sp>
      <p:sp>
        <p:nvSpPr>
          <p:cNvPr id="20" name="TextBox 19"/>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03 / 20</a:t>
            </a:r>
          </a:p>
        </p:txBody>
      </p:sp>
      <p:sp>
        <p:nvSpPr>
          <p:cNvPr id="21" name="Rectangle 20"/>
          <p:cNvSpPr/>
          <p:nvPr/>
        </p:nvSpPr>
        <p:spPr>
          <a:xfrm>
            <a:off x="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03 · FLUJO DE USUARIO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Del acceso a una plaza confirmada</a:t>
            </a:r>
          </a:p>
        </p:txBody>
      </p:sp>
      <p:sp>
        <p:nvSpPr>
          <p:cNvPr id="4" name="Rounded Rectangle 3"/>
          <p:cNvSpPr/>
          <p:nvPr/>
        </p:nvSpPr>
        <p:spPr>
          <a:xfrm>
            <a:off x="508000" y="1841500"/>
            <a:ext cx="2603500" cy="1041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19939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Acceder</a:t>
            </a:r>
          </a:p>
        </p:txBody>
      </p:sp>
      <p:sp>
        <p:nvSpPr>
          <p:cNvPr id="6" name="TextBox 5"/>
          <p:cNvSpPr txBox="1"/>
          <p:nvPr/>
        </p:nvSpPr>
        <p:spPr>
          <a:xfrm>
            <a:off x="660400" y="23241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Cuenta del socio</a:t>
            </a:r>
          </a:p>
        </p:txBody>
      </p:sp>
      <p:cxnSp>
        <p:nvCxnSpPr>
          <p:cNvPr id="7" name="Connector 6"/>
          <p:cNvCxnSpPr/>
          <p:nvPr/>
        </p:nvCxnSpPr>
        <p:spPr>
          <a:xfrm>
            <a:off x="3136900" y="23495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65500" y="1841500"/>
            <a:ext cx="2603500" cy="1041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17900" y="19939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Elegir</a:t>
            </a:r>
          </a:p>
        </p:txBody>
      </p:sp>
      <p:sp>
        <p:nvSpPr>
          <p:cNvPr id="10" name="TextBox 9"/>
          <p:cNvSpPr txBox="1"/>
          <p:nvPr/>
        </p:nvSpPr>
        <p:spPr>
          <a:xfrm>
            <a:off x="3517900" y="23241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Clase y disponibilidad</a:t>
            </a:r>
          </a:p>
        </p:txBody>
      </p:sp>
      <p:cxnSp>
        <p:nvCxnSpPr>
          <p:cNvPr id="11" name="Connector 10"/>
          <p:cNvCxnSpPr/>
          <p:nvPr/>
        </p:nvCxnSpPr>
        <p:spPr>
          <a:xfrm>
            <a:off x="5994400" y="23495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23000" y="1841500"/>
            <a:ext cx="2603500" cy="10414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19939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Reservar</a:t>
            </a:r>
          </a:p>
        </p:txBody>
      </p:sp>
      <p:sp>
        <p:nvSpPr>
          <p:cNvPr id="14" name="TextBox 13"/>
          <p:cNvSpPr txBox="1"/>
          <p:nvPr/>
        </p:nvSpPr>
        <p:spPr>
          <a:xfrm>
            <a:off x="6375400" y="23241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Validación del gimnasio</a:t>
            </a:r>
          </a:p>
        </p:txBody>
      </p:sp>
      <p:cxnSp>
        <p:nvCxnSpPr>
          <p:cNvPr id="15" name="Connector 14"/>
          <p:cNvCxnSpPr/>
          <p:nvPr/>
        </p:nvCxnSpPr>
        <p:spPr>
          <a:xfrm>
            <a:off x="8851900" y="23495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80500" y="1841500"/>
            <a:ext cx="2603500" cy="1041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2900" y="19939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Consultar</a:t>
            </a:r>
          </a:p>
        </p:txBody>
      </p:sp>
      <p:sp>
        <p:nvSpPr>
          <p:cNvPr id="18" name="TextBox 17"/>
          <p:cNvSpPr txBox="1"/>
          <p:nvPr/>
        </p:nvSpPr>
        <p:spPr>
          <a:xfrm>
            <a:off x="9232900" y="23241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Mis reservas</a:t>
            </a:r>
          </a:p>
        </p:txBody>
      </p:sp>
      <p:sp>
        <p:nvSpPr>
          <p:cNvPr id="19" name="Rounded Rectangle 18"/>
          <p:cNvSpPr/>
          <p:nvPr/>
        </p:nvSpPr>
        <p:spPr>
          <a:xfrm>
            <a:off x="508000" y="3136900"/>
            <a:ext cx="73406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000" y="3136900"/>
            <a:ext cx="7340600" cy="292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000" y="32385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87400" y="32385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9800" y="32385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06500" y="3200400"/>
            <a:ext cx="6515100" cy="177546"/>
          </a:xfrm>
          <a:prstGeom prst="rect">
            <a:avLst/>
          </a:prstGeom>
          <a:noFill/>
        </p:spPr>
        <p:txBody>
          <a:bodyPr wrap="none" lIns="0" rIns="0" tIns="0" bIns="0" anchor="t">
            <a:spAutoFit/>
          </a:bodyPr>
          <a:lstStyle/>
          <a:p>
            <a:pPr algn="l">
              <a:lnSpc>
                <a:spcPts val="1098"/>
              </a:lnSpc>
              <a:spcBef>
                <a:spcPts val="0"/>
              </a:spcBef>
              <a:spcAft>
                <a:spcPts val="0"/>
              </a:spcAft>
              <a:defRPr sz="900" b="0">
                <a:solidFill>
                  <a:srgbClr val="475569"/>
                </a:solidFill>
                <a:latin typeface="Arial"/>
              </a:defRPr>
            </a:pPr>
            <a:r>
              <a:t>Catálogo real · entorno local</a:t>
            </a:r>
          </a:p>
        </p:txBody>
      </p:sp>
      <p:pic>
        <p:nvPicPr>
          <p:cNvPr id="25" name="Picture 24" descr="clases.png"/>
          <p:cNvPicPr>
            <a:picLocks noChangeAspect="1"/>
          </p:cNvPicPr>
          <p:nvPr/>
        </p:nvPicPr>
        <p:blipFill>
          <a:blip r:embed="rId2"/>
          <a:stretch>
            <a:fillRect/>
          </a:stretch>
        </p:blipFill>
        <p:spPr>
          <a:xfrm>
            <a:off x="2095500" y="3441700"/>
            <a:ext cx="4165600" cy="2603500"/>
          </a:xfrm>
          <a:prstGeom prst="rect">
            <a:avLst/>
          </a:prstGeom>
        </p:spPr>
      </p:pic>
      <p:sp>
        <p:nvSpPr>
          <p:cNvPr id="26" name="TextBox 25"/>
          <p:cNvSpPr txBox="1"/>
          <p:nvPr/>
        </p:nvSpPr>
        <p:spPr>
          <a:xfrm>
            <a:off x="8229600" y="3251200"/>
            <a:ext cx="33655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1F5EFF"/>
                </a:solidFill>
                <a:latin typeface="Arial"/>
              </a:defRPr>
            </a:pPr>
            <a:r>
              <a:t>DEMO · 60 SEGUNDOS</a:t>
            </a:r>
          </a:p>
        </p:txBody>
      </p:sp>
      <p:sp>
        <p:nvSpPr>
          <p:cNvPr id="27" name="TextBox 26"/>
          <p:cNvSpPr txBox="1"/>
          <p:nvPr/>
        </p:nvSpPr>
        <p:spPr>
          <a:xfrm>
            <a:off x="8229600" y="3619500"/>
            <a:ext cx="3365500" cy="781812"/>
          </a:xfrm>
          <a:prstGeom prst="rect">
            <a:avLst/>
          </a:prstGeom>
          <a:noFill/>
        </p:spPr>
        <p:txBody>
          <a:bodyPr wrap="none" lIns="0" rIns="0" tIns="0" bIns="0" anchor="t">
            <a:spAutoFit/>
          </a:bodyPr>
          <a:lstStyle/>
          <a:p>
            <a:pPr algn="l">
              <a:lnSpc>
                <a:spcPts val="2928"/>
              </a:lnSpc>
              <a:spcBef>
                <a:spcPts val="0"/>
              </a:spcBef>
              <a:spcAft>
                <a:spcPts val="0"/>
              </a:spcAft>
              <a:defRPr sz="2400" b="1">
                <a:solidFill>
                  <a:srgbClr val="0F172A"/>
                </a:solidFill>
                <a:latin typeface="Arial"/>
              </a:defRPr>
            </a:pPr>
            <a:r>
              <a:t>Entrar → elegir clase</a:t>
            </a:r>
          </a:p>
          <a:p>
            <a:pPr algn="l">
              <a:lnSpc>
                <a:spcPts val="2928"/>
              </a:lnSpc>
              <a:spcBef>
                <a:spcPts val="0"/>
              </a:spcBef>
              <a:spcAft>
                <a:spcPts val="0"/>
              </a:spcAft>
              <a:defRPr sz="2400" b="1">
                <a:solidFill>
                  <a:srgbClr val="0F172A"/>
                </a:solidFill>
                <a:latin typeface="Arial"/>
              </a:defRPr>
            </a:pPr>
            <a:r>
              <a:t>→ reservar</a:t>
            </a:r>
          </a:p>
        </p:txBody>
      </p:sp>
      <p:sp>
        <p:nvSpPr>
          <p:cNvPr id="28" name="TextBox 27"/>
          <p:cNvSpPr txBox="1"/>
          <p:nvPr/>
        </p:nvSpPr>
        <p:spPr>
          <a:xfrm>
            <a:off x="8229600" y="4559300"/>
            <a:ext cx="3365500" cy="564896"/>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475569"/>
                </a:solidFill>
                <a:latin typeface="Arial"/>
              </a:defRPr>
            </a:pPr>
            <a:r>
              <a:t>Cliente activo + pago</a:t>
            </a:r>
          </a:p>
          <a:p>
            <a:pPr algn="l">
              <a:lnSpc>
                <a:spcPts val="2074"/>
              </a:lnSpc>
              <a:spcBef>
                <a:spcPts val="0"/>
              </a:spcBef>
              <a:spcAft>
                <a:spcPts val="0"/>
              </a:spcAft>
              <a:defRPr sz="1700" b="0">
                <a:solidFill>
                  <a:srgbClr val="475569"/>
                </a:solidFill>
                <a:latin typeface="Arial"/>
              </a:defRPr>
            </a:pPr>
            <a:r>
              <a:t>+ plaza disponible.</a:t>
            </a:r>
          </a:p>
        </p:txBody>
      </p:sp>
      <p:sp>
        <p:nvSpPr>
          <p:cNvPr id="29" name="Rounded Rectangle 28"/>
          <p:cNvSpPr/>
          <p:nvPr/>
        </p:nvSpPr>
        <p:spPr>
          <a:xfrm>
            <a:off x="8229600" y="5397500"/>
            <a:ext cx="2921000" cy="444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2000" y="5499100"/>
            <a:ext cx="2616200" cy="255015"/>
          </a:xfrm>
          <a:prstGeom prst="rect">
            <a:avLst/>
          </a:prstGeom>
          <a:noFill/>
        </p:spPr>
        <p:txBody>
          <a:bodyPr wrap="none" lIns="0" rIns="0" tIns="0" bIns="0" anchor="t">
            <a:spAutoFit/>
          </a:bodyPr>
          <a:lstStyle/>
          <a:p>
            <a:pPr algn="l">
              <a:lnSpc>
                <a:spcPts val="1707"/>
              </a:lnSpc>
              <a:spcBef>
                <a:spcPts val="0"/>
              </a:spcBef>
              <a:spcAft>
                <a:spcPts val="0"/>
              </a:spcAft>
              <a:defRPr sz="1400" b="1">
                <a:solidFill>
                  <a:srgbClr val="FFFFFF"/>
                </a:solidFill>
                <a:latin typeface="Arial"/>
              </a:defRPr>
            </a:pPr>
            <a:r>
              <a:rPr>
                <a:hlinkClick r:id="rId3"/>
              </a:rPr>
              <a:t>Abrir demo local</a:t>
            </a:r>
          </a:p>
        </p:txBody>
      </p:sp>
      <p:cxnSp>
        <p:nvCxnSpPr>
          <p:cNvPr id="31" name="Connector 30"/>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3" name="TextBox 32"/>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Miguel · Product Owner | 02:20–04:00</a:t>
            </a:r>
          </a:p>
        </p:txBody>
      </p:sp>
      <p:sp>
        <p:nvSpPr>
          <p:cNvPr id="34" name="TextBox 33"/>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04 / 20</a:t>
            </a:r>
          </a:p>
        </p:txBody>
      </p:sp>
      <p:sp>
        <p:nvSpPr>
          <p:cNvPr id="35" name="Rectangle 34"/>
          <p:cNvSpPr/>
          <p:nvPr/>
        </p:nvSpPr>
        <p:spPr>
          <a:xfrm>
            <a:off x="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04 · ORGANIZACIÓN DEL EQUIPO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Cinco responsabilidades, una entrega compartida</a:t>
            </a:r>
          </a:p>
        </p:txBody>
      </p:sp>
      <p:sp>
        <p:nvSpPr>
          <p:cNvPr id="4" name="Rounded Rectangle 3"/>
          <p:cNvSpPr/>
          <p:nvPr/>
        </p:nvSpPr>
        <p:spPr>
          <a:xfrm>
            <a:off x="508000" y="2222500"/>
            <a:ext cx="20828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6600" y="2476500"/>
            <a:ext cx="508000" cy="508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2578100"/>
            <a:ext cx="508000" cy="347980"/>
          </a:xfrm>
          <a:prstGeom prst="rect">
            <a:avLst/>
          </a:prstGeom>
          <a:noFill/>
        </p:spPr>
        <p:txBody>
          <a:bodyPr wrap="none" lIns="0" rIns="0" tIns="0" bIns="0" anchor="t">
            <a:spAutoFit/>
          </a:bodyPr>
          <a:lstStyle/>
          <a:p>
            <a:pPr algn="ctr">
              <a:lnSpc>
                <a:spcPts val="2440"/>
              </a:lnSpc>
              <a:spcBef>
                <a:spcPts val="0"/>
              </a:spcBef>
              <a:spcAft>
                <a:spcPts val="0"/>
              </a:spcAft>
              <a:defRPr sz="2000" b="1">
                <a:solidFill>
                  <a:srgbClr val="1F5EFF"/>
                </a:solidFill>
                <a:latin typeface="Arial"/>
              </a:defRPr>
            </a:pPr>
            <a:r>
              <a:t>1</a:t>
            </a:r>
          </a:p>
        </p:txBody>
      </p:sp>
      <p:sp>
        <p:nvSpPr>
          <p:cNvPr id="7" name="TextBox 6"/>
          <p:cNvSpPr txBox="1"/>
          <p:nvPr/>
        </p:nvSpPr>
        <p:spPr>
          <a:xfrm>
            <a:off x="711200" y="3327400"/>
            <a:ext cx="16764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Miguel</a:t>
            </a:r>
          </a:p>
        </p:txBody>
      </p:sp>
      <p:sp>
        <p:nvSpPr>
          <p:cNvPr id="8" name="TextBox 7"/>
          <p:cNvSpPr txBox="1"/>
          <p:nvPr/>
        </p:nvSpPr>
        <p:spPr>
          <a:xfrm>
            <a:off x="711200" y="37338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Product Owner</a:t>
            </a:r>
          </a:p>
        </p:txBody>
      </p:sp>
      <p:sp>
        <p:nvSpPr>
          <p:cNvPr id="9" name="TextBox 8"/>
          <p:cNvSpPr txBox="1"/>
          <p:nvPr/>
        </p:nvSpPr>
        <p:spPr>
          <a:xfrm>
            <a:off x="711200" y="45466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1F5EFF"/>
                </a:solidFill>
                <a:latin typeface="Arial"/>
              </a:defRPr>
            </a:pPr>
            <a:r>
              <a:t>00:00–04:00</a:t>
            </a:r>
          </a:p>
        </p:txBody>
      </p:sp>
      <p:sp>
        <p:nvSpPr>
          <p:cNvPr id="10" name="Rounded Rectangle 9"/>
          <p:cNvSpPr/>
          <p:nvPr/>
        </p:nvSpPr>
        <p:spPr>
          <a:xfrm>
            <a:off x="2768600" y="2222500"/>
            <a:ext cx="20828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7200" y="2476500"/>
            <a:ext cx="508000" cy="508000"/>
          </a:xfrm>
          <a:prstGeom prst="ellipse">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7200" y="2578100"/>
            <a:ext cx="508000" cy="347980"/>
          </a:xfrm>
          <a:prstGeom prst="rect">
            <a:avLst/>
          </a:prstGeom>
          <a:noFill/>
        </p:spPr>
        <p:txBody>
          <a:bodyPr wrap="none" lIns="0" rIns="0" tIns="0" bIns="0" anchor="t">
            <a:spAutoFit/>
          </a:bodyPr>
          <a:lstStyle/>
          <a:p>
            <a:pPr algn="ctr">
              <a:lnSpc>
                <a:spcPts val="2440"/>
              </a:lnSpc>
              <a:spcBef>
                <a:spcPts val="0"/>
              </a:spcBef>
              <a:spcAft>
                <a:spcPts val="0"/>
              </a:spcAft>
              <a:defRPr sz="2000" b="1">
                <a:solidFill>
                  <a:srgbClr val="FFFFFF"/>
                </a:solidFill>
                <a:latin typeface="Arial"/>
              </a:defRPr>
            </a:pPr>
            <a:r>
              <a:t>2</a:t>
            </a:r>
          </a:p>
        </p:txBody>
      </p:sp>
      <p:sp>
        <p:nvSpPr>
          <p:cNvPr id="13" name="TextBox 12"/>
          <p:cNvSpPr txBox="1"/>
          <p:nvPr/>
        </p:nvSpPr>
        <p:spPr>
          <a:xfrm>
            <a:off x="2971800" y="3327400"/>
            <a:ext cx="16764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Juan Carlos</a:t>
            </a:r>
          </a:p>
        </p:txBody>
      </p:sp>
      <p:sp>
        <p:nvSpPr>
          <p:cNvPr id="14" name="TextBox 13"/>
          <p:cNvSpPr txBox="1"/>
          <p:nvPr/>
        </p:nvSpPr>
        <p:spPr>
          <a:xfrm>
            <a:off x="2971800" y="37338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Scrum Master</a:t>
            </a:r>
          </a:p>
        </p:txBody>
      </p:sp>
      <p:sp>
        <p:nvSpPr>
          <p:cNvPr id="15" name="TextBox 14"/>
          <p:cNvSpPr txBox="1"/>
          <p:nvPr/>
        </p:nvSpPr>
        <p:spPr>
          <a:xfrm>
            <a:off x="2971800" y="45466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1F5EFF"/>
                </a:solidFill>
                <a:latin typeface="Arial"/>
              </a:defRPr>
            </a:pPr>
            <a:r>
              <a:t>04:00–08:00</a:t>
            </a:r>
          </a:p>
        </p:txBody>
      </p:sp>
      <p:sp>
        <p:nvSpPr>
          <p:cNvPr id="16" name="Rounded Rectangle 15"/>
          <p:cNvSpPr/>
          <p:nvPr/>
        </p:nvSpPr>
        <p:spPr>
          <a:xfrm>
            <a:off x="5029200" y="2222500"/>
            <a:ext cx="20828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57800" y="2476500"/>
            <a:ext cx="508000" cy="508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2578100"/>
            <a:ext cx="508000" cy="347980"/>
          </a:xfrm>
          <a:prstGeom prst="rect">
            <a:avLst/>
          </a:prstGeom>
          <a:noFill/>
        </p:spPr>
        <p:txBody>
          <a:bodyPr wrap="none" lIns="0" rIns="0" tIns="0" bIns="0" anchor="t">
            <a:spAutoFit/>
          </a:bodyPr>
          <a:lstStyle/>
          <a:p>
            <a:pPr algn="ctr">
              <a:lnSpc>
                <a:spcPts val="2440"/>
              </a:lnSpc>
              <a:spcBef>
                <a:spcPts val="0"/>
              </a:spcBef>
              <a:spcAft>
                <a:spcPts val="0"/>
              </a:spcAft>
              <a:defRPr sz="2000" b="1">
                <a:solidFill>
                  <a:srgbClr val="1F5EFF"/>
                </a:solidFill>
                <a:latin typeface="Arial"/>
              </a:defRPr>
            </a:pPr>
            <a:r>
              <a:t>3</a:t>
            </a:r>
          </a:p>
        </p:txBody>
      </p:sp>
      <p:sp>
        <p:nvSpPr>
          <p:cNvPr id="19" name="TextBox 18"/>
          <p:cNvSpPr txBox="1"/>
          <p:nvPr/>
        </p:nvSpPr>
        <p:spPr>
          <a:xfrm>
            <a:off x="5232400" y="3327400"/>
            <a:ext cx="16764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Fabiana</a:t>
            </a:r>
          </a:p>
        </p:txBody>
      </p:sp>
      <p:sp>
        <p:nvSpPr>
          <p:cNvPr id="20" name="TextBox 19"/>
          <p:cNvSpPr txBox="1"/>
          <p:nvPr/>
        </p:nvSpPr>
        <p:spPr>
          <a:xfrm>
            <a:off x="5232400" y="37338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Backend</a:t>
            </a:r>
          </a:p>
        </p:txBody>
      </p:sp>
      <p:sp>
        <p:nvSpPr>
          <p:cNvPr id="21" name="TextBox 20"/>
          <p:cNvSpPr txBox="1"/>
          <p:nvPr/>
        </p:nvSpPr>
        <p:spPr>
          <a:xfrm>
            <a:off x="5232400" y="45466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1F5EFF"/>
                </a:solidFill>
                <a:latin typeface="Arial"/>
              </a:defRPr>
            </a:pPr>
            <a:r>
              <a:t>08:00–12:00</a:t>
            </a:r>
          </a:p>
        </p:txBody>
      </p:sp>
      <p:sp>
        <p:nvSpPr>
          <p:cNvPr id="22" name="Rounded Rectangle 21"/>
          <p:cNvSpPr/>
          <p:nvPr/>
        </p:nvSpPr>
        <p:spPr>
          <a:xfrm>
            <a:off x="7289800" y="2222500"/>
            <a:ext cx="20828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18400" y="2476500"/>
            <a:ext cx="508000" cy="508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8400" y="2578100"/>
            <a:ext cx="508000" cy="347980"/>
          </a:xfrm>
          <a:prstGeom prst="rect">
            <a:avLst/>
          </a:prstGeom>
          <a:noFill/>
        </p:spPr>
        <p:txBody>
          <a:bodyPr wrap="none" lIns="0" rIns="0" tIns="0" bIns="0" anchor="t">
            <a:spAutoFit/>
          </a:bodyPr>
          <a:lstStyle/>
          <a:p>
            <a:pPr algn="ctr">
              <a:lnSpc>
                <a:spcPts val="2440"/>
              </a:lnSpc>
              <a:spcBef>
                <a:spcPts val="0"/>
              </a:spcBef>
              <a:spcAft>
                <a:spcPts val="0"/>
              </a:spcAft>
              <a:defRPr sz="2000" b="1">
                <a:solidFill>
                  <a:srgbClr val="1F5EFF"/>
                </a:solidFill>
                <a:latin typeface="Arial"/>
              </a:defRPr>
            </a:pPr>
            <a:r>
              <a:t>4</a:t>
            </a:r>
          </a:p>
        </p:txBody>
      </p:sp>
      <p:sp>
        <p:nvSpPr>
          <p:cNvPr id="25" name="TextBox 24"/>
          <p:cNvSpPr txBox="1"/>
          <p:nvPr/>
        </p:nvSpPr>
        <p:spPr>
          <a:xfrm>
            <a:off x="7493000" y="3327400"/>
            <a:ext cx="16764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Brian</a:t>
            </a:r>
          </a:p>
        </p:txBody>
      </p:sp>
      <p:sp>
        <p:nvSpPr>
          <p:cNvPr id="26" name="TextBox 25"/>
          <p:cNvSpPr txBox="1"/>
          <p:nvPr/>
        </p:nvSpPr>
        <p:spPr>
          <a:xfrm>
            <a:off x="7493000" y="37338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Frontend</a:t>
            </a:r>
          </a:p>
        </p:txBody>
      </p:sp>
      <p:sp>
        <p:nvSpPr>
          <p:cNvPr id="27" name="TextBox 26"/>
          <p:cNvSpPr txBox="1"/>
          <p:nvPr/>
        </p:nvSpPr>
        <p:spPr>
          <a:xfrm>
            <a:off x="7493000" y="45466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1F5EFF"/>
                </a:solidFill>
                <a:latin typeface="Arial"/>
              </a:defRPr>
            </a:pPr>
            <a:r>
              <a:t>12:00–16:00</a:t>
            </a:r>
          </a:p>
        </p:txBody>
      </p:sp>
      <p:sp>
        <p:nvSpPr>
          <p:cNvPr id="28" name="Rounded Rectangle 27"/>
          <p:cNvSpPr/>
          <p:nvPr/>
        </p:nvSpPr>
        <p:spPr>
          <a:xfrm>
            <a:off x="9550400" y="2222500"/>
            <a:ext cx="2082800" cy="2921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79000" y="2476500"/>
            <a:ext cx="508000" cy="508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79000" y="2578100"/>
            <a:ext cx="508000" cy="347980"/>
          </a:xfrm>
          <a:prstGeom prst="rect">
            <a:avLst/>
          </a:prstGeom>
          <a:noFill/>
        </p:spPr>
        <p:txBody>
          <a:bodyPr wrap="none" lIns="0" rIns="0" tIns="0" bIns="0" anchor="t">
            <a:spAutoFit/>
          </a:bodyPr>
          <a:lstStyle/>
          <a:p>
            <a:pPr algn="ctr">
              <a:lnSpc>
                <a:spcPts val="2440"/>
              </a:lnSpc>
              <a:spcBef>
                <a:spcPts val="0"/>
              </a:spcBef>
              <a:spcAft>
                <a:spcPts val="0"/>
              </a:spcAft>
              <a:defRPr sz="2000" b="1">
                <a:solidFill>
                  <a:srgbClr val="1F5EFF"/>
                </a:solidFill>
                <a:latin typeface="Arial"/>
              </a:defRPr>
            </a:pPr>
            <a:r>
              <a:t>5</a:t>
            </a:r>
          </a:p>
        </p:txBody>
      </p:sp>
      <p:sp>
        <p:nvSpPr>
          <p:cNvPr id="31" name="TextBox 30"/>
          <p:cNvSpPr txBox="1"/>
          <p:nvPr/>
        </p:nvSpPr>
        <p:spPr>
          <a:xfrm>
            <a:off x="9753600" y="3327400"/>
            <a:ext cx="16764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David</a:t>
            </a:r>
          </a:p>
        </p:txBody>
      </p:sp>
      <p:sp>
        <p:nvSpPr>
          <p:cNvPr id="32" name="TextBox 31"/>
          <p:cNvSpPr txBox="1"/>
          <p:nvPr/>
        </p:nvSpPr>
        <p:spPr>
          <a:xfrm>
            <a:off x="9753600" y="37338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DevOps</a:t>
            </a:r>
          </a:p>
        </p:txBody>
      </p:sp>
      <p:sp>
        <p:nvSpPr>
          <p:cNvPr id="33" name="TextBox 32"/>
          <p:cNvSpPr txBox="1"/>
          <p:nvPr/>
        </p:nvSpPr>
        <p:spPr>
          <a:xfrm>
            <a:off x="9753600" y="4546600"/>
            <a:ext cx="16764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1F5EFF"/>
                </a:solidFill>
                <a:latin typeface="Arial"/>
              </a:defRPr>
            </a:pPr>
            <a:r>
              <a:t>16:00–20:00</a:t>
            </a:r>
          </a:p>
        </p:txBody>
      </p:sp>
      <p:sp>
        <p:nvSpPr>
          <p:cNvPr id="34" name="TextBox 33"/>
          <p:cNvSpPr txBox="1"/>
          <p:nvPr/>
        </p:nvSpPr>
        <p:spPr>
          <a:xfrm>
            <a:off x="508000" y="5626100"/>
            <a:ext cx="11176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La participación y las preguntas se distribuyen entre todo el equipo.</a:t>
            </a:r>
          </a:p>
        </p:txBody>
      </p:sp>
      <p:cxnSp>
        <p:nvCxnSpPr>
          <p:cNvPr id="35" name="Connector 34"/>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7" name="TextBox 36"/>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Juan Carlos · Scrum Master | 04:00–04:40</a:t>
            </a:r>
          </a:p>
        </p:txBody>
      </p:sp>
      <p:sp>
        <p:nvSpPr>
          <p:cNvPr id="38" name="TextBox 37"/>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05 / 20</a:t>
            </a:r>
          </a:p>
        </p:txBody>
      </p:sp>
      <p:sp>
        <p:nvSpPr>
          <p:cNvPr id="39" name="Rectangle 38"/>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384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05 · HISTORIAS DE USUARIO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De una necesidad a una historia verificable</a:t>
            </a:r>
          </a:p>
        </p:txBody>
      </p:sp>
      <p:sp>
        <p:nvSpPr>
          <p:cNvPr id="4" name="Rounded Rectangle 3"/>
          <p:cNvSpPr/>
          <p:nvPr/>
        </p:nvSpPr>
        <p:spPr>
          <a:xfrm>
            <a:off x="508000" y="1968500"/>
            <a:ext cx="5588000" cy="37719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86000"/>
            <a:ext cx="49530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C9D8FF"/>
                </a:solidFill>
                <a:latin typeface="Arial"/>
              </a:defRPr>
            </a:pPr>
            <a:r>
              <a:t>HISTORIA DE USUARIO</a:t>
            </a:r>
          </a:p>
        </p:txBody>
      </p:sp>
      <p:sp>
        <p:nvSpPr>
          <p:cNvPr id="6" name="TextBox 5"/>
          <p:cNvSpPr txBox="1"/>
          <p:nvPr/>
        </p:nvSpPr>
        <p:spPr>
          <a:xfrm>
            <a:off x="812800" y="2819400"/>
            <a:ext cx="4953000" cy="1293114"/>
          </a:xfrm>
          <a:prstGeom prst="rect">
            <a:avLst/>
          </a:prstGeom>
          <a:noFill/>
        </p:spPr>
        <p:txBody>
          <a:bodyPr wrap="none" lIns="0" rIns="0" tIns="0" bIns="0" anchor="t">
            <a:spAutoFit/>
          </a:bodyPr>
          <a:lstStyle/>
          <a:p>
            <a:pPr algn="l">
              <a:lnSpc>
                <a:spcPts val="3294"/>
              </a:lnSpc>
              <a:spcBef>
                <a:spcPts val="0"/>
              </a:spcBef>
              <a:spcAft>
                <a:spcPts val="0"/>
              </a:spcAft>
              <a:defRPr sz="2700" b="1">
                <a:solidFill>
                  <a:srgbClr val="FFFFFF"/>
                </a:solidFill>
                <a:latin typeface="Arial"/>
              </a:defRPr>
            </a:pPr>
            <a:r>
              <a:t>«Como cliente, quiero</a:t>
            </a:r>
          </a:p>
          <a:p>
            <a:pPr algn="l">
              <a:lnSpc>
                <a:spcPts val="3294"/>
              </a:lnSpc>
              <a:spcBef>
                <a:spcPts val="0"/>
              </a:spcBef>
              <a:spcAft>
                <a:spcPts val="0"/>
              </a:spcAft>
              <a:defRPr sz="2700" b="1">
                <a:solidFill>
                  <a:srgbClr val="FFFFFF"/>
                </a:solidFill>
                <a:latin typeface="Arial"/>
              </a:defRPr>
            </a:pPr>
            <a:r>
              <a:t>reservar una clase para</a:t>
            </a:r>
          </a:p>
          <a:p>
            <a:pPr algn="l">
              <a:lnSpc>
                <a:spcPts val="3294"/>
              </a:lnSpc>
              <a:spcBef>
                <a:spcPts val="0"/>
              </a:spcBef>
              <a:spcAft>
                <a:spcPts val="0"/>
              </a:spcAft>
              <a:defRPr sz="2700" b="1">
                <a:solidFill>
                  <a:srgbClr val="FFFFFF"/>
                </a:solidFill>
                <a:latin typeface="Arial"/>
              </a:defRPr>
            </a:pPr>
            <a:r>
              <a:t>asegurar mi plaza».</a:t>
            </a:r>
          </a:p>
        </p:txBody>
      </p:sp>
      <p:sp>
        <p:nvSpPr>
          <p:cNvPr id="7" name="TextBox 6"/>
          <p:cNvSpPr txBox="1"/>
          <p:nvPr/>
        </p:nvSpPr>
        <p:spPr>
          <a:xfrm>
            <a:off x="812800" y="5105400"/>
            <a:ext cx="4953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DCE7FF"/>
                </a:solidFill>
                <a:latin typeface="Arial"/>
              </a:defRPr>
            </a:pPr>
            <a:r>
              <a:t>Negocio → regla observable → tarea</a:t>
            </a:r>
          </a:p>
        </p:txBody>
      </p:sp>
      <p:sp>
        <p:nvSpPr>
          <p:cNvPr id="8" name="Oval 7"/>
          <p:cNvSpPr/>
          <p:nvPr/>
        </p:nvSpPr>
        <p:spPr>
          <a:xfrm>
            <a:off x="6578600" y="2095500"/>
            <a:ext cx="381000" cy="381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8600" y="2159000"/>
            <a:ext cx="381000" cy="270510"/>
          </a:xfrm>
          <a:prstGeom prst="rect">
            <a:avLst/>
          </a:prstGeom>
          <a:noFill/>
        </p:spPr>
        <p:txBody>
          <a:bodyPr wrap="none" lIns="0" rIns="0" tIns="0" bIns="0" anchor="t">
            <a:spAutoFit/>
          </a:bodyPr>
          <a:lstStyle/>
          <a:p>
            <a:pPr algn="ctr">
              <a:lnSpc>
                <a:spcPts val="1830"/>
              </a:lnSpc>
              <a:spcBef>
                <a:spcPts val="0"/>
              </a:spcBef>
              <a:spcAft>
                <a:spcPts val="0"/>
              </a:spcAft>
              <a:defRPr sz="1500" b="1">
                <a:solidFill>
                  <a:srgbClr val="1F5EFF"/>
                </a:solidFill>
                <a:latin typeface="Arial"/>
              </a:defRPr>
            </a:pPr>
            <a:r>
              <a:t>1</a:t>
            </a:r>
          </a:p>
        </p:txBody>
      </p:sp>
      <p:sp>
        <p:nvSpPr>
          <p:cNvPr id="10" name="TextBox 9"/>
          <p:cNvSpPr txBox="1"/>
          <p:nvPr/>
        </p:nvSpPr>
        <p:spPr>
          <a:xfrm>
            <a:off x="7200900" y="2070100"/>
            <a:ext cx="4191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Acceso</a:t>
            </a:r>
          </a:p>
        </p:txBody>
      </p:sp>
      <p:sp>
        <p:nvSpPr>
          <p:cNvPr id="11" name="TextBox 10"/>
          <p:cNvSpPr txBox="1"/>
          <p:nvPr/>
        </p:nvSpPr>
        <p:spPr>
          <a:xfrm>
            <a:off x="7200900" y="2451100"/>
            <a:ext cx="4191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Cuenta activa y autenticada.</a:t>
            </a:r>
          </a:p>
        </p:txBody>
      </p:sp>
      <p:sp>
        <p:nvSpPr>
          <p:cNvPr id="12" name="Oval 11"/>
          <p:cNvSpPr/>
          <p:nvPr/>
        </p:nvSpPr>
        <p:spPr>
          <a:xfrm>
            <a:off x="6578600" y="3327400"/>
            <a:ext cx="381000" cy="381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78600" y="3390900"/>
            <a:ext cx="381000" cy="270510"/>
          </a:xfrm>
          <a:prstGeom prst="rect">
            <a:avLst/>
          </a:prstGeom>
          <a:noFill/>
        </p:spPr>
        <p:txBody>
          <a:bodyPr wrap="none" lIns="0" rIns="0" tIns="0" bIns="0" anchor="t">
            <a:spAutoFit/>
          </a:bodyPr>
          <a:lstStyle/>
          <a:p>
            <a:pPr algn="ctr">
              <a:lnSpc>
                <a:spcPts val="1830"/>
              </a:lnSpc>
              <a:spcBef>
                <a:spcPts val="0"/>
              </a:spcBef>
              <a:spcAft>
                <a:spcPts val="0"/>
              </a:spcAft>
              <a:defRPr sz="1500" b="1">
                <a:solidFill>
                  <a:srgbClr val="1F5EFF"/>
                </a:solidFill>
                <a:latin typeface="Arial"/>
              </a:defRPr>
            </a:pPr>
            <a:r>
              <a:t>2</a:t>
            </a:r>
          </a:p>
        </p:txBody>
      </p:sp>
      <p:sp>
        <p:nvSpPr>
          <p:cNvPr id="14" name="TextBox 13"/>
          <p:cNvSpPr txBox="1"/>
          <p:nvPr/>
        </p:nvSpPr>
        <p:spPr>
          <a:xfrm>
            <a:off x="7200900" y="3302000"/>
            <a:ext cx="4191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Admisión</a:t>
            </a:r>
          </a:p>
        </p:txBody>
      </p:sp>
      <p:sp>
        <p:nvSpPr>
          <p:cNvPr id="15" name="TextBox 14"/>
          <p:cNvSpPr txBox="1"/>
          <p:nvPr/>
        </p:nvSpPr>
        <p:spPr>
          <a:xfrm>
            <a:off x="7200900" y="3683000"/>
            <a:ext cx="4191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Cliente activo, pago y plaza libre.</a:t>
            </a:r>
          </a:p>
        </p:txBody>
      </p:sp>
      <p:sp>
        <p:nvSpPr>
          <p:cNvPr id="16" name="Oval 15"/>
          <p:cNvSpPr/>
          <p:nvPr/>
        </p:nvSpPr>
        <p:spPr>
          <a:xfrm>
            <a:off x="6578600" y="4559300"/>
            <a:ext cx="381000" cy="381000"/>
          </a:xfrm>
          <a:prstGeom prst="ellipse">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8600" y="4622800"/>
            <a:ext cx="381000" cy="270510"/>
          </a:xfrm>
          <a:prstGeom prst="rect">
            <a:avLst/>
          </a:prstGeom>
          <a:noFill/>
        </p:spPr>
        <p:txBody>
          <a:bodyPr wrap="none" lIns="0" rIns="0" tIns="0" bIns="0" anchor="t">
            <a:spAutoFit/>
          </a:bodyPr>
          <a:lstStyle/>
          <a:p>
            <a:pPr algn="ctr">
              <a:lnSpc>
                <a:spcPts val="1830"/>
              </a:lnSpc>
              <a:spcBef>
                <a:spcPts val="0"/>
              </a:spcBef>
              <a:spcAft>
                <a:spcPts val="0"/>
              </a:spcAft>
              <a:defRPr sz="1500" b="1">
                <a:solidFill>
                  <a:srgbClr val="1F5EFF"/>
                </a:solidFill>
                <a:latin typeface="Arial"/>
              </a:defRPr>
            </a:pPr>
            <a:r>
              <a:t>3</a:t>
            </a:r>
          </a:p>
        </p:txBody>
      </p:sp>
      <p:sp>
        <p:nvSpPr>
          <p:cNvPr id="18" name="TextBox 17"/>
          <p:cNvSpPr txBox="1"/>
          <p:nvPr/>
        </p:nvSpPr>
        <p:spPr>
          <a:xfrm>
            <a:off x="7200900" y="4533900"/>
            <a:ext cx="4191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Resultado</a:t>
            </a:r>
          </a:p>
        </p:txBody>
      </p:sp>
      <p:sp>
        <p:nvSpPr>
          <p:cNvPr id="19" name="TextBox 18"/>
          <p:cNvSpPr txBox="1"/>
          <p:nvPr/>
        </p:nvSpPr>
        <p:spPr>
          <a:xfrm>
            <a:off x="7200900" y="4914900"/>
            <a:ext cx="4191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Reserva propia, sin duplicados.</a:t>
            </a:r>
          </a:p>
        </p:txBody>
      </p:sp>
      <p:cxnSp>
        <p:nvCxnSpPr>
          <p:cNvPr id="20" name="Connector 19"/>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2" name="TextBox 21"/>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Juan Carlos · Scrum Master | 04:40–05:40</a:t>
            </a:r>
          </a:p>
        </p:txBody>
      </p:sp>
      <p:sp>
        <p:nvSpPr>
          <p:cNvPr id="23" name="TextBox 22"/>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06 / 20</a:t>
            </a:r>
          </a:p>
        </p:txBody>
      </p:sp>
      <p:sp>
        <p:nvSpPr>
          <p:cNvPr id="24" name="Rectangle 23"/>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384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06 · COORDINACIÓN Y TABLERO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Priorizar y desbloquear antes de desarrollar</a:t>
            </a:r>
          </a:p>
        </p:txBody>
      </p:sp>
      <p:sp>
        <p:nvSpPr>
          <p:cNvPr id="4" name="Rounded Rectangle 3"/>
          <p:cNvSpPr/>
          <p:nvPr/>
        </p:nvSpPr>
        <p:spPr>
          <a:xfrm>
            <a:off x="508000" y="2006600"/>
            <a:ext cx="2057400" cy="787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5000" y="2286000"/>
            <a:ext cx="1803400" cy="286004"/>
          </a:xfrm>
          <a:prstGeom prst="rect">
            <a:avLst/>
          </a:prstGeom>
          <a:noFill/>
        </p:spPr>
        <p:txBody>
          <a:bodyPr wrap="none" lIns="0" rIns="0" tIns="0" bIns="0" anchor="t">
            <a:spAutoFit/>
          </a:bodyPr>
          <a:lstStyle/>
          <a:p>
            <a:pPr algn="ctr">
              <a:lnSpc>
                <a:spcPts val="1952"/>
              </a:lnSpc>
              <a:spcBef>
                <a:spcPts val="0"/>
              </a:spcBef>
              <a:spcAft>
                <a:spcPts val="0"/>
              </a:spcAft>
              <a:defRPr sz="1600" b="1">
                <a:solidFill>
                  <a:srgbClr val="0F172A"/>
                </a:solidFill>
                <a:latin typeface="Arial"/>
              </a:defRPr>
            </a:pPr>
            <a:r>
              <a:t>Backlog</a:t>
            </a:r>
          </a:p>
        </p:txBody>
      </p:sp>
      <p:cxnSp>
        <p:nvCxnSpPr>
          <p:cNvPr id="6" name="Connector 5"/>
          <p:cNvCxnSpPr/>
          <p:nvPr/>
        </p:nvCxnSpPr>
        <p:spPr>
          <a:xfrm>
            <a:off x="2590800" y="2400300"/>
            <a:ext cx="139700" cy="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768600" y="2006600"/>
            <a:ext cx="2057400" cy="787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5600" y="2286000"/>
            <a:ext cx="1803400" cy="286004"/>
          </a:xfrm>
          <a:prstGeom prst="rect">
            <a:avLst/>
          </a:prstGeom>
          <a:noFill/>
        </p:spPr>
        <p:txBody>
          <a:bodyPr wrap="none" lIns="0" rIns="0" tIns="0" bIns="0" anchor="t">
            <a:spAutoFit/>
          </a:bodyPr>
          <a:lstStyle/>
          <a:p>
            <a:pPr algn="ctr">
              <a:lnSpc>
                <a:spcPts val="1952"/>
              </a:lnSpc>
              <a:spcBef>
                <a:spcPts val="0"/>
              </a:spcBef>
              <a:spcAft>
                <a:spcPts val="0"/>
              </a:spcAft>
              <a:defRPr sz="1600" b="1">
                <a:solidFill>
                  <a:srgbClr val="0F172A"/>
                </a:solidFill>
                <a:latin typeface="Arial"/>
              </a:defRPr>
            </a:pPr>
            <a:r>
              <a:t>Ready</a:t>
            </a:r>
          </a:p>
        </p:txBody>
      </p:sp>
      <p:cxnSp>
        <p:nvCxnSpPr>
          <p:cNvPr id="9" name="Connector 8"/>
          <p:cNvCxnSpPr/>
          <p:nvPr/>
        </p:nvCxnSpPr>
        <p:spPr>
          <a:xfrm>
            <a:off x="4851400" y="2400300"/>
            <a:ext cx="139700" cy="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9200" y="2006600"/>
            <a:ext cx="2057400" cy="787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56200" y="2286000"/>
            <a:ext cx="1803400" cy="286004"/>
          </a:xfrm>
          <a:prstGeom prst="rect">
            <a:avLst/>
          </a:prstGeom>
          <a:noFill/>
        </p:spPr>
        <p:txBody>
          <a:bodyPr wrap="none" lIns="0" rIns="0" tIns="0" bIns="0" anchor="t">
            <a:spAutoFit/>
          </a:bodyPr>
          <a:lstStyle/>
          <a:p>
            <a:pPr algn="ctr">
              <a:lnSpc>
                <a:spcPts val="1952"/>
              </a:lnSpc>
              <a:spcBef>
                <a:spcPts val="0"/>
              </a:spcBef>
              <a:spcAft>
                <a:spcPts val="0"/>
              </a:spcAft>
              <a:defRPr sz="1600" b="1">
                <a:solidFill>
                  <a:srgbClr val="0F172A"/>
                </a:solidFill>
                <a:latin typeface="Arial"/>
              </a:defRPr>
            </a:pPr>
            <a:r>
              <a:t>In progress</a:t>
            </a:r>
          </a:p>
        </p:txBody>
      </p:sp>
      <p:cxnSp>
        <p:nvCxnSpPr>
          <p:cNvPr id="12" name="Connector 11"/>
          <p:cNvCxnSpPr/>
          <p:nvPr/>
        </p:nvCxnSpPr>
        <p:spPr>
          <a:xfrm>
            <a:off x="7112000" y="2400300"/>
            <a:ext cx="139700" cy="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289800" y="2006600"/>
            <a:ext cx="2057400" cy="787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6800" y="2286000"/>
            <a:ext cx="1803400" cy="286004"/>
          </a:xfrm>
          <a:prstGeom prst="rect">
            <a:avLst/>
          </a:prstGeom>
          <a:noFill/>
        </p:spPr>
        <p:txBody>
          <a:bodyPr wrap="none" lIns="0" rIns="0" tIns="0" bIns="0" anchor="t">
            <a:spAutoFit/>
          </a:bodyPr>
          <a:lstStyle/>
          <a:p>
            <a:pPr algn="ctr">
              <a:lnSpc>
                <a:spcPts val="1952"/>
              </a:lnSpc>
              <a:spcBef>
                <a:spcPts val="0"/>
              </a:spcBef>
              <a:spcAft>
                <a:spcPts val="0"/>
              </a:spcAft>
              <a:defRPr sz="1600" b="1">
                <a:solidFill>
                  <a:srgbClr val="0F172A"/>
                </a:solidFill>
                <a:latin typeface="Arial"/>
              </a:defRPr>
            </a:pPr>
            <a:r>
              <a:t>In review</a:t>
            </a:r>
          </a:p>
        </p:txBody>
      </p:sp>
      <p:cxnSp>
        <p:nvCxnSpPr>
          <p:cNvPr id="15" name="Connector 14"/>
          <p:cNvCxnSpPr/>
          <p:nvPr/>
        </p:nvCxnSpPr>
        <p:spPr>
          <a:xfrm>
            <a:off x="9372600" y="2400300"/>
            <a:ext cx="139700" cy="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550400" y="2006600"/>
            <a:ext cx="2057400" cy="787400"/>
          </a:xfrm>
          <a:prstGeom prst="roundRect">
            <a:avLst>
              <a:gd name="adj" fmla="val 10000"/>
            </a:avLst>
          </a:prstGeom>
          <a:solidFill>
            <a:srgbClr val="1F5E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77400" y="2286000"/>
            <a:ext cx="1803400" cy="286004"/>
          </a:xfrm>
          <a:prstGeom prst="rect">
            <a:avLst/>
          </a:prstGeom>
          <a:noFill/>
        </p:spPr>
        <p:txBody>
          <a:bodyPr wrap="none" lIns="0" rIns="0" tIns="0" bIns="0" anchor="t">
            <a:spAutoFit/>
          </a:bodyPr>
          <a:lstStyle/>
          <a:p>
            <a:pPr algn="ctr">
              <a:lnSpc>
                <a:spcPts val="1952"/>
              </a:lnSpc>
              <a:spcBef>
                <a:spcPts val="0"/>
              </a:spcBef>
              <a:spcAft>
                <a:spcPts val="0"/>
              </a:spcAft>
              <a:defRPr sz="1600" b="1">
                <a:solidFill>
                  <a:srgbClr val="FFFFFF"/>
                </a:solidFill>
                <a:latin typeface="Arial"/>
              </a:defRPr>
            </a:pPr>
            <a:r>
              <a:t>Done</a:t>
            </a:r>
          </a:p>
        </p:txBody>
      </p:sp>
      <p:sp>
        <p:nvSpPr>
          <p:cNvPr id="18" name="TextBox 17"/>
          <p:cNvSpPr txBox="1"/>
          <p:nvPr/>
        </p:nvSpPr>
        <p:spPr>
          <a:xfrm>
            <a:off x="508000" y="3340100"/>
            <a:ext cx="54610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1F5EFF"/>
                </a:solidFill>
                <a:latin typeface="Arial"/>
              </a:defRPr>
            </a:pPr>
            <a:r>
              <a:t>DEPENDENCIAS REALES</a:t>
            </a:r>
          </a:p>
        </p:txBody>
      </p:sp>
      <p:sp>
        <p:nvSpPr>
          <p:cNvPr id="19" name="Rounded Rectangle 18"/>
          <p:cNvSpPr/>
          <p:nvPr/>
        </p:nvSpPr>
        <p:spPr>
          <a:xfrm>
            <a:off x="508000" y="3721100"/>
            <a:ext cx="3048000" cy="1168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873500"/>
            <a:ext cx="2743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#105 · Autenticación</a:t>
            </a:r>
          </a:p>
        </p:txBody>
      </p:sp>
      <p:sp>
        <p:nvSpPr>
          <p:cNvPr id="21" name="TextBox 20"/>
          <p:cNvSpPr txBox="1"/>
          <p:nvPr/>
        </p:nvSpPr>
        <p:spPr>
          <a:xfrm>
            <a:off x="660400" y="4203700"/>
            <a:ext cx="27432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Proteger recursos con JWT</a:t>
            </a:r>
          </a:p>
        </p:txBody>
      </p:sp>
      <p:cxnSp>
        <p:nvCxnSpPr>
          <p:cNvPr id="22" name="Connector 21"/>
          <p:cNvCxnSpPr/>
          <p:nvPr/>
        </p:nvCxnSpPr>
        <p:spPr>
          <a:xfrm>
            <a:off x="3708400" y="4292600"/>
            <a:ext cx="787400" cy="0"/>
          </a:xfrm>
          <a:prstGeom prst="line">
            <a:avLst/>
          </a:prstGeom>
          <a:ln w="2540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60900" y="3721100"/>
            <a:ext cx="3365500" cy="11684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3300" y="3873500"/>
            <a:ext cx="3060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#106 · Autorización</a:t>
            </a:r>
          </a:p>
        </p:txBody>
      </p:sp>
      <p:sp>
        <p:nvSpPr>
          <p:cNvPr id="25" name="TextBox 24"/>
          <p:cNvSpPr txBox="1"/>
          <p:nvPr/>
        </p:nvSpPr>
        <p:spPr>
          <a:xfrm>
            <a:off x="4813300" y="4203700"/>
            <a:ext cx="3060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Limitar por rol y propietario</a:t>
            </a:r>
          </a:p>
        </p:txBody>
      </p:sp>
      <p:sp>
        <p:nvSpPr>
          <p:cNvPr id="26" name="TextBox 25"/>
          <p:cNvSpPr txBox="1"/>
          <p:nvPr/>
        </p:nvSpPr>
        <p:spPr>
          <a:xfrm>
            <a:off x="8648700" y="3632200"/>
            <a:ext cx="2984500" cy="921257"/>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Responsable claro</a:t>
            </a:r>
          </a:p>
          <a:p>
            <a:pPr algn="l">
              <a:lnSpc>
                <a:spcPts val="2318"/>
              </a:lnSpc>
              <a:spcBef>
                <a:spcPts val="0"/>
              </a:spcBef>
              <a:spcAft>
                <a:spcPts val="0"/>
              </a:spcAft>
              <a:defRPr sz="1900" b="1">
                <a:solidFill>
                  <a:srgbClr val="0F172A"/>
                </a:solidFill>
                <a:latin typeface="Arial"/>
              </a:defRPr>
            </a:pPr>
            <a:r>
              <a:t>Prioridad visible</a:t>
            </a:r>
          </a:p>
          <a:p>
            <a:pPr algn="l">
              <a:lnSpc>
                <a:spcPts val="2318"/>
              </a:lnSpc>
              <a:spcBef>
                <a:spcPts val="0"/>
              </a:spcBef>
              <a:spcAft>
                <a:spcPts val="0"/>
              </a:spcAft>
              <a:defRPr sz="1900" b="1">
                <a:solidFill>
                  <a:srgbClr val="0F172A"/>
                </a:solidFill>
                <a:latin typeface="Arial"/>
              </a:defRPr>
            </a:pPr>
            <a:r>
              <a:t>Bloqueos explícitos</a:t>
            </a:r>
          </a:p>
        </p:txBody>
      </p:sp>
      <p:sp>
        <p:nvSpPr>
          <p:cNvPr id="27" name="Rounded Rectangle 26"/>
          <p:cNvSpPr/>
          <p:nvPr/>
        </p:nvSpPr>
        <p:spPr>
          <a:xfrm>
            <a:off x="508000" y="5448300"/>
            <a:ext cx="3302000" cy="444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5549900"/>
            <a:ext cx="2997200" cy="255015"/>
          </a:xfrm>
          <a:prstGeom prst="rect">
            <a:avLst/>
          </a:prstGeom>
          <a:noFill/>
        </p:spPr>
        <p:txBody>
          <a:bodyPr wrap="none" lIns="0" rIns="0" tIns="0" bIns="0" anchor="t">
            <a:spAutoFit/>
          </a:bodyPr>
          <a:lstStyle/>
          <a:p>
            <a:pPr algn="l">
              <a:lnSpc>
                <a:spcPts val="1707"/>
              </a:lnSpc>
              <a:spcBef>
                <a:spcPts val="0"/>
              </a:spcBef>
              <a:spcAft>
                <a:spcPts val="0"/>
              </a:spcAft>
              <a:defRPr sz="1400" b="1">
                <a:solidFill>
                  <a:srgbClr val="FFFFFF"/>
                </a:solidFill>
                <a:latin typeface="Arial"/>
              </a:defRPr>
            </a:pPr>
            <a:r>
              <a:rPr>
                <a:hlinkClick r:id="rId2"/>
              </a:rPr>
              <a:t>Abrir tablero del equipo</a:t>
            </a:r>
          </a:p>
        </p:txBody>
      </p:sp>
      <p:sp>
        <p:nvSpPr>
          <p:cNvPr id="29" name="TextBox 28"/>
          <p:cNvSpPr txBox="1"/>
          <p:nvPr/>
        </p:nvSpPr>
        <p:spPr>
          <a:xfrm>
            <a:off x="4165600" y="5549900"/>
            <a:ext cx="74295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Milestones por nivel de entrega; historias divididas en tareas.</a:t>
            </a:r>
          </a:p>
        </p:txBody>
      </p:sp>
      <p:cxnSp>
        <p:nvCxnSpPr>
          <p:cNvPr id="30" name="Connector 29"/>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2" name="TextBox 31"/>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Juan Carlos · Scrum Master | 05:40–06:50</a:t>
            </a:r>
          </a:p>
        </p:txBody>
      </p:sp>
      <p:sp>
        <p:nvSpPr>
          <p:cNvPr id="33" name="TextBox 32"/>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07 / 20</a:t>
            </a:r>
          </a:p>
        </p:txBody>
      </p:sp>
      <p:sp>
        <p:nvSpPr>
          <p:cNvPr id="34" name="Rectangle 33"/>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4384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07 · CRITERIOS DE ENTREGA</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Una tarea termina cuando se puede comprobar</a:t>
            </a:r>
          </a:p>
        </p:txBody>
      </p:sp>
      <p:sp>
        <p:nvSpPr>
          <p:cNvPr id="4" name="TextBox 3"/>
          <p:cNvSpPr txBox="1"/>
          <p:nvPr/>
        </p:nvSpPr>
        <p:spPr>
          <a:xfrm>
            <a:off x="508000" y="1930400"/>
            <a:ext cx="571500" cy="425450"/>
          </a:xfrm>
          <a:prstGeom prst="rect">
            <a:avLst/>
          </a:prstGeom>
          <a:noFill/>
        </p:spPr>
        <p:txBody>
          <a:bodyPr wrap="none" lIns="0" rIns="0" tIns="0" bIns="0" anchor="t">
            <a:spAutoFit/>
          </a:bodyPr>
          <a:lstStyle/>
          <a:p>
            <a:pPr algn="l">
              <a:lnSpc>
                <a:spcPts val="3050"/>
              </a:lnSpc>
              <a:spcBef>
                <a:spcPts val="0"/>
              </a:spcBef>
              <a:spcAft>
                <a:spcPts val="0"/>
              </a:spcAft>
              <a:defRPr sz="2500" b="1">
                <a:solidFill>
                  <a:srgbClr val="1F5EFF"/>
                </a:solidFill>
                <a:latin typeface="Arial"/>
              </a:defRPr>
            </a:pPr>
            <a:r>
              <a:t>01</a:t>
            </a:r>
          </a:p>
        </p:txBody>
      </p:sp>
      <p:sp>
        <p:nvSpPr>
          <p:cNvPr id="5" name="TextBox 4"/>
          <p:cNvSpPr txBox="1"/>
          <p:nvPr/>
        </p:nvSpPr>
        <p:spPr>
          <a:xfrm>
            <a:off x="1282700" y="1943100"/>
            <a:ext cx="4445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Especificación</a:t>
            </a:r>
          </a:p>
        </p:txBody>
      </p:sp>
      <p:sp>
        <p:nvSpPr>
          <p:cNvPr id="6" name="TextBox 5"/>
          <p:cNvSpPr txBox="1"/>
          <p:nvPr/>
        </p:nvSpPr>
        <p:spPr>
          <a:xfrm>
            <a:off x="1282700" y="2298700"/>
            <a:ext cx="5715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Requisitos y escenarios antes del código.</a:t>
            </a:r>
          </a:p>
        </p:txBody>
      </p:sp>
      <p:sp>
        <p:nvSpPr>
          <p:cNvPr id="7" name="TextBox 6"/>
          <p:cNvSpPr txBox="1"/>
          <p:nvPr/>
        </p:nvSpPr>
        <p:spPr>
          <a:xfrm>
            <a:off x="508000" y="2895600"/>
            <a:ext cx="571500" cy="425450"/>
          </a:xfrm>
          <a:prstGeom prst="rect">
            <a:avLst/>
          </a:prstGeom>
          <a:noFill/>
        </p:spPr>
        <p:txBody>
          <a:bodyPr wrap="none" lIns="0" rIns="0" tIns="0" bIns="0" anchor="t">
            <a:spAutoFit/>
          </a:bodyPr>
          <a:lstStyle/>
          <a:p>
            <a:pPr algn="l">
              <a:lnSpc>
                <a:spcPts val="3050"/>
              </a:lnSpc>
              <a:spcBef>
                <a:spcPts val="0"/>
              </a:spcBef>
              <a:spcAft>
                <a:spcPts val="0"/>
              </a:spcAft>
              <a:defRPr sz="2500" b="1">
                <a:solidFill>
                  <a:srgbClr val="1F5EFF"/>
                </a:solidFill>
                <a:latin typeface="Arial"/>
              </a:defRPr>
            </a:pPr>
            <a:r>
              <a:t>02</a:t>
            </a:r>
          </a:p>
        </p:txBody>
      </p:sp>
      <p:sp>
        <p:nvSpPr>
          <p:cNvPr id="8" name="TextBox 7"/>
          <p:cNvSpPr txBox="1"/>
          <p:nvPr/>
        </p:nvSpPr>
        <p:spPr>
          <a:xfrm>
            <a:off x="1282700" y="2908300"/>
            <a:ext cx="4445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Implementación</a:t>
            </a:r>
          </a:p>
        </p:txBody>
      </p:sp>
      <p:sp>
        <p:nvSpPr>
          <p:cNvPr id="9" name="TextBox 8"/>
          <p:cNvSpPr txBox="1"/>
          <p:nvPr/>
        </p:nvSpPr>
        <p:spPr>
          <a:xfrm>
            <a:off x="1282700" y="3263900"/>
            <a:ext cx="5715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Capas y reglas acordadas del proyecto.</a:t>
            </a:r>
          </a:p>
        </p:txBody>
      </p:sp>
      <p:sp>
        <p:nvSpPr>
          <p:cNvPr id="10" name="TextBox 9"/>
          <p:cNvSpPr txBox="1"/>
          <p:nvPr/>
        </p:nvSpPr>
        <p:spPr>
          <a:xfrm>
            <a:off x="508000" y="3860800"/>
            <a:ext cx="571500" cy="425450"/>
          </a:xfrm>
          <a:prstGeom prst="rect">
            <a:avLst/>
          </a:prstGeom>
          <a:noFill/>
        </p:spPr>
        <p:txBody>
          <a:bodyPr wrap="none" lIns="0" rIns="0" tIns="0" bIns="0" anchor="t">
            <a:spAutoFit/>
          </a:bodyPr>
          <a:lstStyle/>
          <a:p>
            <a:pPr algn="l">
              <a:lnSpc>
                <a:spcPts val="3050"/>
              </a:lnSpc>
              <a:spcBef>
                <a:spcPts val="0"/>
              </a:spcBef>
              <a:spcAft>
                <a:spcPts val="0"/>
              </a:spcAft>
              <a:defRPr sz="2500" b="1">
                <a:solidFill>
                  <a:srgbClr val="1F5EFF"/>
                </a:solidFill>
                <a:latin typeface="Arial"/>
              </a:defRPr>
            </a:pPr>
            <a:r>
              <a:t>03</a:t>
            </a:r>
          </a:p>
        </p:txBody>
      </p:sp>
      <p:sp>
        <p:nvSpPr>
          <p:cNvPr id="11" name="TextBox 10"/>
          <p:cNvSpPr txBox="1"/>
          <p:nvPr/>
        </p:nvSpPr>
        <p:spPr>
          <a:xfrm>
            <a:off x="1282700" y="3873500"/>
            <a:ext cx="4445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Verificación</a:t>
            </a:r>
          </a:p>
        </p:txBody>
      </p:sp>
      <p:sp>
        <p:nvSpPr>
          <p:cNvPr id="12" name="TextBox 11"/>
          <p:cNvSpPr txBox="1"/>
          <p:nvPr/>
        </p:nvSpPr>
        <p:spPr>
          <a:xfrm>
            <a:off x="1282700" y="4229100"/>
            <a:ext cx="5715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Lint, tests y validación de OpenSpec.</a:t>
            </a:r>
          </a:p>
        </p:txBody>
      </p:sp>
      <p:sp>
        <p:nvSpPr>
          <p:cNvPr id="13" name="TextBox 12"/>
          <p:cNvSpPr txBox="1"/>
          <p:nvPr/>
        </p:nvSpPr>
        <p:spPr>
          <a:xfrm>
            <a:off x="508000" y="4826000"/>
            <a:ext cx="571500" cy="425450"/>
          </a:xfrm>
          <a:prstGeom prst="rect">
            <a:avLst/>
          </a:prstGeom>
          <a:noFill/>
        </p:spPr>
        <p:txBody>
          <a:bodyPr wrap="none" lIns="0" rIns="0" tIns="0" bIns="0" anchor="t">
            <a:spAutoFit/>
          </a:bodyPr>
          <a:lstStyle/>
          <a:p>
            <a:pPr algn="l">
              <a:lnSpc>
                <a:spcPts val="3050"/>
              </a:lnSpc>
              <a:spcBef>
                <a:spcPts val="0"/>
              </a:spcBef>
              <a:spcAft>
                <a:spcPts val="0"/>
              </a:spcAft>
              <a:defRPr sz="2500" b="1">
                <a:solidFill>
                  <a:srgbClr val="1F5EFF"/>
                </a:solidFill>
                <a:latin typeface="Arial"/>
              </a:defRPr>
            </a:pPr>
            <a:r>
              <a:t>04</a:t>
            </a:r>
          </a:p>
        </p:txBody>
      </p:sp>
      <p:sp>
        <p:nvSpPr>
          <p:cNvPr id="14" name="TextBox 13"/>
          <p:cNvSpPr txBox="1"/>
          <p:nvPr/>
        </p:nvSpPr>
        <p:spPr>
          <a:xfrm>
            <a:off x="1282700" y="4838700"/>
            <a:ext cx="4445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0F172A"/>
                </a:solidFill>
                <a:latin typeface="Arial"/>
              </a:defRPr>
            </a:pPr>
            <a:r>
              <a:t>Revisión</a:t>
            </a:r>
          </a:p>
        </p:txBody>
      </p:sp>
      <p:sp>
        <p:nvSpPr>
          <p:cNvPr id="15" name="TextBox 14"/>
          <p:cNvSpPr txBox="1"/>
          <p:nvPr/>
        </p:nvSpPr>
        <p:spPr>
          <a:xfrm>
            <a:off x="1282700" y="5194300"/>
            <a:ext cx="5715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Pull request y aprobación humana.</a:t>
            </a:r>
          </a:p>
        </p:txBody>
      </p:sp>
      <p:sp>
        <p:nvSpPr>
          <p:cNvPr id="16" name="Rounded Rectangle 15"/>
          <p:cNvSpPr/>
          <p:nvPr/>
        </p:nvSpPr>
        <p:spPr>
          <a:xfrm>
            <a:off x="8001000" y="1968500"/>
            <a:ext cx="3683000" cy="36703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0400" y="2324100"/>
            <a:ext cx="3098800" cy="1293114"/>
          </a:xfrm>
          <a:prstGeom prst="rect">
            <a:avLst/>
          </a:prstGeom>
          <a:noFill/>
        </p:spPr>
        <p:txBody>
          <a:bodyPr wrap="none" lIns="0" rIns="0" tIns="0" bIns="0" anchor="t">
            <a:spAutoFit/>
          </a:bodyPr>
          <a:lstStyle/>
          <a:p>
            <a:pPr algn="l">
              <a:lnSpc>
                <a:spcPts val="3294"/>
              </a:lnSpc>
              <a:spcBef>
                <a:spcPts val="0"/>
              </a:spcBef>
              <a:spcAft>
                <a:spcPts val="0"/>
              </a:spcAft>
              <a:defRPr sz="2700" b="1">
                <a:solidFill>
                  <a:srgbClr val="FFFFFF"/>
                </a:solidFill>
                <a:latin typeface="Arial"/>
              </a:defRPr>
            </a:pPr>
            <a:r>
              <a:t>IA para acelerar.</a:t>
            </a:r>
          </a:p>
          <a:p>
            <a:pPr algn="l">
              <a:lnSpc>
                <a:spcPts val="3294"/>
              </a:lnSpc>
              <a:spcBef>
                <a:spcPts val="0"/>
              </a:spcBef>
              <a:spcAft>
                <a:spcPts val="0"/>
              </a:spcAft>
              <a:defRPr sz="2700" b="1">
                <a:solidFill>
                  <a:srgbClr val="FFFFFF"/>
                </a:solidFill>
                <a:latin typeface="Arial"/>
              </a:defRPr>
            </a:pPr>
            <a:r>
              <a:t>Equipo para</a:t>
            </a:r>
          </a:p>
          <a:p>
            <a:pPr algn="l">
              <a:lnSpc>
                <a:spcPts val="3294"/>
              </a:lnSpc>
              <a:spcBef>
                <a:spcPts val="0"/>
              </a:spcBef>
              <a:spcAft>
                <a:spcPts val="0"/>
              </a:spcAft>
              <a:defRPr sz="2700" b="1">
                <a:solidFill>
                  <a:srgbClr val="FFFFFF"/>
                </a:solidFill>
                <a:latin typeface="Arial"/>
              </a:defRPr>
            </a:pPr>
            <a:r>
              <a:t>decidir.</a:t>
            </a:r>
          </a:p>
        </p:txBody>
      </p:sp>
      <p:sp>
        <p:nvSpPr>
          <p:cNvPr id="18" name="TextBox 17"/>
          <p:cNvSpPr txBox="1"/>
          <p:nvPr/>
        </p:nvSpPr>
        <p:spPr>
          <a:xfrm>
            <a:off x="8280400" y="3683000"/>
            <a:ext cx="3098800" cy="828294"/>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B6C4E0"/>
                </a:solidFill>
                <a:latin typeface="Arial"/>
              </a:defRPr>
            </a:pPr>
            <a:r>
              <a:t>OpenSpec</a:t>
            </a:r>
          </a:p>
          <a:p>
            <a:pPr algn="l">
              <a:lnSpc>
                <a:spcPts val="2074"/>
              </a:lnSpc>
              <a:spcBef>
                <a:spcPts val="0"/>
              </a:spcBef>
              <a:spcAft>
                <a:spcPts val="0"/>
              </a:spcAft>
              <a:defRPr sz="1700" b="0">
                <a:solidFill>
                  <a:srgbClr val="B6C4E0"/>
                </a:solidFill>
                <a:latin typeface="Arial"/>
              </a:defRPr>
            </a:pPr>
            <a:r>
              <a:t>Bitácora de decisiones</a:t>
            </a:r>
          </a:p>
          <a:p>
            <a:pPr algn="l">
              <a:lnSpc>
                <a:spcPts val="2074"/>
              </a:lnSpc>
              <a:spcBef>
                <a:spcPts val="0"/>
              </a:spcBef>
              <a:spcAft>
                <a:spcPts val="0"/>
              </a:spcAft>
              <a:defRPr sz="1700" b="0">
                <a:solidFill>
                  <a:srgbClr val="B6C4E0"/>
                </a:solidFill>
                <a:latin typeface="Arial"/>
              </a:defRPr>
            </a:pPr>
            <a:r>
              <a:t>Revisión del resultado</a:t>
            </a:r>
          </a:p>
        </p:txBody>
      </p:sp>
      <p:cxnSp>
        <p:nvCxnSpPr>
          <p:cNvPr id="19" name="Connector 18"/>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1" name="TextBox 20"/>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Juan Carlos · Scrum Master | 06:50–08:00</a:t>
            </a:r>
          </a:p>
        </p:txBody>
      </p:sp>
      <p:sp>
        <p:nvSpPr>
          <p:cNvPr id="22" name="TextBox 21"/>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08 / 20</a:t>
            </a:r>
          </a:p>
        </p:txBody>
      </p:sp>
      <p:sp>
        <p:nvSpPr>
          <p:cNvPr id="23" name="Rectangle 22"/>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384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FF7A1A"/>
                </a:solidFill>
                <a:latin typeface="Arial"/>
              </a:defRPr>
            </a:pPr>
            <a:r>
              <a:t>08 · ARQUITECTURA POR CAPAS</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FFFFFF"/>
                </a:solidFill>
                <a:latin typeface="Arial"/>
              </a:defRPr>
            </a:pPr>
            <a:r>
              <a:t>El negocio no depende del framework</a:t>
            </a:r>
          </a:p>
        </p:txBody>
      </p:sp>
      <p:sp>
        <p:nvSpPr>
          <p:cNvPr id="4" name="Rounded Rectangle 3"/>
          <p:cNvSpPr/>
          <p:nvPr/>
        </p:nvSpPr>
        <p:spPr>
          <a:xfrm>
            <a:off x="508000" y="1968500"/>
            <a:ext cx="7493000" cy="9525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159000"/>
            <a:ext cx="26035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interfaces/</a:t>
            </a:r>
          </a:p>
        </p:txBody>
      </p:sp>
      <p:sp>
        <p:nvSpPr>
          <p:cNvPr id="6" name="TextBox 5"/>
          <p:cNvSpPr txBox="1"/>
          <p:nvPr/>
        </p:nvSpPr>
        <p:spPr>
          <a:xfrm>
            <a:off x="3517900" y="2159000"/>
            <a:ext cx="4191000" cy="301498"/>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C7D3EA"/>
                </a:solidFill>
                <a:latin typeface="Arial"/>
              </a:defRPr>
            </a:pPr>
            <a:r>
              <a:t>Rutas, controladores y schemas</a:t>
            </a:r>
          </a:p>
        </p:txBody>
      </p:sp>
      <p:sp>
        <p:nvSpPr>
          <p:cNvPr id="7" name="TextBox 6"/>
          <p:cNvSpPr txBox="1"/>
          <p:nvPr/>
        </p:nvSpPr>
        <p:spPr>
          <a:xfrm>
            <a:off x="3517900" y="2514600"/>
            <a:ext cx="4191000" cy="224028"/>
          </a:xfrm>
          <a:prstGeom prst="rect">
            <a:avLst/>
          </a:prstGeom>
          <a:noFill/>
        </p:spPr>
        <p:txBody>
          <a:bodyPr wrap="none" lIns="0" rIns="0" tIns="0" bIns="0" anchor="t">
            <a:spAutoFit/>
          </a:bodyPr>
          <a:lstStyle/>
          <a:p>
            <a:pPr algn="l">
              <a:lnSpc>
                <a:spcPts val="1464"/>
              </a:lnSpc>
              <a:spcBef>
                <a:spcPts val="0"/>
              </a:spcBef>
              <a:spcAft>
                <a:spcPts val="0"/>
              </a:spcAft>
              <a:defRPr sz="1200" b="0">
                <a:solidFill>
                  <a:srgbClr val="8CA8D9"/>
                </a:solidFill>
                <a:latin typeface="Arial"/>
              </a:defRPr>
            </a:pPr>
            <a:r>
              <a:t>HTTP / Pydantic</a:t>
            </a:r>
          </a:p>
        </p:txBody>
      </p:sp>
      <p:cxnSp>
        <p:nvCxnSpPr>
          <p:cNvPr id="8" name="Connector 7"/>
          <p:cNvCxnSpPr/>
          <p:nvPr/>
        </p:nvCxnSpPr>
        <p:spPr>
          <a:xfrm>
            <a:off x="4254500" y="2946400"/>
            <a:ext cx="0" cy="177800"/>
          </a:xfrm>
          <a:prstGeom prst="line">
            <a:avLst/>
          </a:prstGeom>
          <a:ln w="25400">
            <a:solidFill>
              <a:srgbClr val="FF7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8000" y="3149600"/>
            <a:ext cx="7493000" cy="9525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3340100"/>
            <a:ext cx="26035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application/</a:t>
            </a:r>
          </a:p>
        </p:txBody>
      </p:sp>
      <p:sp>
        <p:nvSpPr>
          <p:cNvPr id="11" name="TextBox 10"/>
          <p:cNvSpPr txBox="1"/>
          <p:nvPr/>
        </p:nvSpPr>
        <p:spPr>
          <a:xfrm>
            <a:off x="3517900" y="3340100"/>
            <a:ext cx="4191000" cy="301498"/>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C7D3EA"/>
                </a:solidFill>
                <a:latin typeface="Arial"/>
              </a:defRPr>
            </a:pPr>
            <a:r>
              <a:t>Casos de uso y reglas</a:t>
            </a:r>
          </a:p>
        </p:txBody>
      </p:sp>
      <p:sp>
        <p:nvSpPr>
          <p:cNvPr id="12" name="TextBox 11"/>
          <p:cNvSpPr txBox="1"/>
          <p:nvPr/>
        </p:nvSpPr>
        <p:spPr>
          <a:xfrm>
            <a:off x="3517900" y="3695700"/>
            <a:ext cx="4191000" cy="224028"/>
          </a:xfrm>
          <a:prstGeom prst="rect">
            <a:avLst/>
          </a:prstGeom>
          <a:noFill/>
        </p:spPr>
        <p:txBody>
          <a:bodyPr wrap="none" lIns="0" rIns="0" tIns="0" bIns="0" anchor="t">
            <a:spAutoFit/>
          </a:bodyPr>
          <a:lstStyle/>
          <a:p>
            <a:pPr algn="l">
              <a:lnSpc>
                <a:spcPts val="1464"/>
              </a:lnSpc>
              <a:spcBef>
                <a:spcPts val="0"/>
              </a:spcBef>
              <a:spcAft>
                <a:spcPts val="0"/>
              </a:spcAft>
              <a:defRPr sz="1200" b="0">
                <a:solidFill>
                  <a:srgbClr val="8CA8D9"/>
                </a:solidFill>
                <a:latin typeface="Arial"/>
              </a:defRPr>
            </a:pPr>
            <a:r>
              <a:t>GymUseCases</a:t>
            </a:r>
          </a:p>
        </p:txBody>
      </p:sp>
      <p:cxnSp>
        <p:nvCxnSpPr>
          <p:cNvPr id="13" name="Connector 12"/>
          <p:cNvCxnSpPr/>
          <p:nvPr/>
        </p:nvCxnSpPr>
        <p:spPr>
          <a:xfrm>
            <a:off x="4254500" y="4127500"/>
            <a:ext cx="0" cy="177800"/>
          </a:xfrm>
          <a:prstGeom prst="line">
            <a:avLst/>
          </a:prstGeom>
          <a:ln w="25400">
            <a:solidFill>
              <a:srgbClr val="FF7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8000" y="4330700"/>
            <a:ext cx="7493000" cy="9525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4521200"/>
            <a:ext cx="26035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domain/</a:t>
            </a:r>
          </a:p>
        </p:txBody>
      </p:sp>
      <p:sp>
        <p:nvSpPr>
          <p:cNvPr id="16" name="TextBox 15"/>
          <p:cNvSpPr txBox="1"/>
          <p:nvPr/>
        </p:nvSpPr>
        <p:spPr>
          <a:xfrm>
            <a:off x="3517900" y="4521200"/>
            <a:ext cx="4191000" cy="301498"/>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C7D3EA"/>
                </a:solidFill>
                <a:latin typeface="Arial"/>
              </a:defRPr>
            </a:pPr>
            <a:r>
              <a:t>Entidades y puertos</a:t>
            </a:r>
          </a:p>
        </p:txBody>
      </p:sp>
      <p:sp>
        <p:nvSpPr>
          <p:cNvPr id="17" name="TextBox 16"/>
          <p:cNvSpPr txBox="1"/>
          <p:nvPr/>
        </p:nvSpPr>
        <p:spPr>
          <a:xfrm>
            <a:off x="3517900" y="4876800"/>
            <a:ext cx="4191000" cy="224028"/>
          </a:xfrm>
          <a:prstGeom prst="rect">
            <a:avLst/>
          </a:prstGeom>
          <a:noFill/>
        </p:spPr>
        <p:txBody>
          <a:bodyPr wrap="none" lIns="0" rIns="0" tIns="0" bIns="0" anchor="t">
            <a:spAutoFit/>
          </a:bodyPr>
          <a:lstStyle/>
          <a:p>
            <a:pPr algn="l">
              <a:lnSpc>
                <a:spcPts val="1464"/>
              </a:lnSpc>
              <a:spcBef>
                <a:spcPts val="0"/>
              </a:spcBef>
              <a:spcAft>
                <a:spcPts val="0"/>
              </a:spcAft>
              <a:defRPr sz="1200" b="0">
                <a:solidFill>
                  <a:srgbClr val="8CA8D9"/>
                </a:solidFill>
                <a:latin typeface="Arial"/>
              </a:defRPr>
            </a:pPr>
            <a:r>
              <a:t>dataclasses / Protocol</a:t>
            </a:r>
          </a:p>
        </p:txBody>
      </p:sp>
      <p:sp>
        <p:nvSpPr>
          <p:cNvPr id="18" name="Rounded Rectangle 17"/>
          <p:cNvSpPr/>
          <p:nvPr/>
        </p:nvSpPr>
        <p:spPr>
          <a:xfrm>
            <a:off x="8572500" y="1968500"/>
            <a:ext cx="3111500" cy="33147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13800" y="2260600"/>
            <a:ext cx="2628900" cy="347980"/>
          </a:xfrm>
          <a:prstGeom prst="rect">
            <a:avLst/>
          </a:prstGeom>
          <a:noFill/>
        </p:spPr>
        <p:txBody>
          <a:bodyPr wrap="none" lIns="0" rIns="0" tIns="0" bIns="0" anchor="t">
            <a:spAutoFit/>
          </a:bodyPr>
          <a:lstStyle/>
          <a:p>
            <a:pPr algn="l">
              <a:lnSpc>
                <a:spcPts val="2440"/>
              </a:lnSpc>
              <a:spcBef>
                <a:spcPts val="0"/>
              </a:spcBef>
              <a:spcAft>
                <a:spcPts val="0"/>
              </a:spcAft>
              <a:defRPr sz="2000" b="1">
                <a:solidFill>
                  <a:srgbClr val="FFFFFF"/>
                </a:solidFill>
                <a:latin typeface="Arial"/>
              </a:defRPr>
            </a:pPr>
            <a:r>
              <a:t>infrastructure/</a:t>
            </a:r>
          </a:p>
        </p:txBody>
      </p:sp>
      <p:sp>
        <p:nvSpPr>
          <p:cNvPr id="20" name="TextBox 19"/>
          <p:cNvSpPr txBox="1"/>
          <p:nvPr/>
        </p:nvSpPr>
        <p:spPr>
          <a:xfrm>
            <a:off x="8813800" y="2921000"/>
            <a:ext cx="2628900" cy="1432560"/>
          </a:xfrm>
          <a:prstGeom prst="rect">
            <a:avLst/>
          </a:prstGeom>
          <a:noFill/>
        </p:spPr>
        <p:txBody>
          <a:bodyPr wrap="none" lIns="0" rIns="0" tIns="0" bIns="0" anchor="t">
            <a:spAutoFit/>
          </a:bodyPr>
          <a:lstStyle/>
          <a:p>
            <a:pPr algn="l">
              <a:lnSpc>
                <a:spcPts val="2196"/>
              </a:lnSpc>
              <a:spcBef>
                <a:spcPts val="0"/>
              </a:spcBef>
              <a:spcAft>
                <a:spcPts val="0"/>
              </a:spcAft>
              <a:defRPr sz="1800" b="0">
                <a:solidFill>
                  <a:srgbClr val="FFFFFF"/>
                </a:solidFill>
                <a:latin typeface="Arial"/>
              </a:defRPr>
            </a:pPr>
            <a:r>
              <a:t>SQLAlchemy</a:t>
            </a:r>
          </a:p>
          <a:p>
            <a:pPr algn="l">
              <a:lnSpc>
                <a:spcPts val="2196"/>
              </a:lnSpc>
              <a:spcBef>
                <a:spcPts val="0"/>
              </a:spcBef>
              <a:spcAft>
                <a:spcPts val="0"/>
              </a:spcAft>
              <a:defRPr sz="1800" b="0">
                <a:solidFill>
                  <a:srgbClr val="FFFFFF"/>
                </a:solidFill>
                <a:latin typeface="Arial"/>
              </a:defRPr>
            </a:pPr>
            <a:r>
              <a:t>Repositorios</a:t>
            </a:r>
          </a:p>
          <a:p>
            <a:pPr algn="l">
              <a:lnSpc>
                <a:spcPts val="2196"/>
              </a:lnSpc>
              <a:spcBef>
                <a:spcPts val="0"/>
              </a:spcBef>
              <a:spcAft>
                <a:spcPts val="0"/>
              </a:spcAft>
              <a:defRPr sz="1800" b="0">
                <a:solidFill>
                  <a:srgbClr val="FFFFFF"/>
                </a:solidFill>
                <a:latin typeface="Arial"/>
              </a:defRPr>
            </a:pPr>
            <a:r>
              <a:t>MySQL</a:t>
            </a:r>
          </a:p>
          <a:p>
            <a:pPr algn="l">
              <a:lnSpc>
                <a:spcPts val="2196"/>
              </a:lnSpc>
              <a:spcBef>
                <a:spcPts val="0"/>
              </a:spcBef>
              <a:spcAft>
                <a:spcPts val="0"/>
              </a:spcAft>
              <a:defRPr sz="1800" b="0">
                <a:solidFill>
                  <a:srgbClr val="FFFFFF"/>
                </a:solidFill>
                <a:latin typeface="Arial"/>
              </a:defRPr>
            </a:pPr>
            <a:r>
              <a:t>Adaptadores de</a:t>
            </a:r>
          </a:p>
          <a:p>
            <a:pPr algn="l">
              <a:lnSpc>
                <a:spcPts val="2196"/>
              </a:lnSpc>
              <a:spcBef>
                <a:spcPts val="0"/>
              </a:spcBef>
              <a:spcAft>
                <a:spcPts val="0"/>
              </a:spcAft>
              <a:defRPr sz="1800" b="0">
                <a:solidFill>
                  <a:srgbClr val="FFFFFF"/>
                </a:solidFill>
                <a:latin typeface="Arial"/>
              </a:defRPr>
            </a:pPr>
            <a:r>
              <a:t>seguridad</a:t>
            </a:r>
          </a:p>
        </p:txBody>
      </p:sp>
      <p:sp>
        <p:nvSpPr>
          <p:cNvPr id="21" name="TextBox 20"/>
          <p:cNvSpPr txBox="1"/>
          <p:nvPr/>
        </p:nvSpPr>
        <p:spPr>
          <a:xfrm>
            <a:off x="8813800" y="4495800"/>
            <a:ext cx="2628900" cy="471931"/>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DCE7FF"/>
                </a:solidFill>
                <a:latin typeface="Arial"/>
              </a:defRPr>
            </a:pPr>
            <a:r>
              <a:t>Implementa los puertos</a:t>
            </a:r>
          </a:p>
          <a:p>
            <a:pPr algn="l">
              <a:lnSpc>
                <a:spcPts val="1707"/>
              </a:lnSpc>
              <a:spcBef>
                <a:spcPts val="0"/>
              </a:spcBef>
              <a:spcAft>
                <a:spcPts val="0"/>
              </a:spcAft>
              <a:defRPr sz="1400" b="0">
                <a:solidFill>
                  <a:srgbClr val="DCE7FF"/>
                </a:solidFill>
                <a:latin typeface="Arial"/>
              </a:defRPr>
            </a:pPr>
            <a:r>
              <a:t>del dominio.</a:t>
            </a:r>
          </a:p>
        </p:txBody>
      </p:sp>
      <p:sp>
        <p:nvSpPr>
          <p:cNvPr id="22" name="TextBox 21"/>
          <p:cNvSpPr txBox="1"/>
          <p:nvPr/>
        </p:nvSpPr>
        <p:spPr>
          <a:xfrm>
            <a:off x="508000" y="57785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C7D3EA"/>
                </a:solidFill>
                <a:latin typeface="Arial"/>
              </a:defRPr>
            </a:pPr>
            <a:r>
              <a:t>Python 3.14 · FastAPI · Pydantic · SQLAlchemy · Alembic</a:t>
            </a:r>
          </a:p>
        </p:txBody>
      </p:sp>
      <p:cxnSp>
        <p:nvCxnSpPr>
          <p:cNvPr id="23" name="Connector 22"/>
          <p:cNvCxnSpPr/>
          <p:nvPr/>
        </p:nvCxnSpPr>
        <p:spPr>
          <a:xfrm>
            <a:off x="508000" y="6311900"/>
            <a:ext cx="11176000" cy="0"/>
          </a:xfrm>
          <a:prstGeom prst="line">
            <a:avLst/>
          </a:prstGeom>
          <a:ln w="7620">
            <a:solidFill>
              <a:srgbClr val="61718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FFFFFF"/>
                </a:solidFill>
                <a:latin typeface="Arial"/>
              </a:defRPr>
            </a:pPr>
            <a:r>
              <a:t>GYMFLOW</a:t>
            </a:r>
          </a:p>
        </p:txBody>
      </p:sp>
      <p:sp>
        <p:nvSpPr>
          <p:cNvPr id="25" name="TextBox 24"/>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B6C4E0"/>
                </a:solidFill>
                <a:latin typeface="Arial"/>
              </a:defRPr>
            </a:pPr>
            <a:r>
              <a:t>Fabiana · Backend | 08:00–09:05</a:t>
            </a:r>
          </a:p>
        </p:txBody>
      </p:sp>
      <p:sp>
        <p:nvSpPr>
          <p:cNvPr id="26" name="TextBox 25"/>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B6C4E0"/>
                </a:solidFill>
                <a:latin typeface="Arial"/>
              </a:defRPr>
            </a:pPr>
            <a:r>
              <a:t>09 / 20</a:t>
            </a:r>
          </a:p>
        </p:txBody>
      </p:sp>
      <p:sp>
        <p:nvSpPr>
          <p:cNvPr id="27" name="Rectangle 26"/>
          <p:cNvSpPr/>
          <p:nvPr/>
        </p:nvSpPr>
        <p:spPr>
          <a:xfrm>
            <a:off x="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4384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768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7536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09 · MODELO RELACIONAL</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Una identidad; dos vínculos de negocio</a:t>
            </a:r>
          </a:p>
        </p:txBody>
      </p:sp>
      <p:sp>
        <p:nvSpPr>
          <p:cNvPr id="4" name="TextBox 3"/>
          <p:cNvSpPr txBox="1"/>
          <p:nvPr/>
        </p:nvSpPr>
        <p:spPr>
          <a:xfrm>
            <a:off x="508000" y="14478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MySQL · entidades separadas · relaciones explícitas · integridad por claves</a:t>
            </a:r>
          </a:p>
        </p:txBody>
      </p:sp>
      <p:cxnSp>
        <p:nvCxnSpPr>
          <p:cNvPr id="5" name="Connector 4"/>
          <p:cNvCxnSpPr/>
          <p:nvPr/>
        </p:nvCxnSpPr>
        <p:spPr>
          <a:xfrm flipH="1">
            <a:off x="2286000" y="2781300"/>
            <a:ext cx="3746500" cy="64770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239000" y="2235200"/>
            <a:ext cx="1524000" cy="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286000" y="4394200"/>
            <a:ext cx="0" cy="62230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92500" y="3886200"/>
            <a:ext cx="1397000" cy="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302500" y="3886200"/>
            <a:ext cx="1460500" cy="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69500" y="2781300"/>
            <a:ext cx="0" cy="647700"/>
          </a:xfrm>
          <a:prstGeom prst="line">
            <a:avLst/>
          </a:prstGeom>
          <a:ln w="21590">
            <a:solidFill>
              <a:srgbClr val="1F5EF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889500" y="1778000"/>
            <a:ext cx="2413000" cy="10033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41900" y="1930400"/>
            <a:ext cx="2108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users / Cuenta</a:t>
            </a:r>
          </a:p>
        </p:txBody>
      </p:sp>
      <p:sp>
        <p:nvSpPr>
          <p:cNvPr id="13" name="TextBox 12"/>
          <p:cNvSpPr txBox="1"/>
          <p:nvPr/>
        </p:nvSpPr>
        <p:spPr>
          <a:xfrm>
            <a:off x="5041900" y="2260600"/>
            <a:ext cx="2108200" cy="440944"/>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email · hash · rol</a:t>
            </a:r>
          </a:p>
          <a:p>
            <a:pPr algn="l">
              <a:lnSpc>
                <a:spcPts val="1586"/>
              </a:lnSpc>
              <a:spcBef>
                <a:spcPts val="0"/>
              </a:spcBef>
              <a:spcAft>
                <a:spcPts val="0"/>
              </a:spcAft>
              <a:defRPr sz="1300" b="0">
                <a:solidFill>
                  <a:srgbClr val="475569"/>
                </a:solidFill>
                <a:latin typeface="Arial"/>
              </a:defRPr>
            </a:pPr>
            <a:r>
              <a:t>id_cliente · id_entrenador</a:t>
            </a:r>
          </a:p>
        </p:txBody>
      </p:sp>
      <p:sp>
        <p:nvSpPr>
          <p:cNvPr id="14" name="Rounded Rectangle 13"/>
          <p:cNvSpPr/>
          <p:nvPr/>
        </p:nvSpPr>
        <p:spPr>
          <a:xfrm>
            <a:off x="1016000" y="3429000"/>
            <a:ext cx="2476500" cy="9652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8400" y="3581400"/>
            <a:ext cx="2171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clientes</a:t>
            </a:r>
          </a:p>
        </p:txBody>
      </p:sp>
      <p:sp>
        <p:nvSpPr>
          <p:cNvPr id="16" name="TextBox 15"/>
          <p:cNvSpPr txBox="1"/>
          <p:nvPr/>
        </p:nvSpPr>
        <p:spPr>
          <a:xfrm>
            <a:off x="1168400" y="3911600"/>
            <a:ext cx="2171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id_cliente · membresía</a:t>
            </a:r>
          </a:p>
        </p:txBody>
      </p:sp>
      <p:sp>
        <p:nvSpPr>
          <p:cNvPr id="17" name="Rounded Rectangle 16"/>
          <p:cNvSpPr/>
          <p:nvPr/>
        </p:nvSpPr>
        <p:spPr>
          <a:xfrm>
            <a:off x="8763000" y="1778000"/>
            <a:ext cx="2476500" cy="10033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1930400"/>
            <a:ext cx="2171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entrenadores</a:t>
            </a:r>
          </a:p>
        </p:txBody>
      </p:sp>
      <p:sp>
        <p:nvSpPr>
          <p:cNvPr id="19" name="TextBox 18"/>
          <p:cNvSpPr txBox="1"/>
          <p:nvPr/>
        </p:nvSpPr>
        <p:spPr>
          <a:xfrm>
            <a:off x="8915400" y="2260600"/>
            <a:ext cx="2171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id_entrenador · nombre</a:t>
            </a:r>
          </a:p>
        </p:txBody>
      </p:sp>
      <p:sp>
        <p:nvSpPr>
          <p:cNvPr id="20" name="Rounded Rectangle 19"/>
          <p:cNvSpPr/>
          <p:nvPr/>
        </p:nvSpPr>
        <p:spPr>
          <a:xfrm>
            <a:off x="8763000" y="3429000"/>
            <a:ext cx="2476500" cy="9652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3581400"/>
            <a:ext cx="2171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clases</a:t>
            </a:r>
          </a:p>
        </p:txBody>
      </p:sp>
      <p:sp>
        <p:nvSpPr>
          <p:cNvPr id="22" name="TextBox 21"/>
          <p:cNvSpPr txBox="1"/>
          <p:nvPr/>
        </p:nvSpPr>
        <p:spPr>
          <a:xfrm>
            <a:off x="8915400" y="3911600"/>
            <a:ext cx="2171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id_clase · aforo · horario</a:t>
            </a:r>
          </a:p>
        </p:txBody>
      </p:sp>
      <p:sp>
        <p:nvSpPr>
          <p:cNvPr id="23" name="Rounded Rectangle 22"/>
          <p:cNvSpPr/>
          <p:nvPr/>
        </p:nvSpPr>
        <p:spPr>
          <a:xfrm>
            <a:off x="4889500" y="3429000"/>
            <a:ext cx="2413000" cy="9652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41900" y="3581400"/>
            <a:ext cx="2108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reservas</a:t>
            </a:r>
          </a:p>
        </p:txBody>
      </p:sp>
      <p:sp>
        <p:nvSpPr>
          <p:cNvPr id="25" name="TextBox 24"/>
          <p:cNvSpPr txBox="1"/>
          <p:nvPr/>
        </p:nvSpPr>
        <p:spPr>
          <a:xfrm>
            <a:off x="5041900" y="3911600"/>
            <a:ext cx="2108200" cy="440944"/>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id_cliente · id_clase</a:t>
            </a:r>
          </a:p>
          <a:p>
            <a:pPr algn="l">
              <a:lnSpc>
                <a:spcPts val="1586"/>
              </a:lnSpc>
              <a:spcBef>
                <a:spcPts val="0"/>
              </a:spcBef>
              <a:spcAft>
                <a:spcPts val="0"/>
              </a:spcAft>
              <a:defRPr sz="1300" b="0">
                <a:solidFill>
                  <a:srgbClr val="475569"/>
                </a:solidFill>
                <a:latin typeface="Arial"/>
              </a:defRPr>
            </a:pPr>
            <a:r>
              <a:t>asistio · fecha_reserva</a:t>
            </a:r>
          </a:p>
        </p:txBody>
      </p:sp>
      <p:sp>
        <p:nvSpPr>
          <p:cNvPr id="26" name="Rounded Rectangle 25"/>
          <p:cNvSpPr/>
          <p:nvPr/>
        </p:nvSpPr>
        <p:spPr>
          <a:xfrm>
            <a:off x="1016000" y="5016500"/>
            <a:ext cx="2476500" cy="9652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68400" y="5168900"/>
            <a:ext cx="2171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pagos</a:t>
            </a:r>
          </a:p>
        </p:txBody>
      </p:sp>
      <p:sp>
        <p:nvSpPr>
          <p:cNvPr id="28" name="TextBox 27"/>
          <p:cNvSpPr txBox="1"/>
          <p:nvPr/>
        </p:nvSpPr>
        <p:spPr>
          <a:xfrm>
            <a:off x="1168400" y="5499100"/>
            <a:ext cx="2171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id_cliente · monto · fecha</a:t>
            </a:r>
          </a:p>
        </p:txBody>
      </p:sp>
      <p:sp>
        <p:nvSpPr>
          <p:cNvPr id="29" name="TextBox 28"/>
          <p:cNvSpPr txBox="1"/>
          <p:nvPr/>
        </p:nvSpPr>
        <p:spPr>
          <a:xfrm>
            <a:off x="3619500" y="2908300"/>
            <a:ext cx="1524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0..1 ↔ 0..1</a:t>
            </a:r>
          </a:p>
        </p:txBody>
      </p:sp>
      <p:sp>
        <p:nvSpPr>
          <p:cNvPr id="30" name="TextBox 29"/>
          <p:cNvSpPr txBox="1"/>
          <p:nvPr/>
        </p:nvSpPr>
        <p:spPr>
          <a:xfrm>
            <a:off x="7327900" y="1917700"/>
            <a:ext cx="14097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0..1 ↔ 0..1</a:t>
            </a:r>
          </a:p>
        </p:txBody>
      </p:sp>
      <p:sp>
        <p:nvSpPr>
          <p:cNvPr id="31" name="TextBox 30"/>
          <p:cNvSpPr txBox="1"/>
          <p:nvPr/>
        </p:nvSpPr>
        <p:spPr>
          <a:xfrm>
            <a:off x="3810000" y="3606800"/>
            <a:ext cx="889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 → N</a:t>
            </a:r>
          </a:p>
        </p:txBody>
      </p:sp>
      <p:sp>
        <p:nvSpPr>
          <p:cNvPr id="32" name="TextBox 31"/>
          <p:cNvSpPr txBox="1"/>
          <p:nvPr/>
        </p:nvSpPr>
        <p:spPr>
          <a:xfrm>
            <a:off x="7658100" y="3606800"/>
            <a:ext cx="889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N ← 1</a:t>
            </a:r>
          </a:p>
        </p:txBody>
      </p:sp>
      <p:sp>
        <p:nvSpPr>
          <p:cNvPr id="33" name="TextBox 32"/>
          <p:cNvSpPr txBox="1"/>
          <p:nvPr/>
        </p:nvSpPr>
        <p:spPr>
          <a:xfrm>
            <a:off x="10134600" y="2984500"/>
            <a:ext cx="1016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 → N</a:t>
            </a:r>
          </a:p>
        </p:txBody>
      </p:sp>
      <p:sp>
        <p:nvSpPr>
          <p:cNvPr id="34" name="TextBox 33"/>
          <p:cNvSpPr txBox="1"/>
          <p:nvPr/>
        </p:nvSpPr>
        <p:spPr>
          <a:xfrm>
            <a:off x="2438400" y="4584700"/>
            <a:ext cx="1016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 → N</a:t>
            </a:r>
          </a:p>
        </p:txBody>
      </p:sp>
      <p:sp>
        <p:nvSpPr>
          <p:cNvPr id="35" name="TextBox 34"/>
          <p:cNvSpPr txBox="1"/>
          <p:nvPr/>
        </p:nvSpPr>
        <p:spPr>
          <a:xfrm>
            <a:off x="4889500" y="4940300"/>
            <a:ext cx="6477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0F172A"/>
                </a:solidFill>
                <a:latin typeface="Arial"/>
              </a:defRPr>
            </a:pPr>
            <a:r>
              <a:t>Reservas resuelve Cliente ↔ Clase (N:N).</a:t>
            </a:r>
          </a:p>
        </p:txBody>
      </p:sp>
      <p:sp>
        <p:nvSpPr>
          <p:cNvPr id="36" name="TextBox 35"/>
          <p:cNvSpPr txBox="1"/>
          <p:nvPr/>
        </p:nvSpPr>
        <p:spPr>
          <a:xfrm>
            <a:off x="4889500" y="5448300"/>
            <a:ext cx="6477000" cy="471931"/>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UNIQUE evita duplicados · FK RESTRICT protege el historial.</a:t>
            </a:r>
          </a:p>
          <a:p>
            <a:pPr algn="l">
              <a:lnSpc>
                <a:spcPts val="1707"/>
              </a:lnSpc>
              <a:spcBef>
                <a:spcPts val="0"/>
              </a:spcBef>
              <a:spcAft>
                <a:spcPts val="0"/>
              </a:spcAft>
              <a:defRPr sz="1400" b="0">
                <a:solidFill>
                  <a:srgbClr val="475569"/>
                </a:solidFill>
                <a:latin typeface="Arial"/>
              </a:defRPr>
            </a:pPr>
            <a:r>
              <a:t>versions registra la versión del esquema.</a:t>
            </a:r>
          </a:p>
        </p:txBody>
      </p:sp>
      <p:cxnSp>
        <p:nvCxnSpPr>
          <p:cNvPr id="37" name="Connector 36"/>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9" name="TextBox 38"/>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Fabiana · Backend | 09:05–10:00</a:t>
            </a:r>
          </a:p>
        </p:txBody>
      </p:sp>
      <p:sp>
        <p:nvSpPr>
          <p:cNvPr id="40" name="TextBox 39"/>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10 / 20</a:t>
            </a:r>
          </a:p>
        </p:txBody>
      </p:sp>
      <p:sp>
        <p:nvSpPr>
          <p:cNvPr id="41" name="Rectangle 40"/>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768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10 · SEGURIDAD Y PERMISOS</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Autenticar no basta: hay que delimitar el acceso</a:t>
            </a:r>
          </a:p>
        </p:txBody>
      </p:sp>
      <p:sp>
        <p:nvSpPr>
          <p:cNvPr id="4" name="Rounded Rectangle 3"/>
          <p:cNvSpPr/>
          <p:nvPr/>
        </p:nvSpPr>
        <p:spPr>
          <a:xfrm>
            <a:off x="508000" y="1892300"/>
            <a:ext cx="2603500" cy="9906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20447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Login</a:t>
            </a:r>
          </a:p>
        </p:txBody>
      </p:sp>
      <p:sp>
        <p:nvSpPr>
          <p:cNvPr id="6" name="TextBox 5"/>
          <p:cNvSpPr txBox="1"/>
          <p:nvPr/>
        </p:nvSpPr>
        <p:spPr>
          <a:xfrm>
            <a:off x="660400" y="23749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Email + contraseña</a:t>
            </a:r>
          </a:p>
        </p:txBody>
      </p:sp>
      <p:cxnSp>
        <p:nvCxnSpPr>
          <p:cNvPr id="7" name="Connector 6"/>
          <p:cNvCxnSpPr/>
          <p:nvPr/>
        </p:nvCxnSpPr>
        <p:spPr>
          <a:xfrm>
            <a:off x="3136900" y="23876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65500" y="1892300"/>
            <a:ext cx="2603500" cy="9906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17900" y="20447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JWT</a:t>
            </a:r>
          </a:p>
        </p:txBody>
      </p:sp>
      <p:sp>
        <p:nvSpPr>
          <p:cNvPr id="10" name="TextBox 9"/>
          <p:cNvSpPr txBox="1"/>
          <p:nvPr/>
        </p:nvSpPr>
        <p:spPr>
          <a:xfrm>
            <a:off x="3517900" y="23749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Firma + caducidad</a:t>
            </a:r>
          </a:p>
        </p:txBody>
      </p:sp>
      <p:cxnSp>
        <p:nvCxnSpPr>
          <p:cNvPr id="11" name="Connector 10"/>
          <p:cNvCxnSpPr/>
          <p:nvPr/>
        </p:nvCxnSpPr>
        <p:spPr>
          <a:xfrm>
            <a:off x="5994400" y="23876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23000" y="1892300"/>
            <a:ext cx="2603500" cy="9906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20447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Cuenta actual</a:t>
            </a:r>
          </a:p>
        </p:txBody>
      </p:sp>
      <p:sp>
        <p:nvSpPr>
          <p:cNvPr id="14" name="TextBox 13"/>
          <p:cNvSpPr txBox="1"/>
          <p:nvPr/>
        </p:nvSpPr>
        <p:spPr>
          <a:xfrm>
            <a:off x="6375400" y="23749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Activo, rol y vínculo</a:t>
            </a:r>
          </a:p>
        </p:txBody>
      </p:sp>
      <p:cxnSp>
        <p:nvCxnSpPr>
          <p:cNvPr id="15" name="Connector 14"/>
          <p:cNvCxnSpPr/>
          <p:nvPr/>
        </p:nvCxnSpPr>
        <p:spPr>
          <a:xfrm>
            <a:off x="8851900" y="2387600"/>
            <a:ext cx="190500" cy="0"/>
          </a:xfrm>
          <a:prstGeom prst="line">
            <a:avLst/>
          </a:prstGeom>
          <a:ln w="2286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80500" y="1892300"/>
            <a:ext cx="2603500" cy="9906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2900" y="2044700"/>
            <a:ext cx="22987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Autorización</a:t>
            </a:r>
          </a:p>
        </p:txBody>
      </p:sp>
      <p:sp>
        <p:nvSpPr>
          <p:cNvPr id="18" name="TextBox 17"/>
          <p:cNvSpPr txBox="1"/>
          <p:nvPr/>
        </p:nvSpPr>
        <p:spPr>
          <a:xfrm>
            <a:off x="9232900" y="2374900"/>
            <a:ext cx="22987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Operación + propietario</a:t>
            </a:r>
          </a:p>
        </p:txBody>
      </p:sp>
      <p:sp>
        <p:nvSpPr>
          <p:cNvPr id="19" name="Rounded Rectangle 18"/>
          <p:cNvSpPr/>
          <p:nvPr/>
        </p:nvSpPr>
        <p:spPr>
          <a:xfrm>
            <a:off x="508000" y="3238500"/>
            <a:ext cx="11176000" cy="635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300" y="3403600"/>
            <a:ext cx="1841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Admin</a:t>
            </a:r>
          </a:p>
        </p:txBody>
      </p:sp>
      <p:sp>
        <p:nvSpPr>
          <p:cNvPr id="21" name="TextBox 20"/>
          <p:cNvSpPr txBox="1"/>
          <p:nvPr/>
        </p:nvSpPr>
        <p:spPr>
          <a:xfrm>
            <a:off x="2730500" y="3403600"/>
            <a:ext cx="8636000" cy="316992"/>
          </a:xfrm>
          <a:prstGeom prst="rect">
            <a:avLst/>
          </a:prstGeom>
          <a:noFill/>
        </p:spPr>
        <p:txBody>
          <a:bodyPr wrap="none" lIns="0" rIns="0" tIns="0" bIns="0" anchor="t">
            <a:spAutoFit/>
          </a:bodyPr>
          <a:lstStyle/>
          <a:p>
            <a:pPr algn="l">
              <a:lnSpc>
                <a:spcPts val="2196"/>
              </a:lnSpc>
              <a:spcBef>
                <a:spcPts val="0"/>
              </a:spcBef>
              <a:spcAft>
                <a:spcPts val="0"/>
              </a:spcAft>
              <a:defRPr sz="1800" b="0">
                <a:solidFill>
                  <a:srgbClr val="0F172A"/>
                </a:solidFill>
                <a:latin typeface="Arial"/>
              </a:defRPr>
            </a:pPr>
            <a:r>
              <a:t>Gestión completa y exportación CSV</a:t>
            </a:r>
          </a:p>
        </p:txBody>
      </p:sp>
      <p:sp>
        <p:nvSpPr>
          <p:cNvPr id="22" name="Rounded Rectangle 21"/>
          <p:cNvSpPr/>
          <p:nvPr/>
        </p:nvSpPr>
        <p:spPr>
          <a:xfrm>
            <a:off x="508000" y="3987800"/>
            <a:ext cx="11176000" cy="6350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300" y="4152900"/>
            <a:ext cx="1841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Staff</a:t>
            </a:r>
          </a:p>
        </p:txBody>
      </p:sp>
      <p:sp>
        <p:nvSpPr>
          <p:cNvPr id="24" name="TextBox 23"/>
          <p:cNvSpPr txBox="1"/>
          <p:nvPr/>
        </p:nvSpPr>
        <p:spPr>
          <a:xfrm>
            <a:off x="2730500" y="4152900"/>
            <a:ext cx="8636000" cy="316992"/>
          </a:xfrm>
          <a:prstGeom prst="rect">
            <a:avLst/>
          </a:prstGeom>
          <a:noFill/>
        </p:spPr>
        <p:txBody>
          <a:bodyPr wrap="none" lIns="0" rIns="0" tIns="0" bIns="0" anchor="t">
            <a:spAutoFit/>
          </a:bodyPr>
          <a:lstStyle/>
          <a:p>
            <a:pPr algn="l">
              <a:lnSpc>
                <a:spcPts val="2196"/>
              </a:lnSpc>
              <a:spcBef>
                <a:spcPts val="0"/>
              </a:spcBef>
              <a:spcAft>
                <a:spcPts val="0"/>
              </a:spcAft>
              <a:defRPr sz="1800" b="0">
                <a:solidFill>
                  <a:srgbClr val="0F172A"/>
                </a:solidFill>
                <a:latin typeface="Arial"/>
              </a:defRPr>
            </a:pPr>
            <a:r>
              <a:t>Solo sus clases y sus reservas asociadas</a:t>
            </a:r>
          </a:p>
        </p:txBody>
      </p:sp>
      <p:sp>
        <p:nvSpPr>
          <p:cNvPr id="25" name="Rounded Rectangle 24"/>
          <p:cNvSpPr/>
          <p:nvPr/>
        </p:nvSpPr>
        <p:spPr>
          <a:xfrm>
            <a:off x="508000" y="4737100"/>
            <a:ext cx="11176000" cy="635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300" y="4902200"/>
            <a:ext cx="1841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Cliente</a:t>
            </a:r>
          </a:p>
        </p:txBody>
      </p:sp>
      <p:sp>
        <p:nvSpPr>
          <p:cNvPr id="27" name="TextBox 26"/>
          <p:cNvSpPr txBox="1"/>
          <p:nvPr/>
        </p:nvSpPr>
        <p:spPr>
          <a:xfrm>
            <a:off x="2730500" y="4902200"/>
            <a:ext cx="8636000" cy="316992"/>
          </a:xfrm>
          <a:prstGeom prst="rect">
            <a:avLst/>
          </a:prstGeom>
          <a:noFill/>
        </p:spPr>
        <p:txBody>
          <a:bodyPr wrap="none" lIns="0" rIns="0" tIns="0" bIns="0" anchor="t">
            <a:spAutoFit/>
          </a:bodyPr>
          <a:lstStyle/>
          <a:p>
            <a:pPr algn="l">
              <a:lnSpc>
                <a:spcPts val="2196"/>
              </a:lnSpc>
              <a:spcBef>
                <a:spcPts val="0"/>
              </a:spcBef>
              <a:spcAft>
                <a:spcPts val="0"/>
              </a:spcAft>
              <a:defRPr sz="1800" b="0">
                <a:solidFill>
                  <a:srgbClr val="0F172A"/>
                </a:solidFill>
                <a:latin typeface="Arial"/>
              </a:defRPr>
            </a:pPr>
            <a:r>
              <a:t>Solo sus datos y sus propias reservas</a:t>
            </a:r>
          </a:p>
        </p:txBody>
      </p:sp>
      <p:sp>
        <p:nvSpPr>
          <p:cNvPr id="28" name="TextBox 27"/>
          <p:cNvSpPr txBox="1"/>
          <p:nvPr/>
        </p:nvSpPr>
        <p:spPr>
          <a:xfrm>
            <a:off x="508000" y="57531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Argon2id para contraseñas · JWT configurable · 401 / 403 / 404 según el caso</a:t>
            </a:r>
          </a:p>
        </p:txBody>
      </p:sp>
      <p:cxnSp>
        <p:nvCxnSpPr>
          <p:cNvPr id="29" name="Connector 28"/>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1" name="TextBox 30"/>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Fabiana · Backend | 10:00–10:50</a:t>
            </a:r>
          </a:p>
        </p:txBody>
      </p:sp>
      <p:sp>
        <p:nvSpPr>
          <p:cNvPr id="32" name="TextBox 31"/>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11 / 20</a:t>
            </a:r>
          </a:p>
        </p:txBody>
      </p:sp>
      <p:sp>
        <p:nvSpPr>
          <p:cNvPr id="33" name="Rectangle 32"/>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768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FF7A1A"/>
                </a:solidFill>
                <a:latin typeface="Arial"/>
              </a:defRPr>
            </a:pPr>
            <a:r>
              <a:t>11 · CÓDIGO Y REGLAS DE RESERVA</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FFFFFF"/>
                </a:solidFill>
                <a:latin typeface="Arial"/>
              </a:defRPr>
            </a:pPr>
            <a:r>
              <a:t>La última plaza se decide en una transacción</a:t>
            </a:r>
          </a:p>
        </p:txBody>
      </p:sp>
      <p:sp>
        <p:nvSpPr>
          <p:cNvPr id="4" name="Rounded Rectangle 3"/>
          <p:cNvSpPr/>
          <p:nvPr/>
        </p:nvSpPr>
        <p:spPr>
          <a:xfrm>
            <a:off x="508000" y="1917700"/>
            <a:ext cx="7366000" cy="33274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120900"/>
            <a:ext cx="6858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8CA8D9"/>
                </a:solidFill>
                <a:latin typeface="Arial"/>
              </a:defRPr>
            </a:pPr>
            <a:r>
              <a:t>EXTRACTO REAL · GymUseCases._validate</a:t>
            </a:r>
          </a:p>
        </p:txBody>
      </p:sp>
      <p:sp>
        <p:nvSpPr>
          <p:cNvPr id="6" name="TextBox 5"/>
          <p:cNvSpPr txBox="1"/>
          <p:nvPr/>
        </p:nvSpPr>
        <p:spPr>
          <a:xfrm>
            <a:off x="736600" y="2527300"/>
            <a:ext cx="6959600" cy="1725396"/>
          </a:xfrm>
          <a:prstGeom prst="rect">
            <a:avLst/>
          </a:prstGeom>
          <a:noFill/>
        </p:spPr>
        <p:txBody>
          <a:bodyPr wrap="none" lIns="0" rIns="0" tIns="0" bIns="0" anchor="t">
            <a:spAutoFit/>
          </a:bodyPr>
          <a:lstStyle/>
          <a:p>
            <a:pPr algn="l">
              <a:lnSpc>
                <a:spcPts val="1476"/>
              </a:lnSpc>
              <a:spcBef>
                <a:spcPts val="0"/>
              </a:spcBef>
              <a:spcAft>
                <a:spcPts val="0"/>
              </a:spcAft>
              <a:defRPr sz="1210" b="0">
                <a:solidFill>
                  <a:srgbClr val="E2E8F0"/>
                </a:solidFill>
                <a:latin typeface="Courier New"/>
              </a:defRPr>
            </a:pPr>
            <a:r>
              <a:t>clase = self._require(Clase, entity.id_clase, lock=True)</a:t>
            </a:r>
          </a:p>
          <a:p>
            <a:pPr algn="l">
              <a:lnSpc>
                <a:spcPts val="1476"/>
              </a:lnSpc>
              <a:spcBef>
                <a:spcPts val="0"/>
              </a:spcBef>
              <a:spcAft>
                <a:spcPts val="0"/>
              </a:spcAft>
              <a:defRPr sz="1210" b="0">
                <a:solidFill>
                  <a:srgbClr val="E2E8F0"/>
                </a:solidFill>
                <a:latin typeface="Courier New"/>
              </a:defRPr>
            </a:pPr>
          </a:p>
          <a:p>
            <a:pPr algn="l">
              <a:lnSpc>
                <a:spcPts val="1476"/>
              </a:lnSpc>
              <a:spcBef>
                <a:spcPts val="0"/>
              </a:spcBef>
              <a:spcAft>
                <a:spcPts val="0"/>
              </a:spcAft>
              <a:defRPr sz="1210" b="0">
                <a:solidFill>
                  <a:srgbClr val="E2E8F0"/>
                </a:solidFill>
                <a:latin typeface="Courier New"/>
              </a:defRPr>
            </a:pPr>
            <a:r>
              <a:t>if cliente.estado_membresia != "Activo":</a:t>
            </a:r>
          </a:p>
          <a:p>
            <a:pPr algn="l">
              <a:lnSpc>
                <a:spcPts val="1476"/>
              </a:lnSpc>
              <a:spcBef>
                <a:spcPts val="0"/>
              </a:spcBef>
              <a:spcAft>
                <a:spcPts val="0"/>
              </a:spcAft>
              <a:defRPr sz="1210" b="0">
                <a:solidFill>
                  <a:srgbClr val="E2E8F0"/>
                </a:solidFill>
                <a:latin typeface="Courier New"/>
              </a:defRPr>
            </a:pPr>
            <a:r>
              <a:t>    raise ConflictError(</a:t>
            </a:r>
          </a:p>
          <a:p>
            <a:pPr algn="l">
              <a:lnSpc>
                <a:spcPts val="1476"/>
              </a:lnSpc>
              <a:spcBef>
                <a:spcPts val="0"/>
              </a:spcBef>
              <a:spcAft>
                <a:spcPts val="0"/>
              </a:spcAft>
              <a:defRPr sz="1210" b="0">
                <a:solidFill>
                  <a:srgbClr val="E2E8F0"/>
                </a:solidFill>
                <a:latin typeface="Courier New"/>
              </a:defRPr>
            </a:pPr>
            <a:r>
              <a:t>        "Solo los clientes activos pueden reservar"</a:t>
            </a:r>
          </a:p>
          <a:p>
            <a:pPr algn="l">
              <a:lnSpc>
                <a:spcPts val="1476"/>
              </a:lnSpc>
              <a:spcBef>
                <a:spcPts val="0"/>
              </a:spcBef>
              <a:spcAft>
                <a:spcPts val="0"/>
              </a:spcAft>
              <a:defRPr sz="1210" b="0">
                <a:solidFill>
                  <a:srgbClr val="E2E8F0"/>
                </a:solidFill>
                <a:latin typeface="Courier New"/>
              </a:defRPr>
            </a:pPr>
            <a:r>
              <a:t>    )</a:t>
            </a:r>
          </a:p>
          <a:p>
            <a:pPr algn="l">
              <a:lnSpc>
                <a:spcPts val="1476"/>
              </a:lnSpc>
              <a:spcBef>
                <a:spcPts val="0"/>
              </a:spcBef>
              <a:spcAft>
                <a:spcPts val="0"/>
              </a:spcAft>
              <a:defRPr sz="1210" b="0">
                <a:solidFill>
                  <a:srgbClr val="E2E8F0"/>
                </a:solidFill>
                <a:latin typeface="Courier New"/>
              </a:defRPr>
            </a:pPr>
          </a:p>
          <a:p>
            <a:pPr algn="l">
              <a:lnSpc>
                <a:spcPts val="1476"/>
              </a:lnSpc>
              <a:spcBef>
                <a:spcPts val="0"/>
              </a:spcBef>
              <a:spcAft>
                <a:spcPts val="0"/>
              </a:spcAft>
              <a:defRPr sz="1210" b="0">
                <a:solidFill>
                  <a:srgbClr val="E2E8F0"/>
                </a:solidFill>
                <a:latin typeface="Courier New"/>
              </a:defRPr>
            </a:pPr>
            <a:r>
              <a:t>if ocupacion &gt;= clase.capacidad_max:</a:t>
            </a:r>
          </a:p>
          <a:p>
            <a:pPr algn="l">
              <a:lnSpc>
                <a:spcPts val="1476"/>
              </a:lnSpc>
              <a:spcBef>
                <a:spcPts val="0"/>
              </a:spcBef>
              <a:spcAft>
                <a:spcPts val="0"/>
              </a:spcAft>
              <a:defRPr sz="1210" b="0">
                <a:solidFill>
                  <a:srgbClr val="E2E8F0"/>
                </a:solidFill>
                <a:latin typeface="Courier New"/>
              </a:defRPr>
            </a:pPr>
            <a:r>
              <a:t>    raise ConflictError("La clase no tiene plazas disponibles")</a:t>
            </a:r>
          </a:p>
        </p:txBody>
      </p:sp>
      <p:sp>
        <p:nvSpPr>
          <p:cNvPr id="7" name="TextBox 6"/>
          <p:cNvSpPr txBox="1"/>
          <p:nvPr/>
        </p:nvSpPr>
        <p:spPr>
          <a:xfrm>
            <a:off x="736600" y="4953000"/>
            <a:ext cx="6858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8CA8D9"/>
                </a:solidFill>
                <a:latin typeface="Arial"/>
              </a:defRPr>
            </a:pPr>
            <a:r>
              <a:t>Extracto con líneas intermedias omitidas: también valida pago y unicidad.</a:t>
            </a:r>
          </a:p>
        </p:txBody>
      </p:sp>
      <p:sp>
        <p:nvSpPr>
          <p:cNvPr id="8" name="TextBox 7"/>
          <p:cNvSpPr txBox="1"/>
          <p:nvPr/>
        </p:nvSpPr>
        <p:spPr>
          <a:xfrm>
            <a:off x="8343900" y="2044700"/>
            <a:ext cx="33020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FF7A1A"/>
                </a:solidFill>
                <a:latin typeface="Arial"/>
              </a:defRPr>
            </a:pPr>
            <a:r>
              <a:t>BLOQUEO DE LA CLASE</a:t>
            </a:r>
          </a:p>
        </p:txBody>
      </p:sp>
      <p:sp>
        <p:nvSpPr>
          <p:cNvPr id="9" name="TextBox 8"/>
          <p:cNvSpPr txBox="1"/>
          <p:nvPr/>
        </p:nvSpPr>
        <p:spPr>
          <a:xfrm>
            <a:off x="8343900" y="2501900"/>
            <a:ext cx="3302000" cy="843788"/>
          </a:xfrm>
          <a:prstGeom prst="rect">
            <a:avLst/>
          </a:prstGeom>
          <a:noFill/>
        </p:spPr>
        <p:txBody>
          <a:bodyPr wrap="none" lIns="0" rIns="0" tIns="0" bIns="0" anchor="t">
            <a:spAutoFit/>
          </a:bodyPr>
          <a:lstStyle/>
          <a:p>
            <a:pPr algn="l">
              <a:lnSpc>
                <a:spcPts val="3172"/>
              </a:lnSpc>
              <a:spcBef>
                <a:spcPts val="0"/>
              </a:spcBef>
              <a:spcAft>
                <a:spcPts val="0"/>
              </a:spcAft>
              <a:defRPr sz="2600" b="1">
                <a:solidFill>
                  <a:srgbClr val="FFFFFF"/>
                </a:solidFill>
                <a:latin typeface="Arial"/>
              </a:defRPr>
            </a:pPr>
            <a:r>
              <a:t>Dos peticiones.</a:t>
            </a:r>
          </a:p>
          <a:p>
            <a:pPr algn="l">
              <a:lnSpc>
                <a:spcPts val="3172"/>
              </a:lnSpc>
              <a:spcBef>
                <a:spcPts val="0"/>
              </a:spcBef>
              <a:spcAft>
                <a:spcPts val="0"/>
              </a:spcAft>
              <a:defRPr sz="2600" b="1">
                <a:solidFill>
                  <a:srgbClr val="FFFFFF"/>
                </a:solidFill>
                <a:latin typeface="Arial"/>
              </a:defRPr>
            </a:pPr>
            <a:r>
              <a:t>Una plaza libre.</a:t>
            </a:r>
          </a:p>
        </p:txBody>
      </p:sp>
      <p:sp>
        <p:nvSpPr>
          <p:cNvPr id="10" name="Rounded Rectangle 9"/>
          <p:cNvSpPr/>
          <p:nvPr/>
        </p:nvSpPr>
        <p:spPr>
          <a:xfrm>
            <a:off x="8343900" y="3632200"/>
            <a:ext cx="3213100" cy="342900"/>
          </a:xfrm>
          <a:prstGeom prst="roundRect">
            <a:avLst>
              <a:gd name="adj" fmla="val 10000"/>
            </a:avLst>
          </a:prstGeom>
          <a:solidFill>
            <a:srgbClr val="153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3695700"/>
            <a:ext cx="29845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99F6CB"/>
                </a:solidFill>
                <a:latin typeface="Arial"/>
              </a:defRPr>
            </a:pPr>
            <a:r>
              <a:t>201 · reserva creada</a:t>
            </a:r>
          </a:p>
        </p:txBody>
      </p:sp>
      <p:sp>
        <p:nvSpPr>
          <p:cNvPr id="12" name="Rounded Rectangle 11"/>
          <p:cNvSpPr/>
          <p:nvPr/>
        </p:nvSpPr>
        <p:spPr>
          <a:xfrm>
            <a:off x="8343900" y="4152900"/>
            <a:ext cx="3213100" cy="342900"/>
          </a:xfrm>
          <a:prstGeom prst="roundRect">
            <a:avLst>
              <a:gd name="adj" fmla="val 10000"/>
            </a:avLst>
          </a:prstGeom>
          <a:solidFill>
            <a:srgbClr val="492F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4216400"/>
            <a:ext cx="29845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FDBA74"/>
                </a:solidFill>
                <a:latin typeface="Arial"/>
              </a:defRPr>
            </a:pPr>
            <a:r>
              <a:t>409 · sin plaza</a:t>
            </a:r>
          </a:p>
        </p:txBody>
      </p:sp>
      <p:sp>
        <p:nvSpPr>
          <p:cNvPr id="14" name="TextBox 13"/>
          <p:cNvSpPr txBox="1"/>
          <p:nvPr/>
        </p:nvSpPr>
        <p:spPr>
          <a:xfrm>
            <a:off x="8343900" y="4851400"/>
            <a:ext cx="33020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B6C4E0"/>
                </a:solidFill>
                <a:latin typeface="Arial"/>
              </a:defRPr>
            </a:pPr>
            <a:r>
              <a:t>SQLAlchemy usa</a:t>
            </a:r>
          </a:p>
          <a:p>
            <a:pPr algn="l">
              <a:lnSpc>
                <a:spcPts val="1952"/>
              </a:lnSpc>
              <a:spcBef>
                <a:spcPts val="0"/>
              </a:spcBef>
              <a:spcAft>
                <a:spcPts val="0"/>
              </a:spcAft>
              <a:defRPr sz="1600" b="0">
                <a:solidFill>
                  <a:srgbClr val="B6C4E0"/>
                </a:solidFill>
                <a:latin typeface="Arial"/>
              </a:defRPr>
            </a:pPr>
            <a:r>
              <a:t>with_for_update().</a:t>
            </a:r>
          </a:p>
        </p:txBody>
      </p:sp>
      <p:sp>
        <p:nvSpPr>
          <p:cNvPr id="15" name="TextBox 14"/>
          <p:cNvSpPr txBox="1"/>
          <p:nvPr/>
        </p:nvSpPr>
        <p:spPr>
          <a:xfrm>
            <a:off x="508000" y="5778500"/>
            <a:ext cx="11176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C7D3EA"/>
                </a:solidFill>
                <a:latin typeface="Arial"/>
              </a:defRPr>
            </a:pPr>
            <a:r>
              <a:t>Naming: snake_case en funciones/variables · PascalCase en clases · CONSTANTES</a:t>
            </a:r>
          </a:p>
        </p:txBody>
      </p:sp>
      <p:cxnSp>
        <p:nvCxnSpPr>
          <p:cNvPr id="16" name="Connector 15"/>
          <p:cNvCxnSpPr/>
          <p:nvPr/>
        </p:nvCxnSpPr>
        <p:spPr>
          <a:xfrm>
            <a:off x="508000" y="6311900"/>
            <a:ext cx="11176000" cy="0"/>
          </a:xfrm>
          <a:prstGeom prst="line">
            <a:avLst/>
          </a:prstGeom>
          <a:ln w="7620">
            <a:solidFill>
              <a:srgbClr val="61718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FFFFFF"/>
                </a:solidFill>
                <a:latin typeface="Arial"/>
              </a:defRPr>
            </a:pPr>
            <a:r>
              <a:t>GYMFLOW</a:t>
            </a:r>
          </a:p>
        </p:txBody>
      </p:sp>
      <p:sp>
        <p:nvSpPr>
          <p:cNvPr id="18" name="TextBox 17"/>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B6C4E0"/>
                </a:solidFill>
                <a:latin typeface="Arial"/>
              </a:defRPr>
            </a:pPr>
            <a:r>
              <a:t>Fabiana · Backend | 10:50–12:00</a:t>
            </a:r>
          </a:p>
        </p:txBody>
      </p:sp>
      <p:sp>
        <p:nvSpPr>
          <p:cNvPr id="19" name="TextBox 18"/>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B6C4E0"/>
                </a:solidFill>
                <a:latin typeface="Arial"/>
              </a:defRPr>
            </a:pPr>
            <a:r>
              <a:t>12 / 20</a:t>
            </a:r>
          </a:p>
        </p:txBody>
      </p:sp>
      <p:sp>
        <p:nvSpPr>
          <p:cNvPr id="20" name="Rectangle 19"/>
          <p:cNvSpPr/>
          <p:nvPr/>
        </p:nvSpPr>
        <p:spPr>
          <a:xfrm>
            <a:off x="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384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768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536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12 · EXPERIENCIA E INTERFAZ</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Una interfaz que hace visible el estado del gimnasio</a:t>
            </a:r>
          </a:p>
        </p:txBody>
      </p:sp>
      <p:sp>
        <p:nvSpPr>
          <p:cNvPr id="4" name="Rounded Rectangle 3"/>
          <p:cNvSpPr/>
          <p:nvPr/>
        </p:nvSpPr>
        <p:spPr>
          <a:xfrm>
            <a:off x="508000" y="1930400"/>
            <a:ext cx="8343900" cy="4089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930400"/>
            <a:ext cx="8343900" cy="292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5000" y="20320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7400" y="20320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9800" y="20320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6500" y="1993900"/>
            <a:ext cx="7518400" cy="177546"/>
          </a:xfrm>
          <a:prstGeom prst="rect">
            <a:avLst/>
          </a:prstGeom>
          <a:noFill/>
        </p:spPr>
        <p:txBody>
          <a:bodyPr wrap="none" lIns="0" rIns="0" tIns="0" bIns="0" anchor="t">
            <a:spAutoFit/>
          </a:bodyPr>
          <a:lstStyle/>
          <a:p>
            <a:pPr algn="l">
              <a:lnSpc>
                <a:spcPts val="1098"/>
              </a:lnSpc>
              <a:spcBef>
                <a:spcPts val="0"/>
              </a:spcBef>
              <a:spcAft>
                <a:spcPts val="0"/>
              </a:spcAft>
              <a:defRPr sz="900" b="0">
                <a:solidFill>
                  <a:srgbClr val="475569"/>
                </a:solidFill>
                <a:latin typeface="Arial"/>
              </a:defRPr>
            </a:pPr>
            <a:r>
              <a:t>Perfil real · Angular conectado a la API</a:t>
            </a:r>
          </a:p>
        </p:txBody>
      </p:sp>
      <p:pic>
        <p:nvPicPr>
          <p:cNvPr id="10" name="Picture 9" descr="perfil.png"/>
          <p:cNvPicPr>
            <a:picLocks noChangeAspect="1"/>
          </p:cNvPicPr>
          <p:nvPr/>
        </p:nvPicPr>
        <p:blipFill>
          <a:blip r:embed="rId2"/>
          <a:stretch>
            <a:fillRect/>
          </a:stretch>
        </p:blipFill>
        <p:spPr>
          <a:xfrm>
            <a:off x="1662429" y="2235200"/>
            <a:ext cx="6035040" cy="3771900"/>
          </a:xfrm>
          <a:prstGeom prst="rect">
            <a:avLst/>
          </a:prstGeom>
        </p:spPr>
      </p:pic>
      <p:sp>
        <p:nvSpPr>
          <p:cNvPr id="11" name="Rounded Rectangle 10"/>
          <p:cNvSpPr/>
          <p:nvPr/>
        </p:nvSpPr>
        <p:spPr>
          <a:xfrm>
            <a:off x="9448800" y="1943100"/>
            <a:ext cx="1993900" cy="36957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ovil-login.png"/>
          <p:cNvPicPr>
            <a:picLocks noChangeAspect="1"/>
          </p:cNvPicPr>
          <p:nvPr/>
        </p:nvPicPr>
        <p:blipFill>
          <a:blip r:embed="rId3"/>
          <a:stretch>
            <a:fillRect/>
          </a:stretch>
        </p:blipFill>
        <p:spPr>
          <a:xfrm>
            <a:off x="9644702" y="2057400"/>
            <a:ext cx="1602095" cy="3467100"/>
          </a:xfrm>
          <a:prstGeom prst="rect">
            <a:avLst/>
          </a:prstGeom>
        </p:spPr>
      </p:pic>
      <p:sp>
        <p:nvSpPr>
          <p:cNvPr id="13" name="Rounded Rectangle 12"/>
          <p:cNvSpPr/>
          <p:nvPr/>
        </p:nvSpPr>
        <p:spPr>
          <a:xfrm>
            <a:off x="533400" y="5575300"/>
            <a:ext cx="1625600" cy="3429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700" y="5638800"/>
            <a:ext cx="13970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1F5EFF"/>
                </a:solidFill>
                <a:latin typeface="Arial"/>
              </a:defRPr>
            </a:pPr>
            <a:r>
              <a:t>Angular 22</a:t>
            </a:r>
          </a:p>
        </p:txBody>
      </p:sp>
      <p:sp>
        <p:nvSpPr>
          <p:cNvPr id="15" name="Rounded Rectangle 14"/>
          <p:cNvSpPr/>
          <p:nvPr/>
        </p:nvSpPr>
        <p:spPr>
          <a:xfrm>
            <a:off x="2336800" y="5575300"/>
            <a:ext cx="1651000" cy="3429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51100" y="5638800"/>
            <a:ext cx="14224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1F5EFF"/>
                </a:solidFill>
                <a:latin typeface="Arial"/>
              </a:defRPr>
            </a:pPr>
            <a:r>
              <a:t>TypeScript</a:t>
            </a:r>
          </a:p>
        </p:txBody>
      </p:sp>
      <p:sp>
        <p:nvSpPr>
          <p:cNvPr id="17" name="Rounded Rectangle 16"/>
          <p:cNvSpPr/>
          <p:nvPr/>
        </p:nvSpPr>
        <p:spPr>
          <a:xfrm>
            <a:off x="4165600" y="5575300"/>
            <a:ext cx="2374900" cy="3429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9900" y="5638800"/>
            <a:ext cx="21463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1F5EFF"/>
                </a:solidFill>
                <a:latin typeface="Arial"/>
              </a:defRPr>
            </a:pPr>
            <a:r>
              <a:t>Tailwind + Spartan</a:t>
            </a:r>
          </a:p>
        </p:txBody>
      </p:sp>
      <p:sp>
        <p:nvSpPr>
          <p:cNvPr id="19" name="TextBox 18"/>
          <p:cNvSpPr txBox="1"/>
          <p:nvPr/>
        </p:nvSpPr>
        <p:spPr>
          <a:xfrm>
            <a:off x="9372600" y="5689600"/>
            <a:ext cx="2324100" cy="595884"/>
          </a:xfrm>
          <a:prstGeom prst="rect">
            <a:avLst/>
          </a:prstGeom>
          <a:noFill/>
        </p:spPr>
        <p:txBody>
          <a:bodyPr wrap="none" lIns="0" rIns="0" tIns="0" bIns="0" anchor="t">
            <a:spAutoFit/>
          </a:bodyPr>
          <a:lstStyle/>
          <a:p>
            <a:pPr algn="l">
              <a:lnSpc>
                <a:spcPts val="1464"/>
              </a:lnSpc>
              <a:spcBef>
                <a:spcPts val="0"/>
              </a:spcBef>
              <a:spcAft>
                <a:spcPts val="0"/>
              </a:spcAft>
              <a:defRPr sz="1200" b="0">
                <a:solidFill>
                  <a:srgbClr val="475569"/>
                </a:solidFill>
                <a:latin typeface="Arial"/>
              </a:defRPr>
            </a:pPr>
            <a:r>
              <a:t>Componentes</a:t>
            </a:r>
          </a:p>
          <a:p>
            <a:pPr algn="l">
              <a:lnSpc>
                <a:spcPts val="1464"/>
              </a:lnSpc>
              <a:spcBef>
                <a:spcPts val="0"/>
              </a:spcBef>
              <a:spcAft>
                <a:spcPts val="0"/>
              </a:spcAft>
              <a:defRPr sz="1200" b="0">
                <a:solidFill>
                  <a:srgbClr val="475569"/>
                </a:solidFill>
                <a:latin typeface="Arial"/>
              </a:defRPr>
            </a:pPr>
            <a:r>
              <a:t>reutilizables.</a:t>
            </a:r>
          </a:p>
          <a:p>
            <a:pPr algn="l">
              <a:lnSpc>
                <a:spcPts val="1464"/>
              </a:lnSpc>
              <a:spcBef>
                <a:spcPts val="0"/>
              </a:spcBef>
              <a:spcAft>
                <a:spcPts val="0"/>
              </a:spcAft>
              <a:defRPr sz="1200" b="0">
                <a:solidFill>
                  <a:srgbClr val="475569"/>
                </a:solidFill>
                <a:latin typeface="Arial"/>
              </a:defRPr>
            </a:pPr>
            <a:r>
              <a:t>Diseño adaptable.</a:t>
            </a:r>
          </a:p>
        </p:txBody>
      </p:sp>
      <p:cxnSp>
        <p:nvCxnSpPr>
          <p:cNvPr id="20" name="Connector 19"/>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2" name="TextBox 21"/>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Brian · Frontend | 12:00–13:00</a:t>
            </a:r>
          </a:p>
        </p:txBody>
      </p:sp>
      <p:sp>
        <p:nvSpPr>
          <p:cNvPr id="23" name="TextBox 22"/>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13 / 20</a:t>
            </a:r>
          </a:p>
        </p:txBody>
      </p:sp>
      <p:sp>
        <p:nvSpPr>
          <p:cNvPr id="24" name="Rectangle 23"/>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13 · INTEGRACIÓN Y CÓDIGO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De la pantalla a la API, con un contrato compartido</a:t>
            </a:r>
          </a:p>
        </p:txBody>
      </p:sp>
      <p:sp>
        <p:nvSpPr>
          <p:cNvPr id="4" name="Rounded Rectangle 3"/>
          <p:cNvSpPr/>
          <p:nvPr/>
        </p:nvSpPr>
        <p:spPr>
          <a:xfrm>
            <a:off x="508000" y="1917700"/>
            <a:ext cx="3708400" cy="812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2070100"/>
            <a:ext cx="34036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Página / componente</a:t>
            </a:r>
          </a:p>
        </p:txBody>
      </p:sp>
      <p:sp>
        <p:nvSpPr>
          <p:cNvPr id="6" name="TextBox 5"/>
          <p:cNvSpPr txBox="1"/>
          <p:nvPr/>
        </p:nvSpPr>
        <p:spPr>
          <a:xfrm>
            <a:off x="660400" y="2400300"/>
            <a:ext cx="34036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Interacción y formulario</a:t>
            </a:r>
          </a:p>
        </p:txBody>
      </p:sp>
      <p:cxnSp>
        <p:nvCxnSpPr>
          <p:cNvPr id="7" name="Connector 6"/>
          <p:cNvCxnSpPr/>
          <p:nvPr/>
        </p:nvCxnSpPr>
        <p:spPr>
          <a:xfrm>
            <a:off x="2362200" y="2755900"/>
            <a:ext cx="0" cy="12700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8000" y="2908300"/>
            <a:ext cx="3708400" cy="812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3060700"/>
            <a:ext cx="34036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Servicio de recurso</a:t>
            </a:r>
          </a:p>
        </p:txBody>
      </p:sp>
      <p:sp>
        <p:nvSpPr>
          <p:cNvPr id="10" name="TextBox 9"/>
          <p:cNvSpPr txBox="1"/>
          <p:nvPr/>
        </p:nvSpPr>
        <p:spPr>
          <a:xfrm>
            <a:off x="660400" y="3390900"/>
            <a:ext cx="34036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Contrato y llamada HTTP</a:t>
            </a:r>
          </a:p>
        </p:txBody>
      </p:sp>
      <p:cxnSp>
        <p:nvCxnSpPr>
          <p:cNvPr id="11" name="Connector 10"/>
          <p:cNvCxnSpPr/>
          <p:nvPr/>
        </p:nvCxnSpPr>
        <p:spPr>
          <a:xfrm>
            <a:off x="2362200" y="3746500"/>
            <a:ext cx="0" cy="12700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000" y="3898900"/>
            <a:ext cx="3708400" cy="812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400" y="4051300"/>
            <a:ext cx="34036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Interceptor</a:t>
            </a:r>
          </a:p>
        </p:txBody>
      </p:sp>
      <p:sp>
        <p:nvSpPr>
          <p:cNvPr id="14" name="TextBox 13"/>
          <p:cNvSpPr txBox="1"/>
          <p:nvPr/>
        </p:nvSpPr>
        <p:spPr>
          <a:xfrm>
            <a:off x="660400" y="4381500"/>
            <a:ext cx="34036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Bearer JWT y respuesta 401</a:t>
            </a:r>
          </a:p>
        </p:txBody>
      </p:sp>
      <p:cxnSp>
        <p:nvCxnSpPr>
          <p:cNvPr id="15" name="Connector 14"/>
          <p:cNvCxnSpPr/>
          <p:nvPr/>
        </p:nvCxnSpPr>
        <p:spPr>
          <a:xfrm>
            <a:off x="2362200" y="4737100"/>
            <a:ext cx="0" cy="127000"/>
          </a:xfrm>
          <a:prstGeom prst="line">
            <a:avLst/>
          </a:prstGeom>
          <a:ln w="1905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8000" y="4889500"/>
            <a:ext cx="3708400" cy="812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5041900"/>
            <a:ext cx="34036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API /v1</a:t>
            </a:r>
          </a:p>
        </p:txBody>
      </p:sp>
      <p:sp>
        <p:nvSpPr>
          <p:cNvPr id="18" name="TextBox 17"/>
          <p:cNvSpPr txBox="1"/>
          <p:nvPr/>
        </p:nvSpPr>
        <p:spPr>
          <a:xfrm>
            <a:off x="660400" y="5372100"/>
            <a:ext cx="34036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Reglas y permisos reales</a:t>
            </a:r>
          </a:p>
        </p:txBody>
      </p:sp>
      <p:sp>
        <p:nvSpPr>
          <p:cNvPr id="19" name="Rounded Rectangle 18"/>
          <p:cNvSpPr/>
          <p:nvPr/>
        </p:nvSpPr>
        <p:spPr>
          <a:xfrm>
            <a:off x="4749800" y="1917700"/>
            <a:ext cx="6934200" cy="24511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78400" y="2146300"/>
            <a:ext cx="64516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8CA8D9"/>
                </a:solidFill>
                <a:latin typeface="Arial"/>
              </a:defRPr>
            </a:pPr>
            <a:r>
              <a:t>auth.interceptor.ts · extracto real</a:t>
            </a:r>
          </a:p>
        </p:txBody>
      </p:sp>
      <p:sp>
        <p:nvSpPr>
          <p:cNvPr id="21" name="TextBox 20"/>
          <p:cNvSpPr txBox="1"/>
          <p:nvPr/>
        </p:nvSpPr>
        <p:spPr>
          <a:xfrm>
            <a:off x="4978400" y="2552700"/>
            <a:ext cx="6451600" cy="1463548"/>
          </a:xfrm>
          <a:prstGeom prst="rect">
            <a:avLst/>
          </a:prstGeom>
          <a:noFill/>
        </p:spPr>
        <p:txBody>
          <a:bodyPr wrap="none" lIns="0" rIns="0" tIns="0" bIns="0" anchor="t">
            <a:spAutoFit/>
          </a:bodyPr>
          <a:lstStyle/>
          <a:p>
            <a:pPr algn="l">
              <a:lnSpc>
                <a:spcPts val="1403"/>
              </a:lnSpc>
              <a:spcBef>
                <a:spcPts val="0"/>
              </a:spcBef>
              <a:spcAft>
                <a:spcPts val="0"/>
              </a:spcAft>
              <a:defRPr sz="1150" b="0">
                <a:solidFill>
                  <a:srgbClr val="E2E8F0"/>
                </a:solidFill>
                <a:latin typeface="Courier New"/>
              </a:defRPr>
            </a:pPr>
            <a:r>
              <a:t>const token = leerToken();</a:t>
            </a:r>
          </a:p>
          <a:p>
            <a:pPr algn="l">
              <a:lnSpc>
                <a:spcPts val="1403"/>
              </a:lnSpc>
              <a:spcBef>
                <a:spcPts val="0"/>
              </a:spcBef>
              <a:spcAft>
                <a:spcPts val="0"/>
              </a:spcAft>
              <a:defRPr sz="1150" b="0">
                <a:solidFill>
                  <a:srgbClr val="E2E8F0"/>
                </a:solidFill>
                <a:latin typeface="Courier New"/>
              </a:defRPr>
            </a:pPr>
            <a:r>
              <a:t>const esApi = req.url.startsWith(RUTA_API);</a:t>
            </a:r>
          </a:p>
          <a:p>
            <a:pPr algn="l">
              <a:lnSpc>
                <a:spcPts val="1403"/>
              </a:lnSpc>
              <a:spcBef>
                <a:spcPts val="0"/>
              </a:spcBef>
              <a:spcAft>
                <a:spcPts val="0"/>
              </a:spcAft>
              <a:defRPr sz="1150" b="0">
                <a:solidFill>
                  <a:srgbClr val="E2E8F0"/>
                </a:solidFill>
                <a:latin typeface="Courier New"/>
              </a:defRPr>
            </a:pPr>
            <a:r>
              <a:t>const peticion =</a:t>
            </a:r>
          </a:p>
          <a:p>
            <a:pPr algn="l">
              <a:lnSpc>
                <a:spcPts val="1403"/>
              </a:lnSpc>
              <a:spcBef>
                <a:spcPts val="0"/>
              </a:spcBef>
              <a:spcAft>
                <a:spcPts val="0"/>
              </a:spcAft>
              <a:defRPr sz="1150" b="0">
                <a:solidFill>
                  <a:srgbClr val="E2E8F0"/>
                </a:solidFill>
                <a:latin typeface="Courier New"/>
              </a:defRPr>
            </a:pPr>
            <a:r>
              <a:t>  token &amp;&amp; esApi</a:t>
            </a:r>
          </a:p>
          <a:p>
            <a:pPr algn="l">
              <a:lnSpc>
                <a:spcPts val="1403"/>
              </a:lnSpc>
              <a:spcBef>
                <a:spcPts val="0"/>
              </a:spcBef>
              <a:spcAft>
                <a:spcPts val="0"/>
              </a:spcAft>
              <a:defRPr sz="1150" b="0">
                <a:solidFill>
                  <a:srgbClr val="E2E8F0"/>
                </a:solidFill>
                <a:latin typeface="Courier New"/>
              </a:defRPr>
            </a:pPr>
            <a:r>
              <a:t>    ? req.clone({</a:t>
            </a:r>
          </a:p>
          <a:p>
            <a:pPr algn="l">
              <a:lnSpc>
                <a:spcPts val="1403"/>
              </a:lnSpc>
              <a:spcBef>
                <a:spcPts val="0"/>
              </a:spcBef>
              <a:spcAft>
                <a:spcPts val="0"/>
              </a:spcAft>
              <a:defRPr sz="1150" b="0">
                <a:solidFill>
                  <a:srgbClr val="E2E8F0"/>
                </a:solidFill>
                <a:latin typeface="Courier New"/>
              </a:defRPr>
            </a:pPr>
            <a:r>
              <a:t>        setHeaders: { Authorization: `Bearer ${token}` }</a:t>
            </a:r>
          </a:p>
          <a:p>
            <a:pPr algn="l">
              <a:lnSpc>
                <a:spcPts val="1403"/>
              </a:lnSpc>
              <a:spcBef>
                <a:spcPts val="0"/>
              </a:spcBef>
              <a:spcAft>
                <a:spcPts val="0"/>
              </a:spcAft>
              <a:defRPr sz="1150" b="0">
                <a:solidFill>
                  <a:srgbClr val="E2E8F0"/>
                </a:solidFill>
                <a:latin typeface="Courier New"/>
              </a:defRPr>
            </a:pPr>
            <a:r>
              <a:t>      })</a:t>
            </a:r>
          </a:p>
          <a:p>
            <a:pPr algn="l">
              <a:lnSpc>
                <a:spcPts val="1403"/>
              </a:lnSpc>
              <a:spcBef>
                <a:spcPts val="0"/>
              </a:spcBef>
              <a:spcAft>
                <a:spcPts val="0"/>
              </a:spcAft>
              <a:defRPr sz="1150" b="0">
                <a:solidFill>
                  <a:srgbClr val="E2E8F0"/>
                </a:solidFill>
                <a:latin typeface="Courier New"/>
              </a:defRPr>
            </a:pPr>
            <a:r>
              <a:t>    : req;</a:t>
            </a:r>
          </a:p>
        </p:txBody>
      </p:sp>
      <p:sp>
        <p:nvSpPr>
          <p:cNvPr id="22" name="TextBox 21"/>
          <p:cNvSpPr txBox="1"/>
          <p:nvPr/>
        </p:nvSpPr>
        <p:spPr>
          <a:xfrm>
            <a:off x="4749800" y="4724400"/>
            <a:ext cx="6934200" cy="394462"/>
          </a:xfrm>
          <a:prstGeom prst="rect">
            <a:avLst/>
          </a:prstGeom>
          <a:noFill/>
        </p:spPr>
        <p:txBody>
          <a:bodyPr wrap="none" lIns="0" rIns="0" tIns="0" bIns="0" anchor="t">
            <a:spAutoFit/>
          </a:bodyPr>
          <a:lstStyle/>
          <a:p>
            <a:pPr algn="l">
              <a:lnSpc>
                <a:spcPts val="2806"/>
              </a:lnSpc>
              <a:spcBef>
                <a:spcPts val="0"/>
              </a:spcBef>
              <a:spcAft>
                <a:spcPts val="0"/>
              </a:spcAft>
              <a:defRPr sz="2300" b="1">
                <a:solidFill>
                  <a:srgbClr val="1F5EFF"/>
                </a:solidFill>
                <a:latin typeface="Arial"/>
              </a:defRPr>
            </a:pPr>
            <a:r>
              <a:t>La interfaz orienta. La API autoriza.</a:t>
            </a:r>
          </a:p>
        </p:txBody>
      </p:sp>
      <p:sp>
        <p:nvSpPr>
          <p:cNvPr id="23" name="TextBox 22"/>
          <p:cNvSpPr txBox="1"/>
          <p:nvPr/>
        </p:nvSpPr>
        <p:spPr>
          <a:xfrm>
            <a:off x="4749800" y="5245100"/>
            <a:ext cx="6934200" cy="564896"/>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475569"/>
                </a:solidFill>
                <a:latin typeface="Arial"/>
              </a:defRPr>
            </a:pPr>
            <a:r>
              <a:t>Un 401 con token elimina la sesión local.</a:t>
            </a:r>
          </a:p>
          <a:p>
            <a:pPr algn="l">
              <a:lnSpc>
                <a:spcPts val="2074"/>
              </a:lnSpc>
              <a:spcBef>
                <a:spcPts val="0"/>
              </a:spcBef>
              <a:spcAft>
                <a:spcPts val="0"/>
              </a:spcAft>
              <a:defRPr sz="1700" b="0">
                <a:solidFill>
                  <a:srgbClr val="475569"/>
                </a:solidFill>
                <a:latin typeface="Arial"/>
              </a:defRPr>
            </a:pPr>
            <a:r>
              <a:t>Cupo agregado: disponibilidad sin reservas ajenas.</a:t>
            </a:r>
          </a:p>
        </p:txBody>
      </p:sp>
      <p:cxnSp>
        <p:nvCxnSpPr>
          <p:cNvPr id="24" name="Connector 23"/>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6" name="TextBox 25"/>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Brian · Frontend | 13:00–14:00</a:t>
            </a:r>
          </a:p>
        </p:txBody>
      </p:sp>
      <p:sp>
        <p:nvSpPr>
          <p:cNvPr id="27" name="TextBox 26"/>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14 / 20</a:t>
            </a:r>
          </a:p>
        </p:txBody>
      </p:sp>
      <p:sp>
        <p:nvSpPr>
          <p:cNvPr id="28" name="Rectangle 27"/>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14 · RESERVA, CONSULTA Y CANCELACIÓN</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La demo termina donde el usuario espera</a:t>
            </a:r>
          </a:p>
        </p:txBody>
      </p:sp>
      <p:sp>
        <p:nvSpPr>
          <p:cNvPr id="4" name="Rounded Rectangle 3"/>
          <p:cNvSpPr/>
          <p:nvPr/>
        </p:nvSpPr>
        <p:spPr>
          <a:xfrm>
            <a:off x="508000" y="1943100"/>
            <a:ext cx="7594600" cy="40005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943100"/>
            <a:ext cx="7594600" cy="292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5000" y="20447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7400" y="20447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9800" y="2044700"/>
            <a:ext cx="63500" cy="6350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6500" y="2006600"/>
            <a:ext cx="6769100" cy="177546"/>
          </a:xfrm>
          <a:prstGeom prst="rect">
            <a:avLst/>
          </a:prstGeom>
          <a:noFill/>
        </p:spPr>
        <p:txBody>
          <a:bodyPr wrap="none" lIns="0" rIns="0" tIns="0" bIns="0" anchor="t">
            <a:spAutoFit/>
          </a:bodyPr>
          <a:lstStyle/>
          <a:p>
            <a:pPr algn="l">
              <a:lnSpc>
                <a:spcPts val="1098"/>
              </a:lnSpc>
              <a:spcBef>
                <a:spcPts val="0"/>
              </a:spcBef>
              <a:spcAft>
                <a:spcPts val="0"/>
              </a:spcAft>
              <a:defRPr sz="900" b="0">
                <a:solidFill>
                  <a:srgbClr val="475569"/>
                </a:solidFill>
                <a:latin typeface="Arial"/>
              </a:defRPr>
            </a:pPr>
            <a:r>
              <a:rPr>
                <a:hlinkClick r:id="rId2"/>
              </a:rPr>
              <a:t>Mis reservas · aplicación real</a:t>
            </a:r>
          </a:p>
        </p:txBody>
      </p:sp>
      <p:pic>
        <p:nvPicPr>
          <p:cNvPr id="10" name="Picture 9" descr="reservas.png"/>
          <p:cNvPicPr>
            <a:picLocks noChangeAspect="1"/>
          </p:cNvPicPr>
          <p:nvPr/>
        </p:nvPicPr>
        <p:blipFill>
          <a:blip r:embed="rId3"/>
          <a:stretch>
            <a:fillRect/>
          </a:stretch>
        </p:blipFill>
        <p:spPr>
          <a:xfrm>
            <a:off x="1358899" y="2247900"/>
            <a:ext cx="5892800" cy="3683000"/>
          </a:xfrm>
          <a:prstGeom prst="rect">
            <a:avLst/>
          </a:prstGeom>
        </p:spPr>
      </p:pic>
      <p:sp>
        <p:nvSpPr>
          <p:cNvPr id="11" name="Rounded Rectangle 10"/>
          <p:cNvSpPr/>
          <p:nvPr/>
        </p:nvSpPr>
        <p:spPr>
          <a:xfrm>
            <a:off x="8458200" y="1943100"/>
            <a:ext cx="3225800" cy="4000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61400" y="2260600"/>
            <a:ext cx="444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BBD0FF"/>
                </a:solidFill>
                <a:latin typeface="Arial"/>
              </a:defRPr>
            </a:pPr>
            <a:r>
              <a:t>01</a:t>
            </a:r>
          </a:p>
        </p:txBody>
      </p:sp>
      <p:sp>
        <p:nvSpPr>
          <p:cNvPr id="13" name="TextBox 12"/>
          <p:cNvSpPr txBox="1"/>
          <p:nvPr/>
        </p:nvSpPr>
        <p:spPr>
          <a:xfrm>
            <a:off x="9207500" y="2286000"/>
            <a:ext cx="22479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FFFFFF"/>
                </a:solidFill>
                <a:latin typeface="Arial"/>
              </a:defRPr>
            </a:pPr>
            <a:r>
              <a:t>Consultar clases</a:t>
            </a:r>
          </a:p>
        </p:txBody>
      </p:sp>
      <p:sp>
        <p:nvSpPr>
          <p:cNvPr id="14" name="TextBox 13"/>
          <p:cNvSpPr txBox="1"/>
          <p:nvPr/>
        </p:nvSpPr>
        <p:spPr>
          <a:xfrm>
            <a:off x="8661400" y="2857500"/>
            <a:ext cx="444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BBD0FF"/>
                </a:solidFill>
                <a:latin typeface="Arial"/>
              </a:defRPr>
            </a:pPr>
            <a:r>
              <a:t>02</a:t>
            </a:r>
          </a:p>
        </p:txBody>
      </p:sp>
      <p:sp>
        <p:nvSpPr>
          <p:cNvPr id="15" name="TextBox 14"/>
          <p:cNvSpPr txBox="1"/>
          <p:nvPr/>
        </p:nvSpPr>
        <p:spPr>
          <a:xfrm>
            <a:off x="9207500" y="2882900"/>
            <a:ext cx="22479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FFFFFF"/>
                </a:solidFill>
                <a:latin typeface="Arial"/>
              </a:defRPr>
            </a:pPr>
            <a:r>
              <a:t>Crear la reserva</a:t>
            </a:r>
          </a:p>
        </p:txBody>
      </p:sp>
      <p:sp>
        <p:nvSpPr>
          <p:cNvPr id="16" name="TextBox 15"/>
          <p:cNvSpPr txBox="1"/>
          <p:nvPr/>
        </p:nvSpPr>
        <p:spPr>
          <a:xfrm>
            <a:off x="8661400" y="3454400"/>
            <a:ext cx="444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BBD0FF"/>
                </a:solidFill>
                <a:latin typeface="Arial"/>
              </a:defRPr>
            </a:pPr>
            <a:r>
              <a:t>03</a:t>
            </a:r>
          </a:p>
        </p:txBody>
      </p:sp>
      <p:sp>
        <p:nvSpPr>
          <p:cNvPr id="17" name="TextBox 16"/>
          <p:cNvSpPr txBox="1"/>
          <p:nvPr/>
        </p:nvSpPr>
        <p:spPr>
          <a:xfrm>
            <a:off x="9207500" y="3479800"/>
            <a:ext cx="22479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FFFFFF"/>
                </a:solidFill>
                <a:latin typeface="Arial"/>
              </a:defRPr>
            </a:pPr>
            <a:r>
              <a:t>Ver Mis reservas</a:t>
            </a:r>
          </a:p>
        </p:txBody>
      </p:sp>
      <p:sp>
        <p:nvSpPr>
          <p:cNvPr id="18" name="TextBox 17"/>
          <p:cNvSpPr txBox="1"/>
          <p:nvPr/>
        </p:nvSpPr>
        <p:spPr>
          <a:xfrm>
            <a:off x="8661400" y="4051300"/>
            <a:ext cx="444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BBD0FF"/>
                </a:solidFill>
                <a:latin typeface="Arial"/>
              </a:defRPr>
            </a:pPr>
            <a:r>
              <a:t>04</a:t>
            </a:r>
          </a:p>
        </p:txBody>
      </p:sp>
      <p:sp>
        <p:nvSpPr>
          <p:cNvPr id="19" name="TextBox 18"/>
          <p:cNvSpPr txBox="1"/>
          <p:nvPr/>
        </p:nvSpPr>
        <p:spPr>
          <a:xfrm>
            <a:off x="9207500" y="4076700"/>
            <a:ext cx="22479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FFFFFF"/>
                </a:solidFill>
                <a:latin typeface="Arial"/>
              </a:defRPr>
            </a:pPr>
            <a:r>
              <a:t>Cancelar y confirmar</a:t>
            </a:r>
          </a:p>
        </p:txBody>
      </p:sp>
      <p:sp>
        <p:nvSpPr>
          <p:cNvPr id="20" name="TextBox 19"/>
          <p:cNvSpPr txBox="1"/>
          <p:nvPr/>
        </p:nvSpPr>
        <p:spPr>
          <a:xfrm>
            <a:off x="8661400" y="4648200"/>
            <a:ext cx="4445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BBD0FF"/>
                </a:solidFill>
                <a:latin typeface="Arial"/>
              </a:defRPr>
            </a:pPr>
            <a:r>
              <a:t>05</a:t>
            </a:r>
          </a:p>
        </p:txBody>
      </p:sp>
      <p:sp>
        <p:nvSpPr>
          <p:cNvPr id="21" name="TextBox 20"/>
          <p:cNvSpPr txBox="1"/>
          <p:nvPr/>
        </p:nvSpPr>
        <p:spPr>
          <a:xfrm>
            <a:off x="9207500" y="4673600"/>
            <a:ext cx="22479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FFFFFF"/>
                </a:solidFill>
                <a:latin typeface="Arial"/>
              </a:defRPr>
            </a:pPr>
            <a:r>
              <a:t>Comprobar el cupo</a:t>
            </a:r>
          </a:p>
        </p:txBody>
      </p:sp>
      <p:sp>
        <p:nvSpPr>
          <p:cNvPr id="22" name="Rounded Rectangle 21"/>
          <p:cNvSpPr/>
          <p:nvPr/>
        </p:nvSpPr>
        <p:spPr>
          <a:xfrm>
            <a:off x="508000" y="5524500"/>
            <a:ext cx="3073400" cy="444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400" y="5626100"/>
            <a:ext cx="2768600" cy="255015"/>
          </a:xfrm>
          <a:prstGeom prst="rect">
            <a:avLst/>
          </a:prstGeom>
          <a:noFill/>
        </p:spPr>
        <p:txBody>
          <a:bodyPr wrap="none" lIns="0" rIns="0" tIns="0" bIns="0" anchor="t">
            <a:spAutoFit/>
          </a:bodyPr>
          <a:lstStyle/>
          <a:p>
            <a:pPr algn="l">
              <a:lnSpc>
                <a:spcPts val="1707"/>
              </a:lnSpc>
              <a:spcBef>
                <a:spcPts val="0"/>
              </a:spcBef>
              <a:spcAft>
                <a:spcPts val="0"/>
              </a:spcAft>
              <a:defRPr sz="1400" b="1">
                <a:solidFill>
                  <a:srgbClr val="FFFFFF"/>
                </a:solidFill>
                <a:latin typeface="Arial"/>
              </a:defRPr>
            </a:pPr>
            <a:r>
              <a:rPr>
                <a:hlinkClick r:id="rId2"/>
              </a:rPr>
              <a:t>Continuar demo local</a:t>
            </a:r>
          </a:p>
        </p:txBody>
      </p:sp>
      <p:cxnSp>
        <p:nvCxnSpPr>
          <p:cNvPr id="24" name="Connector 23"/>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6" name="TextBox 25"/>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Brian · Frontend | 14:00–15:25</a:t>
            </a:r>
          </a:p>
        </p:txBody>
      </p:sp>
      <p:sp>
        <p:nvSpPr>
          <p:cNvPr id="27" name="TextBox 26"/>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15 / 20</a:t>
            </a:r>
          </a:p>
        </p:txBody>
      </p:sp>
      <p:sp>
        <p:nvSpPr>
          <p:cNvPr id="28" name="Rectangle 27"/>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15 · ESTADOS Y RESPUESTA AL USUARIO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Los errores también forman parte de la experiencia</a:t>
            </a:r>
          </a:p>
        </p:txBody>
      </p:sp>
      <p:sp>
        <p:nvSpPr>
          <p:cNvPr id="4" name="Rounded Rectangle 3"/>
          <p:cNvSpPr/>
          <p:nvPr/>
        </p:nvSpPr>
        <p:spPr>
          <a:xfrm>
            <a:off x="508000" y="2133600"/>
            <a:ext cx="2603500" cy="3086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400300"/>
            <a:ext cx="2146300" cy="611378"/>
          </a:xfrm>
          <a:prstGeom prst="rect">
            <a:avLst/>
          </a:prstGeom>
          <a:noFill/>
        </p:spPr>
        <p:txBody>
          <a:bodyPr wrap="none" lIns="0" rIns="0" tIns="0" bIns="0" anchor="t">
            <a:spAutoFit/>
          </a:bodyPr>
          <a:lstStyle/>
          <a:p>
            <a:pPr algn="l">
              <a:lnSpc>
                <a:spcPts val="4514"/>
              </a:lnSpc>
              <a:spcBef>
                <a:spcPts val="0"/>
              </a:spcBef>
              <a:spcAft>
                <a:spcPts val="0"/>
              </a:spcAft>
              <a:defRPr sz="3700" b="1">
                <a:solidFill>
                  <a:srgbClr val="1F5EFF"/>
                </a:solidFill>
                <a:latin typeface="Arial"/>
              </a:defRPr>
            </a:pPr>
            <a:r>
              <a:t>401</a:t>
            </a:r>
          </a:p>
        </p:txBody>
      </p:sp>
      <p:sp>
        <p:nvSpPr>
          <p:cNvPr id="6" name="TextBox 5"/>
          <p:cNvSpPr txBox="1"/>
          <p:nvPr/>
        </p:nvSpPr>
        <p:spPr>
          <a:xfrm>
            <a:off x="736600" y="3276600"/>
            <a:ext cx="2146300" cy="347980"/>
          </a:xfrm>
          <a:prstGeom prst="rect">
            <a:avLst/>
          </a:prstGeom>
          <a:noFill/>
        </p:spPr>
        <p:txBody>
          <a:bodyPr wrap="none" lIns="0" rIns="0" tIns="0" bIns="0" anchor="t">
            <a:spAutoFit/>
          </a:bodyPr>
          <a:lstStyle/>
          <a:p>
            <a:pPr algn="l">
              <a:lnSpc>
                <a:spcPts val="2440"/>
              </a:lnSpc>
              <a:spcBef>
                <a:spcPts val="0"/>
              </a:spcBef>
              <a:spcAft>
                <a:spcPts val="0"/>
              </a:spcAft>
              <a:defRPr sz="2000" b="1">
                <a:solidFill>
                  <a:srgbClr val="0F172A"/>
                </a:solidFill>
                <a:latin typeface="Arial"/>
              </a:defRPr>
            </a:pPr>
            <a:r>
              <a:t>Sesión</a:t>
            </a:r>
          </a:p>
        </p:txBody>
      </p:sp>
      <p:sp>
        <p:nvSpPr>
          <p:cNvPr id="7" name="TextBox 6"/>
          <p:cNvSpPr txBox="1"/>
          <p:nvPr/>
        </p:nvSpPr>
        <p:spPr>
          <a:xfrm>
            <a:off x="736600" y="3911600"/>
            <a:ext cx="21463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Volver a identificarse.</a:t>
            </a:r>
          </a:p>
        </p:txBody>
      </p:sp>
      <p:sp>
        <p:nvSpPr>
          <p:cNvPr id="8" name="Rounded Rectangle 7"/>
          <p:cNvSpPr/>
          <p:nvPr/>
        </p:nvSpPr>
        <p:spPr>
          <a:xfrm>
            <a:off x="3365500" y="2133600"/>
            <a:ext cx="2603500" cy="3086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4100" y="2400300"/>
            <a:ext cx="2146300" cy="611378"/>
          </a:xfrm>
          <a:prstGeom prst="rect">
            <a:avLst/>
          </a:prstGeom>
          <a:noFill/>
        </p:spPr>
        <p:txBody>
          <a:bodyPr wrap="none" lIns="0" rIns="0" tIns="0" bIns="0" anchor="t">
            <a:spAutoFit/>
          </a:bodyPr>
          <a:lstStyle/>
          <a:p>
            <a:pPr algn="l">
              <a:lnSpc>
                <a:spcPts val="4514"/>
              </a:lnSpc>
              <a:spcBef>
                <a:spcPts val="0"/>
              </a:spcBef>
              <a:spcAft>
                <a:spcPts val="0"/>
              </a:spcAft>
              <a:defRPr sz="3700" b="1">
                <a:solidFill>
                  <a:srgbClr val="1F5EFF"/>
                </a:solidFill>
                <a:latin typeface="Arial"/>
              </a:defRPr>
            </a:pPr>
            <a:r>
              <a:t>409</a:t>
            </a:r>
          </a:p>
        </p:txBody>
      </p:sp>
      <p:sp>
        <p:nvSpPr>
          <p:cNvPr id="10" name="TextBox 9"/>
          <p:cNvSpPr txBox="1"/>
          <p:nvPr/>
        </p:nvSpPr>
        <p:spPr>
          <a:xfrm>
            <a:off x="3594100" y="3276600"/>
            <a:ext cx="2146300" cy="347980"/>
          </a:xfrm>
          <a:prstGeom prst="rect">
            <a:avLst/>
          </a:prstGeom>
          <a:noFill/>
        </p:spPr>
        <p:txBody>
          <a:bodyPr wrap="none" lIns="0" rIns="0" tIns="0" bIns="0" anchor="t">
            <a:spAutoFit/>
          </a:bodyPr>
          <a:lstStyle/>
          <a:p>
            <a:pPr algn="l">
              <a:lnSpc>
                <a:spcPts val="2440"/>
              </a:lnSpc>
              <a:spcBef>
                <a:spcPts val="0"/>
              </a:spcBef>
              <a:spcAft>
                <a:spcPts val="0"/>
              </a:spcAft>
              <a:defRPr sz="2000" b="1">
                <a:solidFill>
                  <a:srgbClr val="0F172A"/>
                </a:solidFill>
                <a:latin typeface="Arial"/>
              </a:defRPr>
            </a:pPr>
            <a:r>
              <a:t>Conflicto</a:t>
            </a:r>
          </a:p>
        </p:txBody>
      </p:sp>
      <p:sp>
        <p:nvSpPr>
          <p:cNvPr id="11" name="TextBox 10"/>
          <p:cNvSpPr txBox="1"/>
          <p:nvPr/>
        </p:nvSpPr>
        <p:spPr>
          <a:xfrm>
            <a:off x="3594100" y="3911600"/>
            <a:ext cx="21463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Sin plaza o reserva</a:t>
            </a:r>
          </a:p>
          <a:p>
            <a:pPr algn="l">
              <a:lnSpc>
                <a:spcPts val="1952"/>
              </a:lnSpc>
              <a:spcBef>
                <a:spcPts val="0"/>
              </a:spcBef>
              <a:spcAft>
                <a:spcPts val="0"/>
              </a:spcAft>
              <a:defRPr sz="1600" b="0">
                <a:solidFill>
                  <a:srgbClr val="475569"/>
                </a:solidFill>
                <a:latin typeface="Arial"/>
              </a:defRPr>
            </a:pPr>
            <a:r>
              <a:t>duplicada.</a:t>
            </a:r>
          </a:p>
        </p:txBody>
      </p:sp>
      <p:sp>
        <p:nvSpPr>
          <p:cNvPr id="12" name="Rounded Rectangle 11"/>
          <p:cNvSpPr/>
          <p:nvPr/>
        </p:nvSpPr>
        <p:spPr>
          <a:xfrm>
            <a:off x="6223000" y="2133600"/>
            <a:ext cx="2603500" cy="3086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2400300"/>
            <a:ext cx="2146300" cy="611378"/>
          </a:xfrm>
          <a:prstGeom prst="rect">
            <a:avLst/>
          </a:prstGeom>
          <a:noFill/>
        </p:spPr>
        <p:txBody>
          <a:bodyPr wrap="none" lIns="0" rIns="0" tIns="0" bIns="0" anchor="t">
            <a:spAutoFit/>
          </a:bodyPr>
          <a:lstStyle/>
          <a:p>
            <a:pPr algn="l">
              <a:lnSpc>
                <a:spcPts val="4514"/>
              </a:lnSpc>
              <a:spcBef>
                <a:spcPts val="0"/>
              </a:spcBef>
              <a:spcAft>
                <a:spcPts val="0"/>
              </a:spcAft>
              <a:defRPr sz="3700" b="1">
                <a:solidFill>
                  <a:srgbClr val="1F5EFF"/>
                </a:solidFill>
                <a:latin typeface="Arial"/>
              </a:defRPr>
            </a:pPr>
            <a:r>
              <a:t>422</a:t>
            </a:r>
          </a:p>
        </p:txBody>
      </p:sp>
      <p:sp>
        <p:nvSpPr>
          <p:cNvPr id="14" name="TextBox 13"/>
          <p:cNvSpPr txBox="1"/>
          <p:nvPr/>
        </p:nvSpPr>
        <p:spPr>
          <a:xfrm>
            <a:off x="6451600" y="3276600"/>
            <a:ext cx="2146300" cy="347980"/>
          </a:xfrm>
          <a:prstGeom prst="rect">
            <a:avLst/>
          </a:prstGeom>
          <a:noFill/>
        </p:spPr>
        <p:txBody>
          <a:bodyPr wrap="none" lIns="0" rIns="0" tIns="0" bIns="0" anchor="t">
            <a:spAutoFit/>
          </a:bodyPr>
          <a:lstStyle/>
          <a:p>
            <a:pPr algn="l">
              <a:lnSpc>
                <a:spcPts val="2440"/>
              </a:lnSpc>
              <a:spcBef>
                <a:spcPts val="0"/>
              </a:spcBef>
              <a:spcAft>
                <a:spcPts val="0"/>
              </a:spcAft>
              <a:defRPr sz="2000" b="1">
                <a:solidFill>
                  <a:srgbClr val="0F172A"/>
                </a:solidFill>
                <a:latin typeface="Arial"/>
              </a:defRPr>
            </a:pPr>
            <a:r>
              <a:t>Validación</a:t>
            </a:r>
          </a:p>
        </p:txBody>
      </p:sp>
      <p:sp>
        <p:nvSpPr>
          <p:cNvPr id="15" name="TextBox 14"/>
          <p:cNvSpPr txBox="1"/>
          <p:nvPr/>
        </p:nvSpPr>
        <p:spPr>
          <a:xfrm>
            <a:off x="6451600" y="3911600"/>
            <a:ext cx="21463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Corregir los datos del</a:t>
            </a:r>
          </a:p>
          <a:p>
            <a:pPr algn="l">
              <a:lnSpc>
                <a:spcPts val="1952"/>
              </a:lnSpc>
              <a:spcBef>
                <a:spcPts val="0"/>
              </a:spcBef>
              <a:spcAft>
                <a:spcPts val="0"/>
              </a:spcAft>
              <a:defRPr sz="1600" b="0">
                <a:solidFill>
                  <a:srgbClr val="475569"/>
                </a:solidFill>
                <a:latin typeface="Arial"/>
              </a:defRPr>
            </a:pPr>
            <a:r>
              <a:t>formulario.</a:t>
            </a:r>
          </a:p>
        </p:txBody>
      </p:sp>
      <p:sp>
        <p:nvSpPr>
          <p:cNvPr id="16" name="Rounded Rectangle 15"/>
          <p:cNvSpPr/>
          <p:nvPr/>
        </p:nvSpPr>
        <p:spPr>
          <a:xfrm>
            <a:off x="9080500" y="2133600"/>
            <a:ext cx="2603500" cy="30861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9100" y="2400300"/>
            <a:ext cx="2146300" cy="611378"/>
          </a:xfrm>
          <a:prstGeom prst="rect">
            <a:avLst/>
          </a:prstGeom>
          <a:noFill/>
        </p:spPr>
        <p:txBody>
          <a:bodyPr wrap="none" lIns="0" rIns="0" tIns="0" bIns="0" anchor="t">
            <a:spAutoFit/>
          </a:bodyPr>
          <a:lstStyle/>
          <a:p>
            <a:pPr algn="l">
              <a:lnSpc>
                <a:spcPts val="4514"/>
              </a:lnSpc>
              <a:spcBef>
                <a:spcPts val="0"/>
              </a:spcBef>
              <a:spcAft>
                <a:spcPts val="0"/>
              </a:spcAft>
              <a:defRPr sz="3700" b="1">
                <a:solidFill>
                  <a:srgbClr val="1F5EFF"/>
                </a:solidFill>
                <a:latin typeface="Arial"/>
              </a:defRPr>
            </a:pPr>
            <a:r>
              <a:t>Red</a:t>
            </a:r>
          </a:p>
        </p:txBody>
      </p:sp>
      <p:sp>
        <p:nvSpPr>
          <p:cNvPr id="18" name="TextBox 17"/>
          <p:cNvSpPr txBox="1"/>
          <p:nvPr/>
        </p:nvSpPr>
        <p:spPr>
          <a:xfrm>
            <a:off x="9309100" y="3276600"/>
            <a:ext cx="2146300" cy="347980"/>
          </a:xfrm>
          <a:prstGeom prst="rect">
            <a:avLst/>
          </a:prstGeom>
          <a:noFill/>
        </p:spPr>
        <p:txBody>
          <a:bodyPr wrap="none" lIns="0" rIns="0" tIns="0" bIns="0" anchor="t">
            <a:spAutoFit/>
          </a:bodyPr>
          <a:lstStyle/>
          <a:p>
            <a:pPr algn="l">
              <a:lnSpc>
                <a:spcPts val="2440"/>
              </a:lnSpc>
              <a:spcBef>
                <a:spcPts val="0"/>
              </a:spcBef>
              <a:spcAft>
                <a:spcPts val="0"/>
              </a:spcAft>
              <a:defRPr sz="2000" b="1">
                <a:solidFill>
                  <a:srgbClr val="0F172A"/>
                </a:solidFill>
                <a:latin typeface="Arial"/>
              </a:defRPr>
            </a:pPr>
            <a:r>
              <a:t>Conexión</a:t>
            </a:r>
          </a:p>
        </p:txBody>
      </p:sp>
      <p:sp>
        <p:nvSpPr>
          <p:cNvPr id="19" name="TextBox 18"/>
          <p:cNvSpPr txBox="1"/>
          <p:nvPr/>
        </p:nvSpPr>
        <p:spPr>
          <a:xfrm>
            <a:off x="9309100" y="3911600"/>
            <a:ext cx="2146300" cy="533908"/>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Mostrar un mensaje y</a:t>
            </a:r>
          </a:p>
          <a:p>
            <a:pPr algn="l">
              <a:lnSpc>
                <a:spcPts val="1952"/>
              </a:lnSpc>
              <a:spcBef>
                <a:spcPts val="0"/>
              </a:spcBef>
              <a:spcAft>
                <a:spcPts val="0"/>
              </a:spcAft>
              <a:defRPr sz="1600" b="0">
                <a:solidFill>
                  <a:srgbClr val="475569"/>
                </a:solidFill>
                <a:latin typeface="Arial"/>
              </a:defRPr>
            </a:pPr>
            <a:r>
              <a:t>reintentar.</a:t>
            </a:r>
          </a:p>
        </p:txBody>
      </p:sp>
      <p:sp>
        <p:nvSpPr>
          <p:cNvPr id="20" name="TextBox 19"/>
          <p:cNvSpPr txBox="1"/>
          <p:nvPr/>
        </p:nvSpPr>
        <p:spPr>
          <a:xfrm>
            <a:off x="508000" y="5702300"/>
            <a:ext cx="11176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t>117 pruebas de frontend · 26 suites · verificación local del 19/10</a:t>
            </a:r>
          </a:p>
        </p:txBody>
      </p:sp>
      <p:cxnSp>
        <p:nvCxnSpPr>
          <p:cNvPr id="21" name="Connector 20"/>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3" name="TextBox 22"/>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Brian · Frontend | 15:25–16:00</a:t>
            </a:r>
          </a:p>
        </p:txBody>
      </p:sp>
      <p:sp>
        <p:nvSpPr>
          <p:cNvPr id="24" name="TextBox 23"/>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16 / 20</a:t>
            </a:r>
          </a:p>
        </p:txBody>
      </p:sp>
      <p:sp>
        <p:nvSpPr>
          <p:cNvPr id="25" name="Rectangle 24"/>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536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16 · NUBE Y CONTENEDORES</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Una aplicación desplegable, con datos persistentes</a:t>
            </a:r>
          </a:p>
        </p:txBody>
      </p:sp>
      <p:sp>
        <p:nvSpPr>
          <p:cNvPr id="4" name="Rounded Rectangle 3"/>
          <p:cNvSpPr/>
          <p:nvPr/>
        </p:nvSpPr>
        <p:spPr>
          <a:xfrm>
            <a:off x="508000" y="2413000"/>
            <a:ext cx="2286000" cy="22860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2565400"/>
            <a:ext cx="1981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Navegador</a:t>
            </a:r>
          </a:p>
        </p:txBody>
      </p:sp>
      <p:sp>
        <p:nvSpPr>
          <p:cNvPr id="6" name="TextBox 5"/>
          <p:cNvSpPr txBox="1"/>
          <p:nvPr/>
        </p:nvSpPr>
        <p:spPr>
          <a:xfrm>
            <a:off x="660400" y="2895600"/>
            <a:ext cx="1981200" cy="843788"/>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Portal web</a:t>
            </a:r>
          </a:p>
          <a:p>
            <a:pPr algn="l">
              <a:lnSpc>
                <a:spcPts val="1586"/>
              </a:lnSpc>
              <a:spcBef>
                <a:spcPts val="0"/>
              </a:spcBef>
              <a:spcAft>
                <a:spcPts val="0"/>
              </a:spcAft>
              <a:defRPr sz="1300" b="0">
                <a:solidFill>
                  <a:srgbClr val="475569"/>
                </a:solidFill>
                <a:latin typeface="Arial"/>
              </a:defRPr>
            </a:pPr>
            <a:r>
              <a:t>Angular</a:t>
            </a:r>
          </a:p>
          <a:p>
            <a:pPr algn="l">
              <a:lnSpc>
                <a:spcPts val="1586"/>
              </a:lnSpc>
              <a:spcBef>
                <a:spcPts val="0"/>
              </a:spcBef>
              <a:spcAft>
                <a:spcPts val="0"/>
              </a:spcAft>
              <a:defRPr sz="1300" b="0">
                <a:solidFill>
                  <a:srgbClr val="475569"/>
                </a:solidFill>
                <a:latin typeface="Arial"/>
              </a:defRPr>
            </a:pPr>
          </a:p>
          <a:p>
            <a:pPr algn="l">
              <a:lnSpc>
                <a:spcPts val="1586"/>
              </a:lnSpc>
              <a:spcBef>
                <a:spcPts val="0"/>
              </a:spcBef>
              <a:spcAft>
                <a:spcPts val="0"/>
              </a:spcAft>
              <a:defRPr sz="1300" b="0">
                <a:solidFill>
                  <a:srgbClr val="475569"/>
                </a:solidFill>
                <a:latin typeface="Arial"/>
              </a:defRPr>
            </a:pPr>
            <a:r>
              <a:t>HTTPS</a:t>
            </a:r>
          </a:p>
        </p:txBody>
      </p:sp>
      <p:sp>
        <p:nvSpPr>
          <p:cNvPr id="7" name="Rounded Rectangle 6"/>
          <p:cNvSpPr/>
          <p:nvPr/>
        </p:nvSpPr>
        <p:spPr>
          <a:xfrm>
            <a:off x="3619500" y="1943100"/>
            <a:ext cx="4445000" cy="32385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73500" y="2197100"/>
            <a:ext cx="3937000" cy="239522"/>
          </a:xfrm>
          <a:prstGeom prst="rect">
            <a:avLst/>
          </a:prstGeom>
          <a:noFill/>
        </p:spPr>
        <p:txBody>
          <a:bodyPr wrap="none" lIns="0" rIns="0" tIns="0" bIns="0" anchor="t">
            <a:spAutoFit/>
          </a:bodyPr>
          <a:lstStyle/>
          <a:p>
            <a:pPr algn="l">
              <a:lnSpc>
                <a:spcPts val="1586"/>
              </a:lnSpc>
              <a:spcBef>
                <a:spcPts val="0"/>
              </a:spcBef>
              <a:spcAft>
                <a:spcPts val="0"/>
              </a:spcAft>
              <a:defRPr sz="1300" b="1">
                <a:solidFill>
                  <a:srgbClr val="A9C1EF"/>
                </a:solidFill>
                <a:latin typeface="Arial"/>
              </a:defRPr>
            </a:pPr>
            <a:r>
              <a:t>RENDER · DOCKER</a:t>
            </a:r>
          </a:p>
        </p:txBody>
      </p:sp>
      <p:sp>
        <p:nvSpPr>
          <p:cNvPr id="9" name="Rounded Rectangle 8"/>
          <p:cNvSpPr/>
          <p:nvPr/>
        </p:nvSpPr>
        <p:spPr>
          <a:xfrm>
            <a:off x="3873500" y="2705100"/>
            <a:ext cx="3937000" cy="914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5900" y="2857500"/>
            <a:ext cx="3632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Frontend compilado</a:t>
            </a:r>
          </a:p>
        </p:txBody>
      </p:sp>
      <p:sp>
        <p:nvSpPr>
          <p:cNvPr id="11" name="TextBox 10"/>
          <p:cNvSpPr txBox="1"/>
          <p:nvPr/>
        </p:nvSpPr>
        <p:spPr>
          <a:xfrm>
            <a:off x="4025900" y="3187700"/>
            <a:ext cx="36322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Archivos estáticos en /app/static</a:t>
            </a:r>
          </a:p>
        </p:txBody>
      </p:sp>
      <p:sp>
        <p:nvSpPr>
          <p:cNvPr id="12" name="Rounded Rectangle 11"/>
          <p:cNvSpPr/>
          <p:nvPr/>
        </p:nvSpPr>
        <p:spPr>
          <a:xfrm>
            <a:off x="3873500" y="3848100"/>
            <a:ext cx="3937000" cy="9144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5900" y="4000500"/>
            <a:ext cx="3632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FastAPI + Uvicorn</a:t>
            </a:r>
          </a:p>
        </p:txBody>
      </p:sp>
      <p:sp>
        <p:nvSpPr>
          <p:cNvPr id="14" name="TextBox 13"/>
          <p:cNvSpPr txBox="1"/>
          <p:nvPr/>
        </p:nvSpPr>
        <p:spPr>
          <a:xfrm>
            <a:off x="4025900" y="4330700"/>
            <a:ext cx="36322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API /v1 · mismo origen</a:t>
            </a:r>
          </a:p>
        </p:txBody>
      </p:sp>
      <p:sp>
        <p:nvSpPr>
          <p:cNvPr id="15" name="Rounded Rectangle 14"/>
          <p:cNvSpPr/>
          <p:nvPr/>
        </p:nvSpPr>
        <p:spPr>
          <a:xfrm>
            <a:off x="9017000" y="2413000"/>
            <a:ext cx="2667000" cy="22860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69400" y="2565400"/>
            <a:ext cx="2362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Aiven · MySQL</a:t>
            </a:r>
          </a:p>
        </p:txBody>
      </p:sp>
      <p:sp>
        <p:nvSpPr>
          <p:cNvPr id="17" name="TextBox 16"/>
          <p:cNvSpPr txBox="1"/>
          <p:nvPr/>
        </p:nvSpPr>
        <p:spPr>
          <a:xfrm>
            <a:off x="9169400" y="2895600"/>
            <a:ext cx="2362200" cy="843788"/>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Base de datos</a:t>
            </a:r>
          </a:p>
          <a:p>
            <a:pPr algn="l">
              <a:lnSpc>
                <a:spcPts val="1586"/>
              </a:lnSpc>
              <a:spcBef>
                <a:spcPts val="0"/>
              </a:spcBef>
              <a:spcAft>
                <a:spcPts val="0"/>
              </a:spcAft>
              <a:defRPr sz="1300" b="0">
                <a:solidFill>
                  <a:srgbClr val="475569"/>
                </a:solidFill>
                <a:latin typeface="Arial"/>
              </a:defRPr>
            </a:pPr>
            <a:r>
              <a:t>gestionada</a:t>
            </a:r>
          </a:p>
          <a:p>
            <a:pPr algn="l">
              <a:lnSpc>
                <a:spcPts val="1586"/>
              </a:lnSpc>
              <a:spcBef>
                <a:spcPts val="0"/>
              </a:spcBef>
              <a:spcAft>
                <a:spcPts val="0"/>
              </a:spcAft>
              <a:defRPr sz="1300" b="0">
                <a:solidFill>
                  <a:srgbClr val="475569"/>
                </a:solidFill>
                <a:latin typeface="Arial"/>
              </a:defRPr>
            </a:pPr>
          </a:p>
          <a:p>
            <a:pPr algn="l">
              <a:lnSpc>
                <a:spcPts val="1586"/>
              </a:lnSpc>
              <a:spcBef>
                <a:spcPts val="0"/>
              </a:spcBef>
              <a:spcAft>
                <a:spcPts val="0"/>
              </a:spcAft>
              <a:defRPr sz="1300" b="0">
                <a:solidFill>
                  <a:srgbClr val="475569"/>
                </a:solidFill>
                <a:latin typeface="Arial"/>
              </a:defRPr>
            </a:pPr>
            <a:r>
              <a:t>Conexión TLS</a:t>
            </a:r>
          </a:p>
        </p:txBody>
      </p:sp>
      <p:cxnSp>
        <p:nvCxnSpPr>
          <p:cNvPr id="18" name="Connector 17"/>
          <p:cNvCxnSpPr/>
          <p:nvPr/>
        </p:nvCxnSpPr>
        <p:spPr>
          <a:xfrm>
            <a:off x="2857500" y="3568700"/>
            <a:ext cx="698500" cy="0"/>
          </a:xfrm>
          <a:prstGeom prst="line">
            <a:avLst/>
          </a:prstGeom>
          <a:ln w="2540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57500" y="3225800"/>
            <a:ext cx="8255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HTTPS</a:t>
            </a:r>
          </a:p>
        </p:txBody>
      </p:sp>
      <p:cxnSp>
        <p:nvCxnSpPr>
          <p:cNvPr id="20" name="Connector 19"/>
          <p:cNvCxnSpPr/>
          <p:nvPr/>
        </p:nvCxnSpPr>
        <p:spPr>
          <a:xfrm>
            <a:off x="8128000" y="3568700"/>
            <a:ext cx="825500" cy="0"/>
          </a:xfrm>
          <a:prstGeom prst="line">
            <a:avLst/>
          </a:prstGeom>
          <a:ln w="2540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369300" y="3225800"/>
            <a:ext cx="5715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TLS</a:t>
            </a:r>
          </a:p>
        </p:txBody>
      </p:sp>
      <p:sp>
        <p:nvSpPr>
          <p:cNvPr id="22" name="TextBox 21"/>
          <p:cNvSpPr txBox="1"/>
          <p:nvPr/>
        </p:nvSpPr>
        <p:spPr>
          <a:xfrm>
            <a:off x="508000" y="5562600"/>
            <a:ext cx="11176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1F5EFF"/>
                </a:solidFill>
                <a:latin typeface="Arial"/>
              </a:defRPr>
            </a:pPr>
            <a:r>
              <a:t>En local: Docker Compose coordina MySQL, API y Nginx.</a:t>
            </a:r>
          </a:p>
        </p:txBody>
      </p:sp>
      <p:sp>
        <p:nvSpPr>
          <p:cNvPr id="23" name="TextBox 22"/>
          <p:cNvSpPr txBox="1"/>
          <p:nvPr/>
        </p:nvSpPr>
        <p:spPr>
          <a:xfrm>
            <a:off x="508000" y="5956300"/>
            <a:ext cx="11176000" cy="224028"/>
          </a:xfrm>
          <a:prstGeom prst="rect">
            <a:avLst/>
          </a:prstGeom>
          <a:noFill/>
        </p:spPr>
        <p:txBody>
          <a:bodyPr wrap="none" lIns="0" rIns="0" tIns="0" bIns="0" anchor="t">
            <a:spAutoFit/>
          </a:bodyPr>
          <a:lstStyle/>
          <a:p>
            <a:pPr algn="l">
              <a:lnSpc>
                <a:spcPts val="1464"/>
              </a:lnSpc>
              <a:spcBef>
                <a:spcPts val="0"/>
              </a:spcBef>
              <a:spcAft>
                <a:spcPts val="0"/>
              </a:spcAft>
              <a:defRPr sz="1200" b="0">
                <a:solidFill>
                  <a:srgbClr val="475569"/>
                </a:solidFill>
                <a:latin typeface="Arial"/>
              </a:defRPr>
            </a:pPr>
            <a:r>
              <a:t>Configuración versionada en Dockerfile, docker-compose.yml y render.yaml.</a:t>
            </a:r>
          </a:p>
        </p:txBody>
      </p:sp>
      <p:cxnSp>
        <p:nvCxnSpPr>
          <p:cNvPr id="24" name="Connector 23"/>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6" name="TextBox 25"/>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David · DevOps | 16:00–17:10</a:t>
            </a:r>
          </a:p>
        </p:txBody>
      </p:sp>
      <p:sp>
        <p:nvSpPr>
          <p:cNvPr id="27" name="TextBox 26"/>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17 / 20</a:t>
            </a:r>
          </a:p>
        </p:txBody>
      </p:sp>
      <p:sp>
        <p:nvSpPr>
          <p:cNvPr id="28" name="Rectangle 27"/>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536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17 · REPOSITORIO E INTEGRACIÓN</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Del pull request a una entrega repetible</a:t>
            </a:r>
          </a:p>
        </p:txBody>
      </p:sp>
      <p:sp>
        <p:nvSpPr>
          <p:cNvPr id="4" name="Rounded Rectangle 3"/>
          <p:cNvSpPr/>
          <p:nvPr/>
        </p:nvSpPr>
        <p:spPr>
          <a:xfrm>
            <a:off x="508000" y="2146300"/>
            <a:ext cx="1752600" cy="1066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0400" y="2298700"/>
            <a:ext cx="14478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Issue</a:t>
            </a:r>
          </a:p>
        </p:txBody>
      </p:sp>
      <p:sp>
        <p:nvSpPr>
          <p:cNvPr id="6" name="TextBox 5"/>
          <p:cNvSpPr txBox="1"/>
          <p:nvPr/>
        </p:nvSpPr>
        <p:spPr>
          <a:xfrm>
            <a:off x="660400" y="2628900"/>
            <a:ext cx="14478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Necesidad y AC</a:t>
            </a:r>
          </a:p>
        </p:txBody>
      </p:sp>
      <p:cxnSp>
        <p:nvCxnSpPr>
          <p:cNvPr id="7" name="Connector 6"/>
          <p:cNvCxnSpPr/>
          <p:nvPr/>
        </p:nvCxnSpPr>
        <p:spPr>
          <a:xfrm>
            <a:off x="2286000" y="2667000"/>
            <a:ext cx="114300" cy="0"/>
          </a:xfrm>
          <a:prstGeom prst="line">
            <a:avLst/>
          </a:prstGeom>
          <a:ln w="1778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25700" y="2146300"/>
            <a:ext cx="1752600" cy="1066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8100" y="2298700"/>
            <a:ext cx="14478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feature/…</a:t>
            </a:r>
          </a:p>
        </p:txBody>
      </p:sp>
      <p:sp>
        <p:nvSpPr>
          <p:cNvPr id="10" name="TextBox 9"/>
          <p:cNvSpPr txBox="1"/>
          <p:nvPr/>
        </p:nvSpPr>
        <p:spPr>
          <a:xfrm>
            <a:off x="2578100" y="2628900"/>
            <a:ext cx="14478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Cambio aislado</a:t>
            </a:r>
          </a:p>
        </p:txBody>
      </p:sp>
      <p:cxnSp>
        <p:nvCxnSpPr>
          <p:cNvPr id="11" name="Connector 10"/>
          <p:cNvCxnSpPr/>
          <p:nvPr/>
        </p:nvCxnSpPr>
        <p:spPr>
          <a:xfrm>
            <a:off x="4203700" y="2667000"/>
            <a:ext cx="114300" cy="0"/>
          </a:xfrm>
          <a:prstGeom prst="line">
            <a:avLst/>
          </a:prstGeom>
          <a:ln w="1778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2146300"/>
            <a:ext cx="1752600" cy="1066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5800" y="2298700"/>
            <a:ext cx="14478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Pull request</a:t>
            </a:r>
          </a:p>
        </p:txBody>
      </p:sp>
      <p:sp>
        <p:nvSpPr>
          <p:cNvPr id="14" name="TextBox 13"/>
          <p:cNvSpPr txBox="1"/>
          <p:nvPr/>
        </p:nvSpPr>
        <p:spPr>
          <a:xfrm>
            <a:off x="4495800" y="2628900"/>
            <a:ext cx="14478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CI + revisión</a:t>
            </a:r>
          </a:p>
        </p:txBody>
      </p:sp>
      <p:cxnSp>
        <p:nvCxnSpPr>
          <p:cNvPr id="15" name="Connector 14"/>
          <p:cNvCxnSpPr/>
          <p:nvPr/>
        </p:nvCxnSpPr>
        <p:spPr>
          <a:xfrm>
            <a:off x="6121400" y="2667000"/>
            <a:ext cx="114300" cy="0"/>
          </a:xfrm>
          <a:prstGeom prst="line">
            <a:avLst/>
          </a:prstGeom>
          <a:ln w="1778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61100" y="2146300"/>
            <a:ext cx="1752600" cy="10668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3500" y="2298700"/>
            <a:ext cx="14478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main</a:t>
            </a:r>
          </a:p>
        </p:txBody>
      </p:sp>
      <p:sp>
        <p:nvSpPr>
          <p:cNvPr id="18" name="TextBox 17"/>
          <p:cNvSpPr txBox="1"/>
          <p:nvPr/>
        </p:nvSpPr>
        <p:spPr>
          <a:xfrm>
            <a:off x="6413500" y="2628900"/>
            <a:ext cx="14478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Integración</a:t>
            </a:r>
          </a:p>
        </p:txBody>
      </p:sp>
      <p:cxnSp>
        <p:nvCxnSpPr>
          <p:cNvPr id="19" name="Connector 18"/>
          <p:cNvCxnSpPr/>
          <p:nvPr/>
        </p:nvCxnSpPr>
        <p:spPr>
          <a:xfrm>
            <a:off x="7264400" y="3403600"/>
            <a:ext cx="0" cy="520700"/>
          </a:xfrm>
          <a:prstGeom prst="line">
            <a:avLst/>
          </a:prstGeom>
          <a:ln w="25400">
            <a:solidFill>
              <a:srgbClr val="1F5E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283200" y="4064000"/>
            <a:ext cx="2794000" cy="1117600"/>
          </a:xfrm>
          <a:prstGeom prst="roundRect">
            <a:avLst>
              <a:gd name="adj" fmla="val 10000"/>
            </a:avLst>
          </a:prstGeom>
          <a:solidFill>
            <a:srgbClr val="EAF0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35600" y="4216400"/>
            <a:ext cx="24892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Render</a:t>
            </a:r>
          </a:p>
        </p:txBody>
      </p:sp>
      <p:sp>
        <p:nvSpPr>
          <p:cNvPr id="22" name="TextBox 21"/>
          <p:cNvSpPr txBox="1"/>
          <p:nvPr/>
        </p:nvSpPr>
        <p:spPr>
          <a:xfrm>
            <a:off x="5435600" y="4546600"/>
            <a:ext cx="24892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Auto-deploy por commit</a:t>
            </a:r>
          </a:p>
        </p:txBody>
      </p:sp>
      <p:sp>
        <p:nvSpPr>
          <p:cNvPr id="23" name="TextBox 22"/>
          <p:cNvSpPr txBox="1"/>
          <p:nvPr/>
        </p:nvSpPr>
        <p:spPr>
          <a:xfrm>
            <a:off x="508000" y="3937000"/>
            <a:ext cx="41910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1F5EFF"/>
                </a:solidFill>
                <a:latin typeface="Arial"/>
              </a:defRPr>
            </a:pPr>
            <a:r>
              <a:t>GitHub Actions</a:t>
            </a:r>
          </a:p>
        </p:txBody>
      </p:sp>
      <p:sp>
        <p:nvSpPr>
          <p:cNvPr id="24" name="TextBox 23"/>
          <p:cNvSpPr txBox="1"/>
          <p:nvPr/>
        </p:nvSpPr>
        <p:spPr>
          <a:xfrm>
            <a:off x="508000" y="4445000"/>
            <a:ext cx="4381500" cy="564896"/>
          </a:xfrm>
          <a:prstGeom prst="rect">
            <a:avLst/>
          </a:prstGeom>
          <a:noFill/>
        </p:spPr>
        <p:txBody>
          <a:bodyPr wrap="none" lIns="0" rIns="0" tIns="0" bIns="0" anchor="t">
            <a:spAutoFit/>
          </a:bodyPr>
          <a:lstStyle/>
          <a:p>
            <a:pPr algn="l">
              <a:lnSpc>
                <a:spcPts val="2074"/>
              </a:lnSpc>
              <a:spcBef>
                <a:spcPts val="0"/>
              </a:spcBef>
              <a:spcAft>
                <a:spcPts val="0"/>
              </a:spcAft>
              <a:defRPr sz="1700" b="0">
                <a:solidFill>
                  <a:srgbClr val="475569"/>
                </a:solidFill>
                <a:latin typeface="Arial"/>
              </a:defRPr>
            </a:pPr>
            <a:r>
              <a:t>Ruff + pytest con MySQL real.</a:t>
            </a:r>
          </a:p>
          <a:p>
            <a:pPr algn="l">
              <a:lnSpc>
                <a:spcPts val="2074"/>
              </a:lnSpc>
              <a:spcBef>
                <a:spcPts val="0"/>
              </a:spcBef>
              <a:spcAft>
                <a:spcPts val="0"/>
              </a:spcAft>
              <a:defRPr sz="1700" b="0">
                <a:solidFill>
                  <a:srgbClr val="475569"/>
                </a:solidFill>
                <a:latin typeface="Arial"/>
              </a:defRPr>
            </a:pPr>
            <a:r>
              <a:t>PR a main con revisión humana.</a:t>
            </a:r>
          </a:p>
        </p:txBody>
      </p:sp>
      <p:sp>
        <p:nvSpPr>
          <p:cNvPr id="25" name="Rounded Rectangle 24"/>
          <p:cNvSpPr/>
          <p:nvPr/>
        </p:nvSpPr>
        <p:spPr>
          <a:xfrm>
            <a:off x="8636000" y="2108200"/>
            <a:ext cx="3048000" cy="31115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39200" y="2311400"/>
            <a:ext cx="26416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A9C1EF"/>
                </a:solidFill>
                <a:latin typeface="Arial"/>
              </a:defRPr>
            </a:pPr>
            <a:r>
              <a:t>render.yaml · real</a:t>
            </a:r>
          </a:p>
        </p:txBody>
      </p:sp>
      <p:sp>
        <p:nvSpPr>
          <p:cNvPr id="27" name="TextBox 26"/>
          <p:cNvSpPr txBox="1"/>
          <p:nvPr/>
        </p:nvSpPr>
        <p:spPr>
          <a:xfrm>
            <a:off x="8839200" y="2794000"/>
            <a:ext cx="2641600" cy="1068451"/>
          </a:xfrm>
          <a:prstGeom prst="rect">
            <a:avLst/>
          </a:prstGeom>
          <a:noFill/>
        </p:spPr>
        <p:txBody>
          <a:bodyPr wrap="none" lIns="0" rIns="0" tIns="0" bIns="0" anchor="t">
            <a:spAutoFit/>
          </a:bodyPr>
          <a:lstStyle/>
          <a:p>
            <a:pPr algn="l">
              <a:lnSpc>
                <a:spcPts val="1622"/>
              </a:lnSpc>
              <a:spcBef>
                <a:spcPts val="0"/>
              </a:spcBef>
              <a:spcAft>
                <a:spcPts val="0"/>
              </a:spcAft>
              <a:defRPr sz="1330" b="0">
                <a:solidFill>
                  <a:srgbClr val="E2E8F0"/>
                </a:solidFill>
                <a:latin typeface="Courier New"/>
              </a:defRPr>
            </a:pPr>
            <a:r>
              <a:t>runtime: docker</a:t>
            </a:r>
          </a:p>
          <a:p>
            <a:pPr algn="l">
              <a:lnSpc>
                <a:spcPts val="1622"/>
              </a:lnSpc>
              <a:spcBef>
                <a:spcPts val="0"/>
              </a:spcBef>
              <a:spcAft>
                <a:spcPts val="0"/>
              </a:spcAft>
              <a:defRPr sz="1330" b="0">
                <a:solidFill>
                  <a:srgbClr val="E2E8F0"/>
                </a:solidFill>
                <a:latin typeface="Courier New"/>
              </a:defRPr>
            </a:pPr>
            <a:r>
              <a:t>plan: free</a:t>
            </a:r>
          </a:p>
          <a:p>
            <a:pPr algn="l">
              <a:lnSpc>
                <a:spcPts val="1622"/>
              </a:lnSpc>
              <a:spcBef>
                <a:spcPts val="0"/>
              </a:spcBef>
              <a:spcAft>
                <a:spcPts val="0"/>
              </a:spcAft>
              <a:defRPr sz="1330" b="0">
                <a:solidFill>
                  <a:srgbClr val="E2E8F0"/>
                </a:solidFill>
                <a:latin typeface="Courier New"/>
              </a:defRPr>
            </a:pPr>
            <a:r>
              <a:t>branch: main</a:t>
            </a:r>
          </a:p>
          <a:p>
            <a:pPr algn="l">
              <a:lnSpc>
                <a:spcPts val="1622"/>
              </a:lnSpc>
              <a:spcBef>
                <a:spcPts val="0"/>
              </a:spcBef>
              <a:spcAft>
                <a:spcPts val="0"/>
              </a:spcAft>
              <a:defRPr sz="1330" b="0">
                <a:solidFill>
                  <a:srgbClr val="E2E8F0"/>
                </a:solidFill>
                <a:latin typeface="Courier New"/>
              </a:defRPr>
            </a:pPr>
            <a:r>
              <a:t>autoDeployTrigger:</a:t>
            </a:r>
          </a:p>
          <a:p>
            <a:pPr algn="l">
              <a:lnSpc>
                <a:spcPts val="1622"/>
              </a:lnSpc>
              <a:spcBef>
                <a:spcPts val="0"/>
              </a:spcBef>
              <a:spcAft>
                <a:spcPts val="0"/>
              </a:spcAft>
              <a:defRPr sz="1330" b="0">
                <a:solidFill>
                  <a:srgbClr val="E2E8F0"/>
                </a:solidFill>
                <a:latin typeface="Courier New"/>
              </a:defRPr>
            </a:pPr>
            <a:r>
              <a:t>  commit</a:t>
            </a:r>
          </a:p>
        </p:txBody>
      </p:sp>
      <p:sp>
        <p:nvSpPr>
          <p:cNvPr id="28" name="TextBox 27"/>
          <p:cNvSpPr txBox="1"/>
          <p:nvPr/>
        </p:nvSpPr>
        <p:spPr>
          <a:xfrm>
            <a:off x="508000" y="5702300"/>
            <a:ext cx="29210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Commit convencional</a:t>
            </a:r>
          </a:p>
        </p:txBody>
      </p:sp>
      <p:sp>
        <p:nvSpPr>
          <p:cNvPr id="29" name="TextBox 28"/>
          <p:cNvSpPr txBox="1"/>
          <p:nvPr/>
        </p:nvSpPr>
        <p:spPr>
          <a:xfrm>
            <a:off x="3441700" y="5664200"/>
            <a:ext cx="81915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feat(auth): configura la duración del JWT</a:t>
            </a:r>
          </a:p>
        </p:txBody>
      </p:sp>
      <p:cxnSp>
        <p:nvCxnSpPr>
          <p:cNvPr id="30" name="Connector 29"/>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2" name="TextBox 31"/>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David · DevOps | 17:10–18:10</a:t>
            </a:r>
          </a:p>
        </p:txBody>
      </p:sp>
      <p:sp>
        <p:nvSpPr>
          <p:cNvPr id="33" name="TextBox 32"/>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18 / 20</a:t>
            </a:r>
          </a:p>
        </p:txBody>
      </p:sp>
      <p:sp>
        <p:nvSpPr>
          <p:cNvPr id="34" name="Rectangle 33"/>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536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18 · EVIDENCIA DE ENTREGA</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Calidad y documentación que se pueden abrir</a:t>
            </a:r>
          </a:p>
        </p:txBody>
      </p:sp>
      <p:sp>
        <p:nvSpPr>
          <p:cNvPr id="4" name="Rounded Rectangle 3"/>
          <p:cNvSpPr/>
          <p:nvPr/>
        </p:nvSpPr>
        <p:spPr>
          <a:xfrm>
            <a:off x="508000" y="1955800"/>
            <a:ext cx="5461000" cy="2120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159000"/>
            <a:ext cx="2095500" cy="983234"/>
          </a:xfrm>
          <a:prstGeom prst="rect">
            <a:avLst/>
          </a:prstGeom>
          <a:noFill/>
        </p:spPr>
        <p:txBody>
          <a:bodyPr wrap="none" lIns="0" rIns="0" tIns="0" bIns="0" anchor="t">
            <a:spAutoFit/>
          </a:bodyPr>
          <a:lstStyle/>
          <a:p>
            <a:pPr algn="l">
              <a:lnSpc>
                <a:spcPts val="7442"/>
              </a:lnSpc>
              <a:spcBef>
                <a:spcPts val="0"/>
              </a:spcBef>
              <a:spcAft>
                <a:spcPts val="0"/>
              </a:spcAft>
              <a:defRPr sz="6100" b="1">
                <a:solidFill>
                  <a:srgbClr val="1F5EFF"/>
                </a:solidFill>
                <a:latin typeface="Arial"/>
              </a:defRPr>
            </a:pPr>
            <a:r>
              <a:t>376</a:t>
            </a:r>
          </a:p>
        </p:txBody>
      </p:sp>
      <p:sp>
        <p:nvSpPr>
          <p:cNvPr id="6" name="TextBox 5"/>
          <p:cNvSpPr txBox="1"/>
          <p:nvPr/>
        </p:nvSpPr>
        <p:spPr>
          <a:xfrm>
            <a:off x="3111500" y="2413000"/>
            <a:ext cx="2540000" cy="363474"/>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Pruebas backend</a:t>
            </a:r>
          </a:p>
        </p:txBody>
      </p:sp>
      <p:sp>
        <p:nvSpPr>
          <p:cNvPr id="7" name="TextBox 6"/>
          <p:cNvSpPr txBox="1"/>
          <p:nvPr/>
        </p:nvSpPr>
        <p:spPr>
          <a:xfrm>
            <a:off x="812800" y="3530600"/>
            <a:ext cx="4826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CI de main · 19/10</a:t>
            </a:r>
          </a:p>
        </p:txBody>
      </p:sp>
      <p:sp>
        <p:nvSpPr>
          <p:cNvPr id="8" name="Rounded Rectangle 7"/>
          <p:cNvSpPr/>
          <p:nvPr/>
        </p:nvSpPr>
        <p:spPr>
          <a:xfrm>
            <a:off x="6223000" y="1955800"/>
            <a:ext cx="5461000" cy="2120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7800" y="2159000"/>
            <a:ext cx="2095500" cy="983234"/>
          </a:xfrm>
          <a:prstGeom prst="rect">
            <a:avLst/>
          </a:prstGeom>
          <a:noFill/>
        </p:spPr>
        <p:txBody>
          <a:bodyPr wrap="none" lIns="0" rIns="0" tIns="0" bIns="0" anchor="t">
            <a:spAutoFit/>
          </a:bodyPr>
          <a:lstStyle/>
          <a:p>
            <a:pPr algn="l">
              <a:lnSpc>
                <a:spcPts val="7442"/>
              </a:lnSpc>
              <a:spcBef>
                <a:spcPts val="0"/>
              </a:spcBef>
              <a:spcAft>
                <a:spcPts val="0"/>
              </a:spcAft>
              <a:defRPr sz="6100" b="1">
                <a:solidFill>
                  <a:srgbClr val="1F5EFF"/>
                </a:solidFill>
                <a:latin typeface="Arial"/>
              </a:defRPr>
            </a:pPr>
            <a:r>
              <a:t>117</a:t>
            </a:r>
          </a:p>
        </p:txBody>
      </p:sp>
      <p:sp>
        <p:nvSpPr>
          <p:cNvPr id="10" name="TextBox 9"/>
          <p:cNvSpPr txBox="1"/>
          <p:nvPr/>
        </p:nvSpPr>
        <p:spPr>
          <a:xfrm>
            <a:off x="8826500" y="2413000"/>
            <a:ext cx="2540000" cy="363474"/>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Pruebas frontend</a:t>
            </a:r>
          </a:p>
        </p:txBody>
      </p:sp>
      <p:sp>
        <p:nvSpPr>
          <p:cNvPr id="11" name="TextBox 10"/>
          <p:cNvSpPr txBox="1"/>
          <p:nvPr/>
        </p:nvSpPr>
        <p:spPr>
          <a:xfrm>
            <a:off x="6527800" y="3530600"/>
            <a:ext cx="4826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26 suites · local · 19/10</a:t>
            </a:r>
          </a:p>
        </p:txBody>
      </p:sp>
      <p:sp>
        <p:nvSpPr>
          <p:cNvPr id="12" name="Rounded Rectangle 11"/>
          <p:cNvSpPr/>
          <p:nvPr/>
        </p:nvSpPr>
        <p:spPr>
          <a:xfrm>
            <a:off x="508000" y="4445000"/>
            <a:ext cx="2603500" cy="11557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635500"/>
            <a:ext cx="2247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API</a:t>
            </a:r>
          </a:p>
        </p:txBody>
      </p:sp>
      <p:sp>
        <p:nvSpPr>
          <p:cNvPr id="14" name="TextBox 13"/>
          <p:cNvSpPr txBox="1"/>
          <p:nvPr/>
        </p:nvSpPr>
        <p:spPr>
          <a:xfrm>
            <a:off x="685800" y="5067300"/>
            <a:ext cx="2247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0F172A"/>
                </a:solidFill>
                <a:latin typeface="Arial"/>
              </a:defRPr>
            </a:pPr>
            <a:r>
              <a:rPr>
                <a:hlinkClick r:id="rId2"/>
              </a:rPr>
              <a:t>Swagger / ReDoc</a:t>
            </a:r>
          </a:p>
        </p:txBody>
      </p:sp>
      <p:sp>
        <p:nvSpPr>
          <p:cNvPr id="15" name="Rounded Rectangle 14"/>
          <p:cNvSpPr/>
          <p:nvPr/>
        </p:nvSpPr>
        <p:spPr>
          <a:xfrm>
            <a:off x="3365500" y="4445000"/>
            <a:ext cx="2603500" cy="11557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3300" y="4635500"/>
            <a:ext cx="2247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Ejecución</a:t>
            </a:r>
          </a:p>
        </p:txBody>
      </p:sp>
      <p:sp>
        <p:nvSpPr>
          <p:cNvPr id="17" name="TextBox 16"/>
          <p:cNvSpPr txBox="1"/>
          <p:nvPr/>
        </p:nvSpPr>
        <p:spPr>
          <a:xfrm>
            <a:off x="3543300" y="5067300"/>
            <a:ext cx="2247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0F172A"/>
                </a:solidFill>
                <a:latin typeface="Arial"/>
              </a:defRPr>
            </a:pPr>
            <a:r>
              <a:rPr>
                <a:hlinkClick r:id="rId3"/>
              </a:rPr>
              <a:t>README + Taskfile</a:t>
            </a:r>
          </a:p>
        </p:txBody>
      </p:sp>
      <p:sp>
        <p:nvSpPr>
          <p:cNvPr id="18" name="Rounded Rectangle 17"/>
          <p:cNvSpPr/>
          <p:nvPr/>
        </p:nvSpPr>
        <p:spPr>
          <a:xfrm>
            <a:off x="6223000" y="4445000"/>
            <a:ext cx="2603500" cy="11557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635500"/>
            <a:ext cx="2247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Datos</a:t>
            </a:r>
          </a:p>
        </p:txBody>
      </p:sp>
      <p:sp>
        <p:nvSpPr>
          <p:cNvPr id="20" name="TextBox 19"/>
          <p:cNvSpPr txBox="1"/>
          <p:nvPr/>
        </p:nvSpPr>
        <p:spPr>
          <a:xfrm>
            <a:off x="6400800" y="5067300"/>
            <a:ext cx="2247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0F172A"/>
                </a:solidFill>
                <a:latin typeface="Arial"/>
              </a:defRPr>
            </a:pPr>
            <a:r>
              <a:rPr>
                <a:hlinkClick r:id="rId4"/>
              </a:rPr>
              <a:t>ER + diccionario</a:t>
            </a:r>
          </a:p>
        </p:txBody>
      </p:sp>
      <p:sp>
        <p:nvSpPr>
          <p:cNvPr id="21" name="Rounded Rectangle 20"/>
          <p:cNvSpPr/>
          <p:nvPr/>
        </p:nvSpPr>
        <p:spPr>
          <a:xfrm>
            <a:off x="9080500" y="4445000"/>
            <a:ext cx="2603500" cy="11557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58300" y="4635500"/>
            <a:ext cx="2247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1F5EFF"/>
                </a:solidFill>
                <a:latin typeface="Arial"/>
              </a:defRPr>
            </a:pPr>
            <a:r>
              <a:t>Decisiones</a:t>
            </a:r>
          </a:p>
        </p:txBody>
      </p:sp>
      <p:sp>
        <p:nvSpPr>
          <p:cNvPr id="23" name="TextBox 22"/>
          <p:cNvSpPr txBox="1"/>
          <p:nvPr/>
        </p:nvSpPr>
        <p:spPr>
          <a:xfrm>
            <a:off x="9258300" y="5067300"/>
            <a:ext cx="2247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0F172A"/>
                </a:solidFill>
                <a:latin typeface="Arial"/>
              </a:defRPr>
            </a:pPr>
            <a:r>
              <a:rPr>
                <a:hlinkClick r:id="rId5"/>
              </a:rPr>
              <a:t>OpenSpec + bitácora</a:t>
            </a:r>
          </a:p>
        </p:txBody>
      </p:sp>
      <p:sp>
        <p:nvSpPr>
          <p:cNvPr id="24" name="TextBox 23"/>
          <p:cNvSpPr txBox="1"/>
          <p:nvPr/>
        </p:nvSpPr>
        <p:spPr>
          <a:xfrm>
            <a:off x="508000" y="5867400"/>
            <a:ext cx="11176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Healthchecks: /health y /health/db · logs de aplicación · esquema versionado</a:t>
            </a:r>
          </a:p>
        </p:txBody>
      </p:sp>
      <p:cxnSp>
        <p:nvCxnSpPr>
          <p:cNvPr id="25" name="Connector 24"/>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7" name="TextBox 26"/>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David · DevOps | 18:10–19:15</a:t>
            </a:r>
          </a:p>
        </p:txBody>
      </p:sp>
      <p:sp>
        <p:nvSpPr>
          <p:cNvPr id="28" name="TextBox 27"/>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19 / 20</a:t>
            </a:r>
          </a:p>
        </p:txBody>
      </p:sp>
      <p:sp>
        <p:nvSpPr>
          <p:cNvPr id="29" name="Rectangle 28"/>
          <p:cNvSpPr/>
          <p:nvPr/>
        </p:nvSpPr>
        <p:spPr>
          <a:xfrm>
            <a:off x="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4384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768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0" y="6819900"/>
            <a:ext cx="2438400" cy="381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7536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8000" y="406400"/>
            <a:ext cx="6350000" cy="394462"/>
          </a:xfrm>
          <a:prstGeom prst="rect">
            <a:avLst/>
          </a:prstGeom>
          <a:noFill/>
        </p:spPr>
        <p:txBody>
          <a:bodyPr wrap="none" lIns="0" rIns="0" tIns="0" bIns="0" anchor="t">
            <a:spAutoFit/>
          </a:bodyPr>
          <a:lstStyle/>
          <a:p>
            <a:pPr algn="l">
              <a:lnSpc>
                <a:spcPts val="2806"/>
              </a:lnSpc>
              <a:spcBef>
                <a:spcPts val="0"/>
              </a:spcBef>
              <a:spcAft>
                <a:spcPts val="0"/>
              </a:spcAft>
              <a:defRPr sz="2300" b="1">
                <a:solidFill>
                  <a:srgbClr val="FFFFFF"/>
                </a:solidFill>
                <a:latin typeface="Arial"/>
              </a:defRPr>
            </a:pPr>
            <a:r>
              <a:t>GYMFLOW</a:t>
            </a:r>
          </a:p>
        </p:txBody>
      </p:sp>
      <p:sp>
        <p:nvSpPr>
          <p:cNvPr id="3" name="TextBox 2"/>
          <p:cNvSpPr txBox="1"/>
          <p:nvPr/>
        </p:nvSpPr>
        <p:spPr>
          <a:xfrm>
            <a:off x="508000" y="1358900"/>
            <a:ext cx="11176000" cy="1370584"/>
          </a:xfrm>
          <a:prstGeom prst="rect">
            <a:avLst/>
          </a:prstGeom>
          <a:noFill/>
        </p:spPr>
        <p:txBody>
          <a:bodyPr wrap="none" lIns="0" rIns="0" tIns="0" bIns="0" anchor="t">
            <a:spAutoFit/>
          </a:bodyPr>
          <a:lstStyle/>
          <a:p>
            <a:pPr algn="l">
              <a:lnSpc>
                <a:spcPts val="5246"/>
              </a:lnSpc>
              <a:spcBef>
                <a:spcPts val="0"/>
              </a:spcBef>
              <a:spcAft>
                <a:spcPts val="0"/>
              </a:spcAft>
              <a:defRPr sz="4300" b="1">
                <a:solidFill>
                  <a:srgbClr val="FFFFFF"/>
                </a:solidFill>
                <a:latin typeface="Arial"/>
              </a:defRPr>
            </a:pPr>
            <a:r>
              <a:t>Un gimnasio conectado.</a:t>
            </a:r>
          </a:p>
          <a:p>
            <a:pPr algn="l">
              <a:lnSpc>
                <a:spcPts val="5246"/>
              </a:lnSpc>
              <a:spcBef>
                <a:spcPts val="0"/>
              </a:spcBef>
              <a:spcAft>
                <a:spcPts val="0"/>
              </a:spcAft>
              <a:defRPr sz="4300" b="1">
                <a:solidFill>
                  <a:srgbClr val="FFFFFF"/>
                </a:solidFill>
                <a:latin typeface="Arial"/>
              </a:defRPr>
            </a:pPr>
            <a:r>
              <a:t>Un equipo responsable.</a:t>
            </a:r>
          </a:p>
        </p:txBody>
      </p:sp>
      <p:sp>
        <p:nvSpPr>
          <p:cNvPr id="4" name="Rounded Rectangle 3"/>
          <p:cNvSpPr/>
          <p:nvPr/>
        </p:nvSpPr>
        <p:spPr>
          <a:xfrm>
            <a:off x="508000" y="3302000"/>
            <a:ext cx="3556000" cy="12827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3900" y="3530600"/>
            <a:ext cx="31242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Orden</a:t>
            </a:r>
          </a:p>
        </p:txBody>
      </p:sp>
      <p:sp>
        <p:nvSpPr>
          <p:cNvPr id="6" name="TextBox 5"/>
          <p:cNvSpPr txBox="1"/>
          <p:nvPr/>
        </p:nvSpPr>
        <p:spPr>
          <a:xfrm>
            <a:off x="723900" y="4064000"/>
            <a:ext cx="31242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B6C4E0"/>
                </a:solidFill>
                <a:latin typeface="Arial"/>
              </a:defRPr>
            </a:pPr>
            <a:r>
              <a:t>Información centralizada</a:t>
            </a:r>
          </a:p>
        </p:txBody>
      </p:sp>
      <p:sp>
        <p:nvSpPr>
          <p:cNvPr id="7" name="Rounded Rectangle 6"/>
          <p:cNvSpPr/>
          <p:nvPr/>
        </p:nvSpPr>
        <p:spPr>
          <a:xfrm>
            <a:off x="4318000" y="3302000"/>
            <a:ext cx="3556000" cy="12827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3900" y="3530600"/>
            <a:ext cx="31242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Confianza</a:t>
            </a:r>
          </a:p>
        </p:txBody>
      </p:sp>
      <p:sp>
        <p:nvSpPr>
          <p:cNvPr id="9" name="TextBox 8"/>
          <p:cNvSpPr txBox="1"/>
          <p:nvPr/>
        </p:nvSpPr>
        <p:spPr>
          <a:xfrm>
            <a:off x="4533900" y="4064000"/>
            <a:ext cx="31242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B6C4E0"/>
                </a:solidFill>
                <a:latin typeface="Arial"/>
              </a:defRPr>
            </a:pPr>
            <a:r>
              <a:t>Permisos y reglas de negocio</a:t>
            </a:r>
          </a:p>
        </p:txBody>
      </p:sp>
      <p:sp>
        <p:nvSpPr>
          <p:cNvPr id="10" name="Rounded Rectangle 9"/>
          <p:cNvSpPr/>
          <p:nvPr/>
        </p:nvSpPr>
        <p:spPr>
          <a:xfrm>
            <a:off x="8128000" y="3302000"/>
            <a:ext cx="3556000" cy="1282700"/>
          </a:xfrm>
          <a:prstGeom prst="roundRect">
            <a:avLst>
              <a:gd name="adj" fmla="val 10000"/>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3900" y="3530600"/>
            <a:ext cx="3124200" cy="378968"/>
          </a:xfrm>
          <a:prstGeom prst="rect">
            <a:avLst/>
          </a:prstGeom>
          <a:noFill/>
        </p:spPr>
        <p:txBody>
          <a:bodyPr wrap="none" lIns="0" rIns="0" tIns="0" bIns="0" anchor="t">
            <a:spAutoFit/>
          </a:bodyPr>
          <a:lstStyle/>
          <a:p>
            <a:pPr algn="l">
              <a:lnSpc>
                <a:spcPts val="2684"/>
              </a:lnSpc>
              <a:spcBef>
                <a:spcPts val="0"/>
              </a:spcBef>
              <a:spcAft>
                <a:spcPts val="0"/>
              </a:spcAft>
              <a:defRPr sz="2200" b="1">
                <a:solidFill>
                  <a:srgbClr val="FFFFFF"/>
                </a:solidFill>
                <a:latin typeface="Arial"/>
              </a:defRPr>
            </a:pPr>
            <a:r>
              <a:t>Continuidad</a:t>
            </a:r>
          </a:p>
        </p:txBody>
      </p:sp>
      <p:sp>
        <p:nvSpPr>
          <p:cNvPr id="12" name="TextBox 11"/>
          <p:cNvSpPr txBox="1"/>
          <p:nvPr/>
        </p:nvSpPr>
        <p:spPr>
          <a:xfrm>
            <a:off x="8343900" y="4064000"/>
            <a:ext cx="31242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B6C4E0"/>
                </a:solidFill>
                <a:latin typeface="Arial"/>
              </a:defRPr>
            </a:pPr>
            <a:r>
              <a:t>Ejecución y entrega repetibles</a:t>
            </a:r>
          </a:p>
        </p:txBody>
      </p:sp>
      <p:sp>
        <p:nvSpPr>
          <p:cNvPr id="13" name="Rounded Rectangle 12"/>
          <p:cNvSpPr/>
          <p:nvPr/>
        </p:nvSpPr>
        <p:spPr>
          <a:xfrm>
            <a:off x="508000" y="5003800"/>
            <a:ext cx="2603500" cy="444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400" y="5105400"/>
            <a:ext cx="2298700" cy="255015"/>
          </a:xfrm>
          <a:prstGeom prst="rect">
            <a:avLst/>
          </a:prstGeom>
          <a:noFill/>
        </p:spPr>
        <p:txBody>
          <a:bodyPr wrap="none" lIns="0" rIns="0" tIns="0" bIns="0" anchor="t">
            <a:spAutoFit/>
          </a:bodyPr>
          <a:lstStyle/>
          <a:p>
            <a:pPr algn="l">
              <a:lnSpc>
                <a:spcPts val="1707"/>
              </a:lnSpc>
              <a:spcBef>
                <a:spcPts val="0"/>
              </a:spcBef>
              <a:spcAft>
                <a:spcPts val="0"/>
              </a:spcAft>
              <a:defRPr sz="1400" b="1">
                <a:solidFill>
                  <a:srgbClr val="FFFFFF"/>
                </a:solidFill>
                <a:latin typeface="Arial"/>
              </a:defRPr>
            </a:pPr>
            <a:r>
              <a:rPr>
                <a:hlinkClick r:id="rId2"/>
              </a:rPr>
              <a:t>Ver repositorio</a:t>
            </a:r>
          </a:p>
        </p:txBody>
      </p:sp>
      <p:sp>
        <p:nvSpPr>
          <p:cNvPr id="15" name="Rounded Rectangle 14"/>
          <p:cNvSpPr/>
          <p:nvPr/>
        </p:nvSpPr>
        <p:spPr>
          <a:xfrm>
            <a:off x="3352800" y="5003800"/>
            <a:ext cx="3022600" cy="444500"/>
          </a:xfrm>
          <a:prstGeom prst="roundRect">
            <a:avLst>
              <a:gd name="adj" fmla="val 10000"/>
            </a:avLst>
          </a:prstGeom>
          <a:solidFill>
            <a:srgbClr val="1F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5200" y="5105400"/>
            <a:ext cx="2717800" cy="255015"/>
          </a:xfrm>
          <a:prstGeom prst="rect">
            <a:avLst/>
          </a:prstGeom>
          <a:noFill/>
        </p:spPr>
        <p:txBody>
          <a:bodyPr wrap="none" lIns="0" rIns="0" tIns="0" bIns="0" anchor="t">
            <a:spAutoFit/>
          </a:bodyPr>
          <a:lstStyle/>
          <a:p>
            <a:pPr algn="l">
              <a:lnSpc>
                <a:spcPts val="1707"/>
              </a:lnSpc>
              <a:spcBef>
                <a:spcPts val="0"/>
              </a:spcBef>
              <a:spcAft>
                <a:spcPts val="0"/>
              </a:spcAft>
              <a:defRPr sz="1400" b="1">
                <a:solidFill>
                  <a:srgbClr val="FFFFFF"/>
                </a:solidFill>
                <a:latin typeface="Arial"/>
              </a:defRPr>
            </a:pPr>
            <a:r>
              <a:rPr>
                <a:hlinkClick r:id="rId3"/>
              </a:rPr>
              <a:t>Abrir aplicación local</a:t>
            </a:r>
          </a:p>
        </p:txBody>
      </p:sp>
      <p:sp>
        <p:nvSpPr>
          <p:cNvPr id="17" name="TextBox 16"/>
          <p:cNvSpPr txBox="1"/>
          <p:nvPr/>
        </p:nvSpPr>
        <p:spPr>
          <a:xfrm>
            <a:off x="508000" y="58547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C7D3EA"/>
                </a:solidFill>
                <a:latin typeface="Arial"/>
              </a:defRPr>
            </a:pPr>
            <a:r>
              <a:t>Preguntas por área: Miguel · Juan Carlos · Fabiana · Brian · David</a:t>
            </a:r>
          </a:p>
        </p:txBody>
      </p:sp>
      <p:cxnSp>
        <p:nvCxnSpPr>
          <p:cNvPr id="18" name="Connector 17"/>
          <p:cNvCxnSpPr/>
          <p:nvPr/>
        </p:nvCxnSpPr>
        <p:spPr>
          <a:xfrm>
            <a:off x="508000" y="6311900"/>
            <a:ext cx="11176000" cy="0"/>
          </a:xfrm>
          <a:prstGeom prst="line">
            <a:avLst/>
          </a:prstGeom>
          <a:ln w="7620">
            <a:solidFill>
              <a:srgbClr val="6171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FFFFFF"/>
                </a:solidFill>
                <a:latin typeface="Arial"/>
              </a:defRPr>
            </a:pPr>
            <a:r>
              <a:t>GYMFLOW</a:t>
            </a:r>
          </a:p>
        </p:txBody>
      </p:sp>
      <p:sp>
        <p:nvSpPr>
          <p:cNvPr id="20" name="TextBox 19"/>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B6C4E0"/>
                </a:solidFill>
                <a:latin typeface="Arial"/>
              </a:defRPr>
            </a:pPr>
            <a:r>
              <a:t>David · DevOps | 19:15–20:00</a:t>
            </a:r>
          </a:p>
        </p:txBody>
      </p:sp>
      <p:sp>
        <p:nvSpPr>
          <p:cNvPr id="21" name="TextBox 20"/>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B6C4E0"/>
                </a:solidFill>
                <a:latin typeface="Arial"/>
              </a:defRPr>
            </a:pPr>
            <a:r>
              <a:t>20 / 20</a:t>
            </a:r>
          </a:p>
        </p:txBody>
      </p:sp>
      <p:sp>
        <p:nvSpPr>
          <p:cNvPr id="22" name="Rectangle 21"/>
          <p:cNvSpPr/>
          <p:nvPr/>
        </p:nvSpPr>
        <p:spPr>
          <a:xfrm>
            <a:off x="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384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768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0" y="6819900"/>
            <a:ext cx="2438400" cy="38100"/>
          </a:xfrm>
          <a:prstGeom prst="rect">
            <a:avLst/>
          </a:prstGeom>
          <a:solidFill>
            <a:srgbClr val="2C3A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53600" y="6819900"/>
            <a:ext cx="2438400" cy="38100"/>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ANEXO 1 · USO INTERNO</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Reloj de ensayo y relevos</a:t>
            </a:r>
          </a:p>
        </p:txBody>
      </p:sp>
      <p:sp>
        <p:nvSpPr>
          <p:cNvPr id="4" name="TextBox 3"/>
          <p:cNvSpPr txBox="1"/>
          <p:nvPr/>
        </p:nvSpPr>
        <p:spPr>
          <a:xfrm>
            <a:off x="508000" y="14478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20 minutos exactos · cinco turnos de 4 minutos · anexos fuera del pase</a:t>
            </a:r>
          </a:p>
        </p:txBody>
      </p:sp>
      <p:sp>
        <p:nvSpPr>
          <p:cNvPr id="5" name="Rounded Rectangle 4"/>
          <p:cNvSpPr/>
          <p:nvPr/>
        </p:nvSpPr>
        <p:spPr>
          <a:xfrm>
            <a:off x="508000" y="1968500"/>
            <a:ext cx="11176000" cy="609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120900"/>
            <a:ext cx="2159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Miguel</a:t>
            </a:r>
          </a:p>
        </p:txBody>
      </p:sp>
      <p:sp>
        <p:nvSpPr>
          <p:cNvPr id="7" name="TextBox 6"/>
          <p:cNvSpPr txBox="1"/>
          <p:nvPr/>
        </p:nvSpPr>
        <p:spPr>
          <a:xfrm>
            <a:off x="3048000" y="2120900"/>
            <a:ext cx="2794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Product Owner</a:t>
            </a:r>
          </a:p>
        </p:txBody>
      </p:sp>
      <p:sp>
        <p:nvSpPr>
          <p:cNvPr id="8" name="TextBox 7"/>
          <p:cNvSpPr txBox="1"/>
          <p:nvPr/>
        </p:nvSpPr>
        <p:spPr>
          <a:xfrm>
            <a:off x="6223000" y="2120900"/>
            <a:ext cx="22860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1F5EFF"/>
                </a:solidFill>
                <a:latin typeface="Arial"/>
              </a:defRPr>
            </a:pPr>
            <a:r>
              <a:t>00:00–04:00</a:t>
            </a:r>
          </a:p>
        </p:txBody>
      </p:sp>
      <p:sp>
        <p:nvSpPr>
          <p:cNvPr id="9" name="TextBox 8"/>
          <p:cNvSpPr txBox="1"/>
          <p:nvPr/>
        </p:nvSpPr>
        <p:spPr>
          <a:xfrm>
            <a:off x="8890000" y="2120900"/>
            <a:ext cx="2540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Diapositivas 1–4</a:t>
            </a:r>
          </a:p>
        </p:txBody>
      </p:sp>
      <p:sp>
        <p:nvSpPr>
          <p:cNvPr id="10" name="Rounded Rectangle 9"/>
          <p:cNvSpPr/>
          <p:nvPr/>
        </p:nvSpPr>
        <p:spPr>
          <a:xfrm>
            <a:off x="508000" y="2692400"/>
            <a:ext cx="11176000" cy="6096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3900" y="2844800"/>
            <a:ext cx="2159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Juan Carlos</a:t>
            </a:r>
          </a:p>
        </p:txBody>
      </p:sp>
      <p:sp>
        <p:nvSpPr>
          <p:cNvPr id="12" name="TextBox 11"/>
          <p:cNvSpPr txBox="1"/>
          <p:nvPr/>
        </p:nvSpPr>
        <p:spPr>
          <a:xfrm>
            <a:off x="3048000" y="2844800"/>
            <a:ext cx="2794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Scrum Master</a:t>
            </a:r>
          </a:p>
        </p:txBody>
      </p:sp>
      <p:sp>
        <p:nvSpPr>
          <p:cNvPr id="13" name="TextBox 12"/>
          <p:cNvSpPr txBox="1"/>
          <p:nvPr/>
        </p:nvSpPr>
        <p:spPr>
          <a:xfrm>
            <a:off x="6223000" y="2844800"/>
            <a:ext cx="22860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1F5EFF"/>
                </a:solidFill>
                <a:latin typeface="Arial"/>
              </a:defRPr>
            </a:pPr>
            <a:r>
              <a:t>04:00–08:00</a:t>
            </a:r>
          </a:p>
        </p:txBody>
      </p:sp>
      <p:sp>
        <p:nvSpPr>
          <p:cNvPr id="14" name="TextBox 13"/>
          <p:cNvSpPr txBox="1"/>
          <p:nvPr/>
        </p:nvSpPr>
        <p:spPr>
          <a:xfrm>
            <a:off x="8890000" y="2844800"/>
            <a:ext cx="2540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Diapositivas 5–8</a:t>
            </a:r>
          </a:p>
        </p:txBody>
      </p:sp>
      <p:sp>
        <p:nvSpPr>
          <p:cNvPr id="15" name="Rounded Rectangle 14"/>
          <p:cNvSpPr/>
          <p:nvPr/>
        </p:nvSpPr>
        <p:spPr>
          <a:xfrm>
            <a:off x="508000" y="3416300"/>
            <a:ext cx="11176000" cy="609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900" y="3568700"/>
            <a:ext cx="2159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Fabiana</a:t>
            </a:r>
          </a:p>
        </p:txBody>
      </p:sp>
      <p:sp>
        <p:nvSpPr>
          <p:cNvPr id="17" name="TextBox 16"/>
          <p:cNvSpPr txBox="1"/>
          <p:nvPr/>
        </p:nvSpPr>
        <p:spPr>
          <a:xfrm>
            <a:off x="3048000" y="3568700"/>
            <a:ext cx="2794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Backend</a:t>
            </a:r>
          </a:p>
        </p:txBody>
      </p:sp>
      <p:sp>
        <p:nvSpPr>
          <p:cNvPr id="18" name="TextBox 17"/>
          <p:cNvSpPr txBox="1"/>
          <p:nvPr/>
        </p:nvSpPr>
        <p:spPr>
          <a:xfrm>
            <a:off x="6223000" y="3568700"/>
            <a:ext cx="22860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1F5EFF"/>
                </a:solidFill>
                <a:latin typeface="Arial"/>
              </a:defRPr>
            </a:pPr>
            <a:r>
              <a:t>08:00–12:00</a:t>
            </a:r>
          </a:p>
        </p:txBody>
      </p:sp>
      <p:sp>
        <p:nvSpPr>
          <p:cNvPr id="19" name="TextBox 18"/>
          <p:cNvSpPr txBox="1"/>
          <p:nvPr/>
        </p:nvSpPr>
        <p:spPr>
          <a:xfrm>
            <a:off x="8890000" y="3568700"/>
            <a:ext cx="2540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Diapositivas 9–12</a:t>
            </a:r>
          </a:p>
        </p:txBody>
      </p:sp>
      <p:sp>
        <p:nvSpPr>
          <p:cNvPr id="20" name="Rounded Rectangle 19"/>
          <p:cNvSpPr/>
          <p:nvPr/>
        </p:nvSpPr>
        <p:spPr>
          <a:xfrm>
            <a:off x="508000" y="4140200"/>
            <a:ext cx="11176000" cy="609600"/>
          </a:xfrm>
          <a:prstGeom prst="roundRect">
            <a:avLst>
              <a:gd name="adj" fmla="val 10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900" y="4292600"/>
            <a:ext cx="2159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Brian</a:t>
            </a:r>
          </a:p>
        </p:txBody>
      </p:sp>
      <p:sp>
        <p:nvSpPr>
          <p:cNvPr id="22" name="TextBox 21"/>
          <p:cNvSpPr txBox="1"/>
          <p:nvPr/>
        </p:nvSpPr>
        <p:spPr>
          <a:xfrm>
            <a:off x="3048000" y="4292600"/>
            <a:ext cx="2794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Frontend</a:t>
            </a:r>
          </a:p>
        </p:txBody>
      </p:sp>
      <p:sp>
        <p:nvSpPr>
          <p:cNvPr id="23" name="TextBox 22"/>
          <p:cNvSpPr txBox="1"/>
          <p:nvPr/>
        </p:nvSpPr>
        <p:spPr>
          <a:xfrm>
            <a:off x="6223000" y="4292600"/>
            <a:ext cx="22860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1F5EFF"/>
                </a:solidFill>
                <a:latin typeface="Arial"/>
              </a:defRPr>
            </a:pPr>
            <a:r>
              <a:t>12:00–16:00</a:t>
            </a:r>
          </a:p>
        </p:txBody>
      </p:sp>
      <p:sp>
        <p:nvSpPr>
          <p:cNvPr id="24" name="TextBox 23"/>
          <p:cNvSpPr txBox="1"/>
          <p:nvPr/>
        </p:nvSpPr>
        <p:spPr>
          <a:xfrm>
            <a:off x="8890000" y="4292600"/>
            <a:ext cx="2540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Diapositivas 13–16</a:t>
            </a:r>
          </a:p>
        </p:txBody>
      </p:sp>
      <p:sp>
        <p:nvSpPr>
          <p:cNvPr id="25" name="Rounded Rectangle 24"/>
          <p:cNvSpPr/>
          <p:nvPr/>
        </p:nvSpPr>
        <p:spPr>
          <a:xfrm>
            <a:off x="508000" y="4864100"/>
            <a:ext cx="11176000" cy="609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5016500"/>
            <a:ext cx="21590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David</a:t>
            </a:r>
          </a:p>
        </p:txBody>
      </p:sp>
      <p:sp>
        <p:nvSpPr>
          <p:cNvPr id="27" name="TextBox 26"/>
          <p:cNvSpPr txBox="1"/>
          <p:nvPr/>
        </p:nvSpPr>
        <p:spPr>
          <a:xfrm>
            <a:off x="3048000" y="5016500"/>
            <a:ext cx="27940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DevOps</a:t>
            </a:r>
          </a:p>
        </p:txBody>
      </p:sp>
      <p:sp>
        <p:nvSpPr>
          <p:cNvPr id="28" name="TextBox 27"/>
          <p:cNvSpPr txBox="1"/>
          <p:nvPr/>
        </p:nvSpPr>
        <p:spPr>
          <a:xfrm>
            <a:off x="6223000" y="5016500"/>
            <a:ext cx="2286000" cy="286004"/>
          </a:xfrm>
          <a:prstGeom prst="rect">
            <a:avLst/>
          </a:prstGeom>
          <a:noFill/>
        </p:spPr>
        <p:txBody>
          <a:bodyPr wrap="none" lIns="0" rIns="0" tIns="0" bIns="0" anchor="t">
            <a:spAutoFit/>
          </a:bodyPr>
          <a:lstStyle/>
          <a:p>
            <a:pPr algn="l">
              <a:lnSpc>
                <a:spcPts val="1952"/>
              </a:lnSpc>
              <a:spcBef>
                <a:spcPts val="0"/>
              </a:spcBef>
              <a:spcAft>
                <a:spcPts val="0"/>
              </a:spcAft>
              <a:defRPr sz="1600" b="1">
                <a:solidFill>
                  <a:srgbClr val="1F5EFF"/>
                </a:solidFill>
                <a:latin typeface="Arial"/>
              </a:defRPr>
            </a:pPr>
            <a:r>
              <a:t>16:00–20:00</a:t>
            </a:r>
          </a:p>
        </p:txBody>
      </p:sp>
      <p:sp>
        <p:nvSpPr>
          <p:cNvPr id="29" name="TextBox 28"/>
          <p:cNvSpPr txBox="1"/>
          <p:nvPr/>
        </p:nvSpPr>
        <p:spPr>
          <a:xfrm>
            <a:off x="8890000" y="5016500"/>
            <a:ext cx="2540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Diapositivas 17–20</a:t>
            </a:r>
          </a:p>
        </p:txBody>
      </p:sp>
      <p:sp>
        <p:nvSpPr>
          <p:cNvPr id="30" name="TextBox 29"/>
          <p:cNvSpPr txBox="1"/>
          <p:nvPr/>
        </p:nvSpPr>
        <p:spPr>
          <a:xfrm>
            <a:off x="508000" y="58420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1">
                <a:solidFill>
                  <a:srgbClr val="1F5EFF"/>
                </a:solidFill>
                <a:latin typeface="Arial"/>
              </a:defRPr>
            </a:pPr>
            <a:r>
              <a:t>Señal de relevo a 3:40 · cambio de ponente a 4:00 · demo sin búsquedas improvisadas</a:t>
            </a:r>
          </a:p>
        </p:txBody>
      </p:sp>
      <p:cxnSp>
        <p:nvCxnSpPr>
          <p:cNvPr id="31" name="Connector 30"/>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33" name="TextBox 32"/>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Equipo · Apoyo | ANEXO · FUERA DEL CRONÓMETRO</a:t>
            </a:r>
          </a:p>
        </p:txBody>
      </p:sp>
      <p:sp>
        <p:nvSpPr>
          <p:cNvPr id="34" name="TextBox 33"/>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A1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ANEXO 2 · DEMO Y CONTINGENCIA</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Preparar una demo que no dependa de improvisar</a:t>
            </a:r>
          </a:p>
        </p:txBody>
      </p:sp>
      <p:sp>
        <p:nvSpPr>
          <p:cNvPr id="4" name="TextBox 3"/>
          <p:cNvSpPr txBox="1"/>
          <p:nvPr/>
        </p:nvSpPr>
        <p:spPr>
          <a:xfrm>
            <a:off x="508000" y="1943100"/>
            <a:ext cx="2159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1F5EFF"/>
                </a:solidFill>
                <a:latin typeface="Arial"/>
              </a:defRPr>
            </a:pPr>
            <a:r>
              <a:t>Entorno</a:t>
            </a:r>
          </a:p>
        </p:txBody>
      </p:sp>
      <p:sp>
        <p:nvSpPr>
          <p:cNvPr id="5" name="TextBox 4"/>
          <p:cNvSpPr txBox="1"/>
          <p:nvPr/>
        </p:nvSpPr>
        <p:spPr>
          <a:xfrm>
            <a:off x="508000" y="2298700"/>
            <a:ext cx="60325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task up · o task docker:up</a:t>
            </a:r>
          </a:p>
        </p:txBody>
      </p:sp>
      <p:sp>
        <p:nvSpPr>
          <p:cNvPr id="6" name="TextBox 5"/>
          <p:cNvSpPr txBox="1"/>
          <p:nvPr/>
        </p:nvSpPr>
        <p:spPr>
          <a:xfrm>
            <a:off x="508000" y="2870200"/>
            <a:ext cx="2159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1F5EFF"/>
                </a:solidFill>
                <a:latin typeface="Arial"/>
              </a:defRPr>
            </a:pPr>
            <a:r>
              <a:t>Datos</a:t>
            </a:r>
          </a:p>
        </p:txBody>
      </p:sp>
      <p:sp>
        <p:nvSpPr>
          <p:cNvPr id="7" name="TextBox 6"/>
          <p:cNvSpPr txBox="1"/>
          <p:nvPr/>
        </p:nvSpPr>
        <p:spPr>
          <a:xfrm>
            <a:off x="508000" y="3225800"/>
            <a:ext cx="60325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Cuenta demo, cliente activo y pago registrado.</a:t>
            </a:r>
          </a:p>
        </p:txBody>
      </p:sp>
      <p:sp>
        <p:nvSpPr>
          <p:cNvPr id="8" name="TextBox 7"/>
          <p:cNvSpPr txBox="1"/>
          <p:nvPr/>
        </p:nvSpPr>
        <p:spPr>
          <a:xfrm>
            <a:off x="508000" y="3797300"/>
            <a:ext cx="2159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1F5EFF"/>
                </a:solidFill>
                <a:latin typeface="Arial"/>
              </a:defRPr>
            </a:pPr>
            <a:r>
              <a:t>Clase</a:t>
            </a:r>
          </a:p>
        </p:txBody>
      </p:sp>
      <p:sp>
        <p:nvSpPr>
          <p:cNvPr id="9" name="TextBox 8"/>
          <p:cNvSpPr txBox="1"/>
          <p:nvPr/>
        </p:nvSpPr>
        <p:spPr>
          <a:xfrm>
            <a:off x="508000" y="4152900"/>
            <a:ext cx="60325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Futura, con plaza libre y sin reserva duplicada.</a:t>
            </a:r>
          </a:p>
        </p:txBody>
      </p:sp>
      <p:sp>
        <p:nvSpPr>
          <p:cNvPr id="10" name="TextBox 9"/>
          <p:cNvSpPr txBox="1"/>
          <p:nvPr/>
        </p:nvSpPr>
        <p:spPr>
          <a:xfrm>
            <a:off x="508000" y="4724400"/>
            <a:ext cx="2159000" cy="332486"/>
          </a:xfrm>
          <a:prstGeom prst="rect">
            <a:avLst/>
          </a:prstGeom>
          <a:noFill/>
        </p:spPr>
        <p:txBody>
          <a:bodyPr wrap="none" lIns="0" rIns="0" tIns="0" bIns="0" anchor="t">
            <a:spAutoFit/>
          </a:bodyPr>
          <a:lstStyle/>
          <a:p>
            <a:pPr algn="l">
              <a:lnSpc>
                <a:spcPts val="2318"/>
              </a:lnSpc>
              <a:spcBef>
                <a:spcPts val="0"/>
              </a:spcBef>
              <a:spcAft>
                <a:spcPts val="0"/>
              </a:spcAft>
              <a:defRPr sz="1900" b="1">
                <a:solidFill>
                  <a:srgbClr val="1F5EFF"/>
                </a:solidFill>
                <a:latin typeface="Arial"/>
              </a:defRPr>
            </a:pPr>
            <a:r>
              <a:t>Pestañas</a:t>
            </a:r>
          </a:p>
        </p:txBody>
      </p:sp>
      <p:sp>
        <p:nvSpPr>
          <p:cNvPr id="11" name="TextBox 10"/>
          <p:cNvSpPr txBox="1"/>
          <p:nvPr/>
        </p:nvSpPr>
        <p:spPr>
          <a:xfrm>
            <a:off x="508000" y="5080000"/>
            <a:ext cx="6032500" cy="286004"/>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Portal · Mis reservas · Swagger · código · CI</a:t>
            </a:r>
          </a:p>
        </p:txBody>
      </p:sp>
      <p:sp>
        <p:nvSpPr>
          <p:cNvPr id="12" name="Rounded Rectangle 11"/>
          <p:cNvSpPr/>
          <p:nvPr/>
        </p:nvSpPr>
        <p:spPr>
          <a:xfrm>
            <a:off x="7048500" y="1943100"/>
            <a:ext cx="4635500" cy="3962400"/>
          </a:xfrm>
          <a:prstGeom prst="roundRect">
            <a:avLst>
              <a:gd name="adj" fmla="val 10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7900" y="2209800"/>
            <a:ext cx="4076700" cy="224028"/>
          </a:xfrm>
          <a:prstGeom prst="rect">
            <a:avLst/>
          </a:prstGeom>
          <a:noFill/>
        </p:spPr>
        <p:txBody>
          <a:bodyPr wrap="none" lIns="0" rIns="0" tIns="0" bIns="0" anchor="t">
            <a:spAutoFit/>
          </a:bodyPr>
          <a:lstStyle/>
          <a:p>
            <a:pPr algn="l">
              <a:lnSpc>
                <a:spcPts val="1464"/>
              </a:lnSpc>
              <a:spcBef>
                <a:spcPts val="0"/>
              </a:spcBef>
              <a:spcAft>
                <a:spcPts val="0"/>
              </a:spcAft>
              <a:defRPr sz="1200" b="1">
                <a:solidFill>
                  <a:srgbClr val="FF7A1A"/>
                </a:solidFill>
                <a:latin typeface="Arial"/>
              </a:defRPr>
            </a:pPr>
            <a:r>
              <a:t>VERIFICACIÓN DEL 19/10</a:t>
            </a:r>
          </a:p>
        </p:txBody>
      </p:sp>
      <p:sp>
        <p:nvSpPr>
          <p:cNvPr id="14" name="TextBox 13"/>
          <p:cNvSpPr txBox="1"/>
          <p:nvPr/>
        </p:nvSpPr>
        <p:spPr>
          <a:xfrm>
            <a:off x="7327900" y="2679700"/>
            <a:ext cx="4076700" cy="781812"/>
          </a:xfrm>
          <a:prstGeom prst="rect">
            <a:avLst/>
          </a:prstGeom>
          <a:noFill/>
        </p:spPr>
        <p:txBody>
          <a:bodyPr wrap="none" lIns="0" rIns="0" tIns="0" bIns="0" anchor="t">
            <a:spAutoFit/>
          </a:bodyPr>
          <a:lstStyle/>
          <a:p>
            <a:pPr algn="l">
              <a:lnSpc>
                <a:spcPts val="2928"/>
              </a:lnSpc>
              <a:spcBef>
                <a:spcPts val="0"/>
              </a:spcBef>
              <a:spcAft>
                <a:spcPts val="0"/>
              </a:spcAft>
              <a:defRPr sz="2400" b="1">
                <a:solidFill>
                  <a:srgbClr val="FFFFFF"/>
                </a:solidFill>
                <a:latin typeface="Arial"/>
              </a:defRPr>
            </a:pPr>
            <a:r>
              <a:t>Local: esquema 0.4</a:t>
            </a:r>
          </a:p>
          <a:p>
            <a:pPr algn="l">
              <a:lnSpc>
                <a:spcPts val="2928"/>
              </a:lnSpc>
              <a:spcBef>
                <a:spcPts val="0"/>
              </a:spcBef>
              <a:spcAft>
                <a:spcPts val="0"/>
              </a:spcAft>
              <a:defRPr sz="2400" b="1">
                <a:solidFill>
                  <a:srgbClr val="FFFFFF"/>
                </a:solidFill>
                <a:latin typeface="Arial"/>
              </a:defRPr>
            </a:pPr>
            <a:r>
              <a:t>Público: esquema 0.3</a:t>
            </a:r>
          </a:p>
        </p:txBody>
      </p:sp>
      <p:sp>
        <p:nvSpPr>
          <p:cNvPr id="15" name="TextBox 14"/>
          <p:cNvSpPr txBox="1"/>
          <p:nvPr/>
        </p:nvSpPr>
        <p:spPr>
          <a:xfrm>
            <a:off x="7327900" y="3733800"/>
            <a:ext cx="4076700" cy="781812"/>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C7D3EA"/>
                </a:solidFill>
                <a:latin typeface="Arial"/>
              </a:defRPr>
            </a:pPr>
            <a:r>
              <a:t>Comprobar paridad antes de usar Render</a:t>
            </a:r>
          </a:p>
          <a:p>
            <a:pPr algn="l">
              <a:lnSpc>
                <a:spcPts val="1952"/>
              </a:lnSpc>
              <a:spcBef>
                <a:spcPts val="0"/>
              </a:spcBef>
              <a:spcAft>
                <a:spcPts val="0"/>
              </a:spcAft>
              <a:defRPr sz="1600" b="0">
                <a:solidFill>
                  <a:srgbClr val="C7D3EA"/>
                </a:solidFill>
                <a:latin typeface="Arial"/>
              </a:defRPr>
            </a:pPr>
            <a:r>
              <a:t>para mostrar permisos actuales. La demo</a:t>
            </a:r>
          </a:p>
          <a:p>
            <a:pPr algn="l">
              <a:lnSpc>
                <a:spcPts val="1952"/>
              </a:lnSpc>
              <a:spcBef>
                <a:spcPts val="0"/>
              </a:spcBef>
              <a:spcAft>
                <a:spcPts val="0"/>
              </a:spcAft>
              <a:defRPr sz="1600" b="0">
                <a:solidFill>
                  <a:srgbClr val="C7D3EA"/>
                </a:solidFill>
                <a:latin typeface="Arial"/>
              </a:defRPr>
            </a:pPr>
            <a:r>
              <a:t>preparada usa local.</a:t>
            </a:r>
          </a:p>
        </p:txBody>
      </p:sp>
      <p:sp>
        <p:nvSpPr>
          <p:cNvPr id="16" name="TextBox 15"/>
          <p:cNvSpPr txBox="1"/>
          <p:nvPr/>
        </p:nvSpPr>
        <p:spPr>
          <a:xfrm>
            <a:off x="7327900" y="4953000"/>
            <a:ext cx="4076700" cy="50292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C7D3EA"/>
                </a:solidFill>
                <a:latin typeface="Arial"/>
              </a:defRPr>
            </a:pPr>
            <a:r>
              <a:t>Plan B: capturas incluidas + explicación del</a:t>
            </a:r>
          </a:p>
          <a:p>
            <a:pPr algn="l">
              <a:lnSpc>
                <a:spcPts val="1830"/>
              </a:lnSpc>
              <a:spcBef>
                <a:spcPts val="0"/>
              </a:spcBef>
              <a:spcAft>
                <a:spcPts val="0"/>
              </a:spcAft>
              <a:defRPr sz="1500" b="0">
                <a:solidFill>
                  <a:srgbClr val="C7D3EA"/>
                </a:solidFill>
                <a:latin typeface="Arial"/>
              </a:defRPr>
            </a:pPr>
            <a:r>
              <a:t>flujo. No prolongar la espera más de 15 s.</a:t>
            </a:r>
          </a:p>
        </p:txBody>
      </p:sp>
      <p:cxnSp>
        <p:nvCxnSpPr>
          <p:cNvPr id="17" name="Connector 16"/>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19" name="TextBox 18"/>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Equipo · Apoyo | ANEXO · FUERA DEL CRONÓMETRO</a:t>
            </a:r>
          </a:p>
        </p:txBody>
      </p:sp>
      <p:sp>
        <p:nvSpPr>
          <p:cNvPr id="20" name="TextBox 19"/>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A2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ANEXO 3 · ALCANCE Y EVOLUCIÓN</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Distinguir la entrega actual de las siguientes mejoras</a:t>
            </a:r>
          </a:p>
        </p:txBody>
      </p:sp>
      <p:sp>
        <p:nvSpPr>
          <p:cNvPr id="4" name="Rounded Rectangle 3"/>
          <p:cNvSpPr/>
          <p:nvPr/>
        </p:nvSpPr>
        <p:spPr>
          <a:xfrm>
            <a:off x="508000" y="1955800"/>
            <a:ext cx="5410200" cy="38227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6600" y="2184400"/>
            <a:ext cx="4953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IMPLEMENTADO EN MAIN</a:t>
            </a:r>
          </a:p>
        </p:txBody>
      </p:sp>
      <p:sp>
        <p:nvSpPr>
          <p:cNvPr id="6" name="TextBox 5"/>
          <p:cNvSpPr txBox="1"/>
          <p:nvPr/>
        </p:nvSpPr>
        <p:spPr>
          <a:xfrm>
            <a:off x="736600" y="2501900"/>
            <a:ext cx="49530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Operación y</a:t>
            </a:r>
          </a:p>
          <a:p>
            <a:pPr algn="l">
              <a:lnSpc>
                <a:spcPts val="2562"/>
              </a:lnSpc>
              <a:spcBef>
                <a:spcPts val="0"/>
              </a:spcBef>
              <a:spcAft>
                <a:spcPts val="0"/>
              </a:spcAft>
              <a:defRPr sz="2100" b="1">
                <a:solidFill>
                  <a:srgbClr val="0F172A"/>
                </a:solidFill>
                <a:latin typeface="Arial"/>
              </a:defRPr>
            </a:pPr>
            <a:r>
              <a:t>acceso seguros</a:t>
            </a:r>
          </a:p>
        </p:txBody>
      </p:sp>
      <p:sp>
        <p:nvSpPr>
          <p:cNvPr id="7" name="TextBox 6"/>
          <p:cNvSpPr txBox="1"/>
          <p:nvPr/>
        </p:nvSpPr>
        <p:spPr>
          <a:xfrm>
            <a:off x="736600" y="3327400"/>
            <a:ext cx="4953000" cy="781812"/>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CRUD · filtros · paginación · CSV</a:t>
            </a:r>
          </a:p>
          <a:p>
            <a:pPr algn="l">
              <a:lnSpc>
                <a:spcPts val="1952"/>
              </a:lnSpc>
              <a:spcBef>
                <a:spcPts val="0"/>
              </a:spcBef>
              <a:spcAft>
                <a:spcPts val="0"/>
              </a:spcAft>
              <a:defRPr sz="1600" b="0">
                <a:solidFill>
                  <a:srgbClr val="475569"/>
                </a:solidFill>
                <a:latin typeface="Arial"/>
              </a:defRPr>
            </a:pPr>
            <a:r>
              <a:t>JWT · roles · perfil y contraseña</a:t>
            </a:r>
          </a:p>
          <a:p>
            <a:pPr algn="l">
              <a:lnSpc>
                <a:spcPts val="1952"/>
              </a:lnSpc>
              <a:spcBef>
                <a:spcPts val="0"/>
              </a:spcBef>
              <a:spcAft>
                <a:spcPts val="0"/>
              </a:spcAft>
              <a:defRPr sz="1600" b="0">
                <a:solidFill>
                  <a:srgbClr val="475569"/>
                </a:solidFill>
                <a:latin typeface="Arial"/>
              </a:defRPr>
            </a:pPr>
            <a:r>
              <a:t>Portal Angular · Docker · CI</a:t>
            </a:r>
          </a:p>
        </p:txBody>
      </p:sp>
      <p:sp>
        <p:nvSpPr>
          <p:cNvPr id="8" name="Rounded Rectangle 7"/>
          <p:cNvSpPr/>
          <p:nvPr/>
        </p:nvSpPr>
        <p:spPr>
          <a:xfrm>
            <a:off x="6273800" y="1955800"/>
            <a:ext cx="5410200" cy="38227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2400" y="2184400"/>
            <a:ext cx="4953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EVOLUCIÓN DEL BACKLOG</a:t>
            </a:r>
          </a:p>
        </p:txBody>
      </p:sp>
      <p:sp>
        <p:nvSpPr>
          <p:cNvPr id="10" name="TextBox 9"/>
          <p:cNvSpPr txBox="1"/>
          <p:nvPr/>
        </p:nvSpPr>
        <p:spPr>
          <a:xfrm>
            <a:off x="6502400" y="2501900"/>
            <a:ext cx="4953000" cy="688848"/>
          </a:xfrm>
          <a:prstGeom prst="rect">
            <a:avLst/>
          </a:prstGeom>
          <a:noFill/>
        </p:spPr>
        <p:txBody>
          <a:bodyPr wrap="none" lIns="0" rIns="0" tIns="0" bIns="0" anchor="t">
            <a:spAutoFit/>
          </a:bodyPr>
          <a:lstStyle/>
          <a:p>
            <a:pPr algn="l">
              <a:lnSpc>
                <a:spcPts val="2562"/>
              </a:lnSpc>
              <a:spcBef>
                <a:spcPts val="0"/>
              </a:spcBef>
              <a:spcAft>
                <a:spcPts val="0"/>
              </a:spcAft>
              <a:defRPr sz="2100" b="1">
                <a:solidFill>
                  <a:srgbClr val="0F172A"/>
                </a:solidFill>
                <a:latin typeface="Arial"/>
              </a:defRPr>
            </a:pPr>
            <a:r>
              <a:t>Integraciones y</a:t>
            </a:r>
          </a:p>
          <a:p>
            <a:pPr algn="l">
              <a:lnSpc>
                <a:spcPts val="2562"/>
              </a:lnSpc>
              <a:spcBef>
                <a:spcPts val="0"/>
              </a:spcBef>
              <a:spcAft>
                <a:spcPts val="0"/>
              </a:spcAft>
              <a:defRPr sz="2100" b="1">
                <a:solidFill>
                  <a:srgbClr val="0F172A"/>
                </a:solidFill>
                <a:latin typeface="Arial"/>
              </a:defRPr>
            </a:pPr>
            <a:r>
              <a:t>seguridad avanzada</a:t>
            </a:r>
          </a:p>
        </p:txBody>
      </p:sp>
      <p:sp>
        <p:nvSpPr>
          <p:cNvPr id="11" name="TextBox 10"/>
          <p:cNvSpPr txBox="1"/>
          <p:nvPr/>
        </p:nvSpPr>
        <p:spPr>
          <a:xfrm>
            <a:off x="6502400" y="3327400"/>
            <a:ext cx="4953000" cy="781812"/>
          </a:xfrm>
          <a:prstGeom prst="rect">
            <a:avLst/>
          </a:prstGeom>
          <a:noFill/>
        </p:spPr>
        <p:txBody>
          <a:bodyPr wrap="none" lIns="0" rIns="0" tIns="0" bIns="0" anchor="t">
            <a:spAutoFit/>
          </a:bodyPr>
          <a:lstStyle/>
          <a:p>
            <a:pPr algn="l">
              <a:lnSpc>
                <a:spcPts val="1952"/>
              </a:lnSpc>
              <a:spcBef>
                <a:spcPts val="0"/>
              </a:spcBef>
              <a:spcAft>
                <a:spcPts val="0"/>
              </a:spcAft>
              <a:defRPr sz="1600" b="0">
                <a:solidFill>
                  <a:srgbClr val="475569"/>
                </a:solidFill>
                <a:latin typeface="Arial"/>
              </a:defRPr>
            </a:pPr>
            <a:r>
              <a:t>Cobro online y notificaciones</a:t>
            </a:r>
          </a:p>
          <a:p>
            <a:pPr algn="l">
              <a:lnSpc>
                <a:spcPts val="1952"/>
              </a:lnSpc>
              <a:spcBef>
                <a:spcPts val="0"/>
              </a:spcBef>
              <a:spcAft>
                <a:spcPts val="0"/>
              </a:spcAft>
              <a:defRPr sz="1600" b="0">
                <a:solidFill>
                  <a:srgbClr val="475569"/>
                </a:solidFill>
                <a:latin typeface="Arial"/>
              </a:defRPr>
            </a:pPr>
            <a:r>
              <a:t>OAuth social / 2FA / refresh tokens</a:t>
            </a:r>
          </a:p>
          <a:p>
            <a:pPr algn="l">
              <a:lnSpc>
                <a:spcPts val="1952"/>
              </a:lnSpc>
              <a:spcBef>
                <a:spcPts val="0"/>
              </a:spcBef>
              <a:spcAft>
                <a:spcPts val="0"/>
              </a:spcAft>
              <a:defRPr sz="1600" b="0">
                <a:solidFill>
                  <a:srgbClr val="475569"/>
                </a:solidFill>
                <a:latin typeface="Arial"/>
              </a:defRPr>
            </a:pPr>
            <a:r>
              <a:t>Caché y actualizaciones en tiempo real</a:t>
            </a:r>
          </a:p>
        </p:txBody>
      </p:sp>
      <p:sp>
        <p:nvSpPr>
          <p:cNvPr id="12" name="TextBox 11"/>
          <p:cNvSpPr txBox="1"/>
          <p:nvPr/>
        </p:nvSpPr>
        <p:spPr>
          <a:xfrm>
            <a:off x="508000" y="5943600"/>
            <a:ext cx="11176000" cy="255015"/>
          </a:xfrm>
          <a:prstGeom prst="rect">
            <a:avLst/>
          </a:prstGeom>
          <a:noFill/>
        </p:spPr>
        <p:txBody>
          <a:bodyPr wrap="none" lIns="0" rIns="0" tIns="0" bIns="0" anchor="t">
            <a:spAutoFit/>
          </a:bodyPr>
          <a:lstStyle/>
          <a:p>
            <a:pPr algn="l">
              <a:lnSpc>
                <a:spcPts val="1707"/>
              </a:lnSpc>
              <a:spcBef>
                <a:spcPts val="0"/>
              </a:spcBef>
              <a:spcAft>
                <a:spcPts val="0"/>
              </a:spcAft>
              <a:defRPr sz="1400" b="0">
                <a:solidFill>
                  <a:srgbClr val="475569"/>
                </a:solidFill>
                <a:latin typeface="Arial"/>
              </a:defRPr>
            </a:pPr>
            <a:r>
              <a:t>Regla vigente: al menos un pago; el modelo no define periodos de membresía.</a:t>
            </a:r>
          </a:p>
        </p:txBody>
      </p:sp>
      <p:cxnSp>
        <p:nvCxnSpPr>
          <p:cNvPr id="13" name="Connector 12"/>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15" name="TextBox 14"/>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Equipo · Apoyo | ANEXO · FUERA DEL CRONÓMETRO</a:t>
            </a:r>
          </a:p>
        </p:txBody>
      </p:sp>
      <p:sp>
        <p:nvSpPr>
          <p:cNvPr id="16" name="TextBox 15"/>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A3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bg>
      <p:bgPr>
        <a:solidFill>
          <a:srgbClr val="F8FAFC"/>
        </a:solidFill>
        <a:effectLst/>
      </p:bgPr>
    </p:bg>
    <p:spTree>
      <p:nvGrpSpPr>
        <p:cNvPr id="1" name=""/>
        <p:cNvGrpSpPr/>
        <p:nvPr/>
      </p:nvGrpSpPr>
      <p:grpSpPr/>
      <p:sp>
        <p:nvSpPr>
          <p:cNvPr id="2" name="TextBox 1"/>
          <p:cNvSpPr txBox="1"/>
          <p:nvPr/>
        </p:nvSpPr>
        <p:spPr>
          <a:xfrm>
            <a:off x="508000" y="317500"/>
            <a:ext cx="8890000" cy="208534"/>
          </a:xfrm>
          <a:prstGeom prst="rect">
            <a:avLst/>
          </a:prstGeom>
          <a:noFill/>
        </p:spPr>
        <p:txBody>
          <a:bodyPr wrap="none" lIns="0" rIns="0" tIns="0" bIns="0" anchor="t">
            <a:spAutoFit/>
          </a:bodyPr>
          <a:lstStyle/>
          <a:p>
            <a:pPr algn="l">
              <a:lnSpc>
                <a:spcPts val="1342"/>
              </a:lnSpc>
              <a:spcBef>
                <a:spcPts val="0"/>
              </a:spcBef>
              <a:spcAft>
                <a:spcPts val="0"/>
              </a:spcAft>
              <a:defRPr sz="1100" b="1">
                <a:solidFill>
                  <a:srgbClr val="1F5EFF"/>
                </a:solidFill>
                <a:latin typeface="Arial"/>
              </a:defRPr>
            </a:pPr>
            <a:r>
              <a:t>ANEXO 4 · REFERENCIAS</a:t>
            </a:r>
          </a:p>
        </p:txBody>
      </p:sp>
      <p:sp>
        <p:nvSpPr>
          <p:cNvPr id="3" name="TextBox 2"/>
          <p:cNvSpPr txBox="1"/>
          <p:nvPr/>
        </p:nvSpPr>
        <p:spPr>
          <a:xfrm>
            <a:off x="508000" y="685800"/>
            <a:ext cx="11176000" cy="990600"/>
          </a:xfrm>
          <a:prstGeom prst="rect">
            <a:avLst/>
          </a:prstGeom>
          <a:noFill/>
        </p:spPr>
        <p:txBody>
          <a:bodyPr wrap="none" lIns="0" rIns="0" tIns="0" bIns="0" anchor="t">
            <a:spAutoFit/>
          </a:bodyPr>
          <a:lstStyle/>
          <a:p>
            <a:pPr algn="l">
              <a:lnSpc>
                <a:spcPts val="3660"/>
              </a:lnSpc>
              <a:spcBef>
                <a:spcPts val="0"/>
              </a:spcBef>
              <a:spcAft>
                <a:spcPts val="0"/>
              </a:spcAft>
              <a:defRPr sz="3000" b="1">
                <a:solidFill>
                  <a:srgbClr val="0F172A"/>
                </a:solidFill>
                <a:latin typeface="Arial"/>
              </a:defRPr>
            </a:pPr>
            <a:r>
              <a:t>Fuentes verificables y preguntas repartidas</a:t>
            </a:r>
          </a:p>
        </p:txBody>
      </p:sp>
      <p:sp>
        <p:nvSpPr>
          <p:cNvPr id="4" name="TextBox 3"/>
          <p:cNvSpPr txBox="1"/>
          <p:nvPr/>
        </p:nvSpPr>
        <p:spPr>
          <a:xfrm>
            <a:off x="508000" y="1447800"/>
            <a:ext cx="11176000" cy="270510"/>
          </a:xfrm>
          <a:prstGeom prst="rect">
            <a:avLst/>
          </a:prstGeom>
          <a:noFill/>
        </p:spPr>
        <p:txBody>
          <a:bodyPr wrap="none" lIns="0" rIns="0" tIns="0" bIns="0" anchor="t">
            <a:spAutoFit/>
          </a:bodyPr>
          <a:lstStyle/>
          <a:p>
            <a:pPr algn="l">
              <a:lnSpc>
                <a:spcPts val="1830"/>
              </a:lnSpc>
              <a:spcBef>
                <a:spcPts val="0"/>
              </a:spcBef>
              <a:spcAft>
                <a:spcPts val="0"/>
              </a:spcAft>
              <a:defRPr sz="1500" b="0">
                <a:solidFill>
                  <a:srgbClr val="475569"/>
                </a:solidFill>
                <a:latin typeface="Arial"/>
              </a:defRPr>
            </a:pPr>
            <a:r>
              <a:t>Base: main · commit 2beb0b4 · revisión del 19 de octubre de 2026</a:t>
            </a:r>
          </a:p>
        </p:txBody>
      </p:sp>
      <p:sp>
        <p:nvSpPr>
          <p:cNvPr id="5" name="TextBox 4"/>
          <p:cNvSpPr txBox="1"/>
          <p:nvPr/>
        </p:nvSpPr>
        <p:spPr>
          <a:xfrm>
            <a:off x="508000" y="1993900"/>
            <a:ext cx="5842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rPr>
                <a:hlinkClick r:id="rId2"/>
              </a:rPr>
              <a:t>Repositorio y código</a:t>
            </a:r>
          </a:p>
        </p:txBody>
      </p:sp>
      <p:sp>
        <p:nvSpPr>
          <p:cNvPr id="6" name="TextBox 5"/>
          <p:cNvSpPr txBox="1"/>
          <p:nvPr/>
        </p:nvSpPr>
        <p:spPr>
          <a:xfrm>
            <a:off x="508000" y="2336800"/>
            <a:ext cx="5842000" cy="208534"/>
          </a:xfrm>
          <a:prstGeom prst="rect">
            <a:avLst/>
          </a:prstGeom>
          <a:noFill/>
        </p:spPr>
        <p:txBody>
          <a:bodyPr wrap="none" lIns="0" rIns="0" tIns="0" bIns="0" anchor="t">
            <a:spAutoFit/>
          </a:bodyPr>
          <a:lstStyle/>
          <a:p>
            <a:pPr algn="l">
              <a:lnSpc>
                <a:spcPts val="1342"/>
              </a:lnSpc>
              <a:spcBef>
                <a:spcPts val="0"/>
              </a:spcBef>
              <a:spcAft>
                <a:spcPts val="0"/>
              </a:spcAft>
              <a:defRPr sz="1100" b="0">
                <a:solidFill>
                  <a:srgbClr val="475569"/>
                </a:solidFill>
                <a:latin typeface="Arial"/>
              </a:defRPr>
            </a:pPr>
            <a:r>
              <a:rPr>
                <a:hlinkClick r:id="rId2"/>
              </a:rPr>
              <a:t>Abrir fuente</a:t>
            </a:r>
          </a:p>
        </p:txBody>
      </p:sp>
      <p:sp>
        <p:nvSpPr>
          <p:cNvPr id="7" name="TextBox 6"/>
          <p:cNvSpPr txBox="1"/>
          <p:nvPr/>
        </p:nvSpPr>
        <p:spPr>
          <a:xfrm>
            <a:off x="508000" y="2705100"/>
            <a:ext cx="5842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rPr>
                <a:hlinkClick r:id="rId3"/>
              </a:rPr>
              <a:t>Tablero de coordinación</a:t>
            </a:r>
          </a:p>
        </p:txBody>
      </p:sp>
      <p:sp>
        <p:nvSpPr>
          <p:cNvPr id="8" name="TextBox 7"/>
          <p:cNvSpPr txBox="1"/>
          <p:nvPr/>
        </p:nvSpPr>
        <p:spPr>
          <a:xfrm>
            <a:off x="508000" y="3048000"/>
            <a:ext cx="5842000" cy="208534"/>
          </a:xfrm>
          <a:prstGeom prst="rect">
            <a:avLst/>
          </a:prstGeom>
          <a:noFill/>
        </p:spPr>
        <p:txBody>
          <a:bodyPr wrap="none" lIns="0" rIns="0" tIns="0" bIns="0" anchor="t">
            <a:spAutoFit/>
          </a:bodyPr>
          <a:lstStyle/>
          <a:p>
            <a:pPr algn="l">
              <a:lnSpc>
                <a:spcPts val="1342"/>
              </a:lnSpc>
              <a:spcBef>
                <a:spcPts val="0"/>
              </a:spcBef>
              <a:spcAft>
                <a:spcPts val="0"/>
              </a:spcAft>
              <a:defRPr sz="1100" b="0">
                <a:solidFill>
                  <a:srgbClr val="475569"/>
                </a:solidFill>
                <a:latin typeface="Arial"/>
              </a:defRPr>
            </a:pPr>
            <a:r>
              <a:rPr>
                <a:hlinkClick r:id="rId3"/>
              </a:rPr>
              <a:t>Abrir fuente</a:t>
            </a:r>
          </a:p>
        </p:txBody>
      </p:sp>
      <p:sp>
        <p:nvSpPr>
          <p:cNvPr id="9" name="TextBox 8"/>
          <p:cNvSpPr txBox="1"/>
          <p:nvPr/>
        </p:nvSpPr>
        <p:spPr>
          <a:xfrm>
            <a:off x="508000" y="3416300"/>
            <a:ext cx="5842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rPr>
                <a:hlinkClick r:id="rId4"/>
              </a:rPr>
              <a:t>CI backend · 376 pruebas</a:t>
            </a:r>
          </a:p>
        </p:txBody>
      </p:sp>
      <p:sp>
        <p:nvSpPr>
          <p:cNvPr id="10" name="TextBox 9"/>
          <p:cNvSpPr txBox="1"/>
          <p:nvPr/>
        </p:nvSpPr>
        <p:spPr>
          <a:xfrm>
            <a:off x="508000" y="3759200"/>
            <a:ext cx="5842000" cy="208534"/>
          </a:xfrm>
          <a:prstGeom prst="rect">
            <a:avLst/>
          </a:prstGeom>
          <a:noFill/>
        </p:spPr>
        <p:txBody>
          <a:bodyPr wrap="none" lIns="0" rIns="0" tIns="0" bIns="0" anchor="t">
            <a:spAutoFit/>
          </a:bodyPr>
          <a:lstStyle/>
          <a:p>
            <a:pPr algn="l">
              <a:lnSpc>
                <a:spcPts val="1342"/>
              </a:lnSpc>
              <a:spcBef>
                <a:spcPts val="0"/>
              </a:spcBef>
              <a:spcAft>
                <a:spcPts val="0"/>
              </a:spcAft>
              <a:defRPr sz="1100" b="0">
                <a:solidFill>
                  <a:srgbClr val="475569"/>
                </a:solidFill>
                <a:latin typeface="Arial"/>
              </a:defRPr>
            </a:pPr>
            <a:r>
              <a:rPr>
                <a:hlinkClick r:id="rId4"/>
              </a:rPr>
              <a:t>Abrir fuente</a:t>
            </a:r>
          </a:p>
        </p:txBody>
      </p:sp>
      <p:sp>
        <p:nvSpPr>
          <p:cNvPr id="11" name="TextBox 10"/>
          <p:cNvSpPr txBox="1"/>
          <p:nvPr/>
        </p:nvSpPr>
        <p:spPr>
          <a:xfrm>
            <a:off x="508000" y="4127500"/>
            <a:ext cx="5842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rPr>
                <a:hlinkClick r:id="rId5"/>
              </a:rPr>
              <a:t>Documentación y decisiones</a:t>
            </a:r>
          </a:p>
        </p:txBody>
      </p:sp>
      <p:sp>
        <p:nvSpPr>
          <p:cNvPr id="12" name="TextBox 11"/>
          <p:cNvSpPr txBox="1"/>
          <p:nvPr/>
        </p:nvSpPr>
        <p:spPr>
          <a:xfrm>
            <a:off x="508000" y="4470400"/>
            <a:ext cx="5842000" cy="208534"/>
          </a:xfrm>
          <a:prstGeom prst="rect">
            <a:avLst/>
          </a:prstGeom>
          <a:noFill/>
        </p:spPr>
        <p:txBody>
          <a:bodyPr wrap="none" lIns="0" rIns="0" tIns="0" bIns="0" anchor="t">
            <a:spAutoFit/>
          </a:bodyPr>
          <a:lstStyle/>
          <a:p>
            <a:pPr algn="l">
              <a:lnSpc>
                <a:spcPts val="1342"/>
              </a:lnSpc>
              <a:spcBef>
                <a:spcPts val="0"/>
              </a:spcBef>
              <a:spcAft>
                <a:spcPts val="0"/>
              </a:spcAft>
              <a:defRPr sz="1100" b="0">
                <a:solidFill>
                  <a:srgbClr val="475569"/>
                </a:solidFill>
                <a:latin typeface="Arial"/>
              </a:defRPr>
            </a:pPr>
            <a:r>
              <a:rPr>
                <a:hlinkClick r:id="rId5"/>
              </a:rPr>
              <a:t>Abrir fuente</a:t>
            </a:r>
          </a:p>
        </p:txBody>
      </p:sp>
      <p:sp>
        <p:nvSpPr>
          <p:cNvPr id="13" name="TextBox 12"/>
          <p:cNvSpPr txBox="1"/>
          <p:nvPr/>
        </p:nvSpPr>
        <p:spPr>
          <a:xfrm>
            <a:off x="508000" y="4838700"/>
            <a:ext cx="5842000" cy="316992"/>
          </a:xfrm>
          <a:prstGeom prst="rect">
            <a:avLst/>
          </a:prstGeom>
          <a:noFill/>
        </p:spPr>
        <p:txBody>
          <a:bodyPr wrap="none" lIns="0" rIns="0" tIns="0" bIns="0" anchor="t">
            <a:spAutoFit/>
          </a:bodyPr>
          <a:lstStyle/>
          <a:p>
            <a:pPr algn="l">
              <a:lnSpc>
                <a:spcPts val="2196"/>
              </a:lnSpc>
              <a:spcBef>
                <a:spcPts val="0"/>
              </a:spcBef>
              <a:spcAft>
                <a:spcPts val="0"/>
              </a:spcAft>
              <a:defRPr sz="1800" b="1">
                <a:solidFill>
                  <a:srgbClr val="1F5EFF"/>
                </a:solidFill>
                <a:latin typeface="Arial"/>
              </a:defRPr>
            </a:pPr>
            <a:r>
              <a:rPr>
                <a:hlinkClick r:id="rId6"/>
              </a:rPr>
              <a:t>Esquema relacional</a:t>
            </a:r>
          </a:p>
        </p:txBody>
      </p:sp>
      <p:sp>
        <p:nvSpPr>
          <p:cNvPr id="14" name="TextBox 13"/>
          <p:cNvSpPr txBox="1"/>
          <p:nvPr/>
        </p:nvSpPr>
        <p:spPr>
          <a:xfrm>
            <a:off x="508000" y="5181600"/>
            <a:ext cx="5842000" cy="208534"/>
          </a:xfrm>
          <a:prstGeom prst="rect">
            <a:avLst/>
          </a:prstGeom>
          <a:noFill/>
        </p:spPr>
        <p:txBody>
          <a:bodyPr wrap="none" lIns="0" rIns="0" tIns="0" bIns="0" anchor="t">
            <a:spAutoFit/>
          </a:bodyPr>
          <a:lstStyle/>
          <a:p>
            <a:pPr algn="l">
              <a:lnSpc>
                <a:spcPts val="1342"/>
              </a:lnSpc>
              <a:spcBef>
                <a:spcPts val="0"/>
              </a:spcBef>
              <a:spcAft>
                <a:spcPts val="0"/>
              </a:spcAft>
              <a:defRPr sz="1100" b="0">
                <a:solidFill>
                  <a:srgbClr val="475569"/>
                </a:solidFill>
                <a:latin typeface="Arial"/>
              </a:defRPr>
            </a:pPr>
            <a:r>
              <a:rPr>
                <a:hlinkClick r:id="rId6"/>
              </a:rPr>
              <a:t>Abrir fuente</a:t>
            </a:r>
          </a:p>
        </p:txBody>
      </p:sp>
      <p:sp>
        <p:nvSpPr>
          <p:cNvPr id="15" name="Rounded Rectangle 14"/>
          <p:cNvSpPr/>
          <p:nvPr/>
        </p:nvSpPr>
        <p:spPr>
          <a:xfrm>
            <a:off x="7162800" y="1955800"/>
            <a:ext cx="4521200" cy="3898900"/>
          </a:xfrm>
          <a:prstGeom prst="roundRect">
            <a:avLst>
              <a:gd name="adj" fmla="val 10000"/>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4100" y="2197100"/>
            <a:ext cx="4025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Miguel</a:t>
            </a:r>
          </a:p>
        </p:txBody>
      </p:sp>
      <p:sp>
        <p:nvSpPr>
          <p:cNvPr id="17" name="TextBox 16"/>
          <p:cNvSpPr txBox="1"/>
          <p:nvPr/>
        </p:nvSpPr>
        <p:spPr>
          <a:xfrm>
            <a:off x="7404100" y="2514600"/>
            <a:ext cx="4025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Problema, objetivos y producto</a:t>
            </a:r>
          </a:p>
        </p:txBody>
      </p:sp>
      <p:sp>
        <p:nvSpPr>
          <p:cNvPr id="18" name="TextBox 17"/>
          <p:cNvSpPr txBox="1"/>
          <p:nvPr/>
        </p:nvSpPr>
        <p:spPr>
          <a:xfrm>
            <a:off x="7404100" y="2895600"/>
            <a:ext cx="4025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Juan Carlos</a:t>
            </a:r>
          </a:p>
        </p:txBody>
      </p:sp>
      <p:sp>
        <p:nvSpPr>
          <p:cNvPr id="19" name="TextBox 18"/>
          <p:cNvSpPr txBox="1"/>
          <p:nvPr/>
        </p:nvSpPr>
        <p:spPr>
          <a:xfrm>
            <a:off x="7404100" y="3213100"/>
            <a:ext cx="4025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Historias, prioridades y proceso</a:t>
            </a:r>
          </a:p>
        </p:txBody>
      </p:sp>
      <p:sp>
        <p:nvSpPr>
          <p:cNvPr id="20" name="TextBox 19"/>
          <p:cNvSpPr txBox="1"/>
          <p:nvPr/>
        </p:nvSpPr>
        <p:spPr>
          <a:xfrm>
            <a:off x="7404100" y="3594100"/>
            <a:ext cx="4025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Fabiana</a:t>
            </a:r>
          </a:p>
        </p:txBody>
      </p:sp>
      <p:sp>
        <p:nvSpPr>
          <p:cNvPr id="21" name="TextBox 20"/>
          <p:cNvSpPr txBox="1"/>
          <p:nvPr/>
        </p:nvSpPr>
        <p:spPr>
          <a:xfrm>
            <a:off x="7404100" y="3911600"/>
            <a:ext cx="4025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API, permisos y modelo de datos</a:t>
            </a:r>
          </a:p>
        </p:txBody>
      </p:sp>
      <p:sp>
        <p:nvSpPr>
          <p:cNvPr id="22" name="TextBox 21"/>
          <p:cNvSpPr txBox="1"/>
          <p:nvPr/>
        </p:nvSpPr>
        <p:spPr>
          <a:xfrm>
            <a:off x="7404100" y="4292600"/>
            <a:ext cx="4025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Brian</a:t>
            </a:r>
          </a:p>
        </p:txBody>
      </p:sp>
      <p:sp>
        <p:nvSpPr>
          <p:cNvPr id="23" name="TextBox 22"/>
          <p:cNvSpPr txBox="1"/>
          <p:nvPr/>
        </p:nvSpPr>
        <p:spPr>
          <a:xfrm>
            <a:off x="7404100" y="4610100"/>
            <a:ext cx="4025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Interfaz y experiencia de usuario</a:t>
            </a:r>
          </a:p>
        </p:txBody>
      </p:sp>
      <p:sp>
        <p:nvSpPr>
          <p:cNvPr id="24" name="TextBox 23"/>
          <p:cNvSpPr txBox="1"/>
          <p:nvPr/>
        </p:nvSpPr>
        <p:spPr>
          <a:xfrm>
            <a:off x="7404100" y="4991100"/>
            <a:ext cx="4025900" cy="301498"/>
          </a:xfrm>
          <a:prstGeom prst="rect">
            <a:avLst/>
          </a:prstGeom>
          <a:noFill/>
        </p:spPr>
        <p:txBody>
          <a:bodyPr wrap="none" lIns="0" rIns="0" tIns="0" bIns="0" anchor="t">
            <a:spAutoFit/>
          </a:bodyPr>
          <a:lstStyle/>
          <a:p>
            <a:pPr algn="l">
              <a:lnSpc>
                <a:spcPts val="2074"/>
              </a:lnSpc>
              <a:spcBef>
                <a:spcPts val="0"/>
              </a:spcBef>
              <a:spcAft>
                <a:spcPts val="0"/>
              </a:spcAft>
              <a:defRPr sz="1700" b="1">
                <a:solidFill>
                  <a:srgbClr val="0F172A"/>
                </a:solidFill>
                <a:latin typeface="Arial"/>
              </a:defRPr>
            </a:pPr>
            <a:r>
              <a:t>David</a:t>
            </a:r>
          </a:p>
        </p:txBody>
      </p:sp>
      <p:sp>
        <p:nvSpPr>
          <p:cNvPr id="25" name="TextBox 24"/>
          <p:cNvSpPr txBox="1"/>
          <p:nvPr/>
        </p:nvSpPr>
        <p:spPr>
          <a:xfrm>
            <a:off x="7404100" y="5308600"/>
            <a:ext cx="4025900" cy="239522"/>
          </a:xfrm>
          <a:prstGeom prst="rect">
            <a:avLst/>
          </a:prstGeom>
          <a:noFill/>
        </p:spPr>
        <p:txBody>
          <a:bodyPr wrap="none" lIns="0" rIns="0" tIns="0" bIns="0" anchor="t">
            <a:spAutoFit/>
          </a:bodyPr>
          <a:lstStyle/>
          <a:p>
            <a:pPr algn="l">
              <a:lnSpc>
                <a:spcPts val="1586"/>
              </a:lnSpc>
              <a:spcBef>
                <a:spcPts val="0"/>
              </a:spcBef>
              <a:spcAft>
                <a:spcPts val="0"/>
              </a:spcAft>
              <a:defRPr sz="1300" b="0">
                <a:solidFill>
                  <a:srgbClr val="475569"/>
                </a:solidFill>
                <a:latin typeface="Arial"/>
              </a:defRPr>
            </a:pPr>
            <a:r>
              <a:t>Docker, nube, CI y operación</a:t>
            </a:r>
          </a:p>
        </p:txBody>
      </p:sp>
      <p:cxnSp>
        <p:nvCxnSpPr>
          <p:cNvPr id="26" name="Connector 25"/>
          <p:cNvCxnSpPr/>
          <p:nvPr/>
        </p:nvCxnSpPr>
        <p:spPr>
          <a:xfrm>
            <a:off x="508000" y="6311900"/>
            <a:ext cx="11176000" cy="0"/>
          </a:xfrm>
          <a:prstGeom prst="line">
            <a:avLst/>
          </a:prstGeom>
          <a:ln w="7620">
            <a:solidFill>
              <a:srgbClr val="CBD5E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8000" y="6464300"/>
            <a:ext cx="1143000" cy="193040"/>
          </a:xfrm>
          <a:prstGeom prst="rect">
            <a:avLst/>
          </a:prstGeom>
          <a:noFill/>
        </p:spPr>
        <p:txBody>
          <a:bodyPr wrap="none" lIns="0" rIns="0" tIns="0" bIns="0" anchor="t">
            <a:spAutoFit/>
          </a:bodyPr>
          <a:lstStyle/>
          <a:p>
            <a:pPr algn="l">
              <a:lnSpc>
                <a:spcPts val="1220"/>
              </a:lnSpc>
              <a:spcBef>
                <a:spcPts val="0"/>
              </a:spcBef>
              <a:spcAft>
                <a:spcPts val="0"/>
              </a:spcAft>
              <a:defRPr sz="1000" b="1">
                <a:solidFill>
                  <a:srgbClr val="1F5EFF"/>
                </a:solidFill>
                <a:latin typeface="Arial"/>
              </a:defRPr>
            </a:pPr>
            <a:r>
              <a:t>GYMFLOW</a:t>
            </a:r>
          </a:p>
        </p:txBody>
      </p:sp>
      <p:sp>
        <p:nvSpPr>
          <p:cNvPr id="28" name="TextBox 27"/>
          <p:cNvSpPr txBox="1"/>
          <p:nvPr/>
        </p:nvSpPr>
        <p:spPr>
          <a:xfrm>
            <a:off x="1841500" y="6451600"/>
            <a:ext cx="8763000" cy="193040"/>
          </a:xfrm>
          <a:prstGeom prst="rect">
            <a:avLst/>
          </a:prstGeom>
          <a:noFill/>
        </p:spPr>
        <p:txBody>
          <a:bodyPr wrap="none" lIns="0" rIns="0" tIns="0" bIns="0" anchor="t">
            <a:spAutoFit/>
          </a:bodyPr>
          <a:lstStyle/>
          <a:p>
            <a:pPr algn="l">
              <a:lnSpc>
                <a:spcPts val="1220"/>
              </a:lnSpc>
              <a:spcBef>
                <a:spcPts val="0"/>
              </a:spcBef>
              <a:spcAft>
                <a:spcPts val="0"/>
              </a:spcAft>
              <a:defRPr sz="1000" b="0">
                <a:solidFill>
                  <a:srgbClr val="475569"/>
                </a:solidFill>
                <a:latin typeface="Arial"/>
              </a:defRPr>
            </a:pPr>
            <a:r>
              <a:t>Equipo · Apoyo | ANEXO · FUERA DEL CRONÓMETRO</a:t>
            </a:r>
          </a:p>
        </p:txBody>
      </p:sp>
      <p:sp>
        <p:nvSpPr>
          <p:cNvPr id="29" name="TextBox 28"/>
          <p:cNvSpPr txBox="1"/>
          <p:nvPr/>
        </p:nvSpPr>
        <p:spPr>
          <a:xfrm>
            <a:off x="10668000" y="6451600"/>
            <a:ext cx="1016000" cy="193040"/>
          </a:xfrm>
          <a:prstGeom prst="rect">
            <a:avLst/>
          </a:prstGeom>
          <a:noFill/>
        </p:spPr>
        <p:txBody>
          <a:bodyPr wrap="none" lIns="0" rIns="0" tIns="0" bIns="0" anchor="t">
            <a:spAutoFit/>
          </a:bodyPr>
          <a:lstStyle/>
          <a:p>
            <a:pPr algn="r">
              <a:lnSpc>
                <a:spcPts val="1220"/>
              </a:lnSpc>
              <a:spcBef>
                <a:spcPts val="0"/>
              </a:spcBef>
              <a:spcAft>
                <a:spcPts val="0"/>
              </a:spcAft>
              <a:defRPr sz="1000" b="0">
                <a:solidFill>
                  <a:srgbClr val="475569"/>
                </a:solidFill>
                <a:latin typeface="Arial"/>
              </a:defRPr>
            </a:pPr>
            <a:r>
              <a:t>A4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GymFlow · Presentación de proyecto · 20 de octubre de 2026</dc:title>
  <dc:subject>Negocio, Scrum, backend, frontend y DevOps · 20 minutos</dc:subject>
  <dc:creator>Equipo GymFlow · Miguel, Juan Carlos, Fabiana, Brian y David</dc:creator>
  <cp:keywords>GymFlow, FastAPI, Angular, MySQL, Scrum, presentación</cp:keywords>
  <dc:description>generated using python-pptx</dc:description>
  <cp:lastModifiedBy>Steve Canny</cp:lastModifiedBy>
  <cp:revision>1</cp:revision>
  <dcterms:created xsi:type="dcterms:W3CDTF">2026-10-19T10:00:00Z</dcterms:created>
  <dcterms:modified xsi:type="dcterms:W3CDTF">2013-01-27T09:15:58Z</dcterms:modified>
  <cp:category/>
</cp:coreProperties>
</file>